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70" r:id="rId2"/>
    <p:sldId id="371" r:id="rId3"/>
    <p:sldId id="372" r:id="rId4"/>
    <p:sldId id="369" r:id="rId5"/>
    <p:sldId id="396" r:id="rId6"/>
    <p:sldId id="397" r:id="rId7"/>
    <p:sldId id="373" r:id="rId8"/>
    <p:sldId id="399" r:id="rId9"/>
    <p:sldId id="374" r:id="rId10"/>
    <p:sldId id="401" r:id="rId11"/>
    <p:sldId id="409" r:id="rId12"/>
    <p:sldId id="398" r:id="rId13"/>
    <p:sldId id="404" r:id="rId14"/>
    <p:sldId id="405" r:id="rId15"/>
    <p:sldId id="406" r:id="rId16"/>
    <p:sldId id="395"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4370" userDrawn="1">
          <p15:clr>
            <a:srgbClr val="A4A3A4"/>
          </p15:clr>
        </p15:guide>
        <p15:guide id="3" orient="horz" pos="595" userDrawn="1">
          <p15:clr>
            <a:srgbClr val="A4A3A4"/>
          </p15:clr>
        </p15:guide>
        <p15:guide id="4" pos="14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497B"/>
    <a:srgbClr val="5B73A8"/>
    <a:srgbClr val="617AB1"/>
    <a:srgbClr val="6E88C3"/>
    <a:srgbClr val="718BC6"/>
    <a:srgbClr val="8EA3D1"/>
    <a:srgbClr val="B3C1E1"/>
    <a:srgbClr val="939AAA"/>
    <a:srgbClr val="FFFFFF"/>
    <a:srgbClr val="617A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01" autoAdjust="0"/>
    <p:restoredTop sz="87579" autoAdjust="0"/>
  </p:normalViewPr>
  <p:slideViewPr>
    <p:cSldViewPr snapToGrid="0" showGuides="1">
      <p:cViewPr varScale="1">
        <p:scale>
          <a:sx n="81" d="100"/>
          <a:sy n="81" d="100"/>
        </p:scale>
        <p:origin x="72" y="117"/>
      </p:cViewPr>
      <p:guideLst>
        <p:guide orient="horz" pos="2132"/>
        <p:guide pos="4370"/>
        <p:guide orient="horz" pos="595"/>
        <p:guide pos="14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C54CB5-62E3-493C-B800-992D56B94305}"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CN" altLang="en-US"/>
        </a:p>
      </dgm:t>
    </dgm:pt>
    <dgm:pt modelId="{9A631D3E-CE18-4824-9185-56BDDE9128DD}">
      <dgm:prSet phldrT="[文本]"/>
      <dgm:spPr/>
      <dgm:t>
        <a:bodyPr/>
        <a:lstStyle/>
        <a:p>
          <a:r>
            <a:rPr lang="en-US" altLang="zh-CN" dirty="0"/>
            <a:t>1</a:t>
          </a:r>
          <a:endParaRPr lang="zh-CN" altLang="en-US" dirty="0"/>
        </a:p>
      </dgm:t>
    </dgm:pt>
    <dgm:pt modelId="{A5F3E899-1BF9-4729-83DE-DC5CE2B09635}" type="parTrans" cxnId="{B787EE3B-A68E-436F-B1E6-7AEB715A0A05}">
      <dgm:prSet/>
      <dgm:spPr/>
      <dgm:t>
        <a:bodyPr/>
        <a:lstStyle/>
        <a:p>
          <a:endParaRPr lang="zh-CN" altLang="en-US"/>
        </a:p>
      </dgm:t>
    </dgm:pt>
    <dgm:pt modelId="{3F4A56F3-EF0B-4A34-BC7E-F4F4729DB5C7}" type="sibTrans" cxnId="{B787EE3B-A68E-436F-B1E6-7AEB715A0A05}">
      <dgm:prSet/>
      <dgm:spPr/>
      <dgm:t>
        <a:bodyPr/>
        <a:lstStyle/>
        <a:p>
          <a:endParaRPr lang="zh-CN" altLang="en-US"/>
        </a:p>
      </dgm:t>
    </dgm:pt>
    <dgm:pt modelId="{84F595E5-DD90-4438-8863-B06D0E4050F4}">
      <dgm:prSet phldrT="[文本]" custT="1"/>
      <dgm:spPr/>
      <dgm:t>
        <a:bodyPr/>
        <a:lstStyle/>
        <a:p>
          <a:r>
            <a:rPr lang="en-US" altLang="zh-CN" sz="1600" b="1" kern="1200" spc="100" dirty="0">
              <a:solidFill>
                <a:schemeClr val="accent1"/>
              </a:solidFill>
              <a:latin typeface="+mj-ea"/>
              <a:ea typeface="+mj-ea"/>
              <a:cs typeface="+mn-cs"/>
            </a:rPr>
            <a:t>2025</a:t>
          </a:r>
          <a:r>
            <a:rPr lang="zh-CN" altLang="en-US" sz="1600" b="1" kern="1200" spc="100" dirty="0">
              <a:solidFill>
                <a:schemeClr val="accent1"/>
              </a:solidFill>
              <a:latin typeface="+mj-ea"/>
              <a:ea typeface="+mj-ea"/>
              <a:cs typeface="+mn-cs"/>
            </a:rPr>
            <a:t>年</a:t>
          </a:r>
          <a:r>
            <a:rPr lang="en-US" altLang="zh-CN" sz="1600" b="1" kern="1200" spc="100" dirty="0">
              <a:solidFill>
                <a:schemeClr val="accent1"/>
              </a:solidFill>
              <a:latin typeface="+mj-ea"/>
              <a:ea typeface="+mj-ea"/>
              <a:cs typeface="+mn-cs"/>
            </a:rPr>
            <a:t>12</a:t>
          </a:r>
          <a:r>
            <a:rPr lang="zh-CN" altLang="en-US" sz="1600" b="1" kern="1200" spc="100" dirty="0">
              <a:solidFill>
                <a:schemeClr val="accent1"/>
              </a:solidFill>
              <a:latin typeface="+mj-ea"/>
              <a:ea typeface="+mj-ea"/>
              <a:cs typeface="+mn-cs"/>
            </a:rPr>
            <a:t>月</a:t>
          </a:r>
          <a:r>
            <a:rPr lang="zh-CN" altLang="en-US" sz="1600" b="1" kern="1200" spc="100" dirty="0">
              <a:solidFill>
                <a:srgbClr val="32497B"/>
              </a:solidFill>
              <a:latin typeface="微软雅黑"/>
              <a:ea typeface="微软雅黑"/>
              <a:cs typeface="+mn-cs"/>
            </a:rPr>
            <a:t>～</a:t>
          </a:r>
          <a:r>
            <a:rPr lang="en-US" altLang="zh-CN" sz="1600" b="1" kern="1200" spc="100" dirty="0">
              <a:solidFill>
                <a:schemeClr val="accent1"/>
              </a:solidFill>
              <a:latin typeface="+mj-ea"/>
              <a:ea typeface="+mj-ea"/>
              <a:cs typeface="+mn-cs"/>
            </a:rPr>
            <a:t>1</a:t>
          </a:r>
          <a:r>
            <a:rPr lang="zh-CN" altLang="en-US" sz="1600" b="1" kern="1200" spc="100" dirty="0">
              <a:solidFill>
                <a:schemeClr val="accent1"/>
              </a:solidFill>
              <a:latin typeface="+mj-ea"/>
              <a:ea typeface="+mj-ea"/>
              <a:cs typeface="+mn-cs"/>
            </a:rPr>
            <a:t>月</a:t>
          </a:r>
        </a:p>
      </dgm:t>
    </dgm:pt>
    <dgm:pt modelId="{BED8B5D3-C353-4E99-A5BD-47F26A2BB25C}" type="parTrans" cxnId="{6580E68A-EF07-4621-B5A2-D782CD85B6A2}">
      <dgm:prSet/>
      <dgm:spPr/>
      <dgm:t>
        <a:bodyPr/>
        <a:lstStyle/>
        <a:p>
          <a:endParaRPr lang="zh-CN" altLang="en-US"/>
        </a:p>
      </dgm:t>
    </dgm:pt>
    <dgm:pt modelId="{922AF872-CE59-463B-B5E1-F05B07EC54F9}" type="sibTrans" cxnId="{6580E68A-EF07-4621-B5A2-D782CD85B6A2}">
      <dgm:prSet/>
      <dgm:spPr/>
      <dgm:t>
        <a:bodyPr/>
        <a:lstStyle/>
        <a:p>
          <a:endParaRPr lang="zh-CN" altLang="en-US"/>
        </a:p>
      </dgm:t>
    </dgm:pt>
    <dgm:pt modelId="{71BC2AE7-8E2A-4232-BF1A-18820C9F7AA0}">
      <dgm:prSet phldrT="[文本]" custT="1"/>
      <dgm:spPr/>
      <dgm:t>
        <a:bodyPr/>
        <a:lstStyle/>
        <a:p>
          <a:r>
            <a:rPr lang="zh-CN" altLang="en-US" sz="1600" b="0" i="0" kern="1200" dirty="0">
              <a:solidFill>
                <a:schemeClr val="tx1"/>
              </a:solidFill>
              <a:latin typeface="微软雅黑" panose="020B0503020204020204" charset="-122"/>
              <a:ea typeface="微软雅黑" panose="020B0503020204020204" charset="-122"/>
              <a:cs typeface="微软雅黑" panose="020B0503020204020204" charset="-122"/>
            </a:rPr>
            <a:t>项目启动、文献调研、方案设计与数据集准备</a:t>
          </a:r>
          <a:endParaRPr lang="zh-CN" altLang="en-US" sz="1400" b="1" kern="1200" dirty="0"/>
        </a:p>
      </dgm:t>
    </dgm:pt>
    <dgm:pt modelId="{00960582-8DEB-4521-A93A-93F084B7E6A8}" type="parTrans" cxnId="{063F583B-1228-41D0-9669-3C2FF06E1EA8}">
      <dgm:prSet/>
      <dgm:spPr/>
      <dgm:t>
        <a:bodyPr/>
        <a:lstStyle/>
        <a:p>
          <a:endParaRPr lang="zh-CN" altLang="en-US"/>
        </a:p>
      </dgm:t>
    </dgm:pt>
    <dgm:pt modelId="{110144B3-D910-47B3-9C06-3A67A91916E4}" type="sibTrans" cxnId="{063F583B-1228-41D0-9669-3C2FF06E1EA8}">
      <dgm:prSet/>
      <dgm:spPr/>
      <dgm:t>
        <a:bodyPr/>
        <a:lstStyle/>
        <a:p>
          <a:endParaRPr lang="zh-CN" altLang="en-US"/>
        </a:p>
      </dgm:t>
    </dgm:pt>
    <dgm:pt modelId="{F5491EF1-B5C2-4C98-801E-9715FED6B2AA}">
      <dgm:prSet phldrT="[文本]"/>
      <dgm:spPr/>
      <dgm:t>
        <a:bodyPr/>
        <a:lstStyle/>
        <a:p>
          <a:r>
            <a:rPr lang="en-US" altLang="zh-CN" dirty="0"/>
            <a:t>2</a:t>
          </a:r>
          <a:endParaRPr lang="zh-CN" altLang="en-US" dirty="0"/>
        </a:p>
      </dgm:t>
    </dgm:pt>
    <dgm:pt modelId="{28452AD4-412A-4619-A6E9-BDEA47EB4C81}" type="parTrans" cxnId="{B35752AF-A85D-401F-AC4F-35155A3A00F1}">
      <dgm:prSet/>
      <dgm:spPr/>
      <dgm:t>
        <a:bodyPr/>
        <a:lstStyle/>
        <a:p>
          <a:endParaRPr lang="zh-CN" altLang="en-US"/>
        </a:p>
      </dgm:t>
    </dgm:pt>
    <dgm:pt modelId="{B6FED659-3631-498B-A671-7DF5AE8AAA4B}" type="sibTrans" cxnId="{B35752AF-A85D-401F-AC4F-35155A3A00F1}">
      <dgm:prSet/>
      <dgm:spPr/>
      <dgm:t>
        <a:bodyPr/>
        <a:lstStyle/>
        <a:p>
          <a:endParaRPr lang="zh-CN" altLang="en-US"/>
        </a:p>
      </dgm:t>
    </dgm:pt>
    <dgm:pt modelId="{71C58102-AC66-424D-9C0F-C610C8120A95}">
      <dgm:prSet phldrT="[文本]" custT="1"/>
      <dgm:spPr/>
      <dgm: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2</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4</a:t>
          </a:r>
          <a:r>
            <a:rPr lang="zh-CN" altLang="en-US" sz="1600" b="1" kern="1200" spc="100" dirty="0">
              <a:solidFill>
                <a:srgbClr val="32497B"/>
              </a:solidFill>
              <a:latin typeface="微软雅黑"/>
              <a:ea typeface="微软雅黑"/>
              <a:cs typeface="+mn-cs"/>
            </a:rPr>
            <a:t>月</a:t>
          </a:r>
        </a:p>
      </dgm:t>
    </dgm:pt>
    <dgm:pt modelId="{7704A182-9523-4265-BE82-F0488FF1D9C8}" type="parTrans" cxnId="{C023FF84-ACEC-4246-8E84-5BD25495A5D3}">
      <dgm:prSet/>
      <dgm:spPr/>
      <dgm:t>
        <a:bodyPr/>
        <a:lstStyle/>
        <a:p>
          <a:endParaRPr lang="zh-CN" altLang="en-US"/>
        </a:p>
      </dgm:t>
    </dgm:pt>
    <dgm:pt modelId="{3461812C-A5C0-4949-BAD6-AD98E63448A7}" type="sibTrans" cxnId="{C023FF84-ACEC-4246-8E84-5BD25495A5D3}">
      <dgm:prSet/>
      <dgm:spPr/>
      <dgm:t>
        <a:bodyPr/>
        <a:lstStyle/>
        <a:p>
          <a:endParaRPr lang="zh-CN" altLang="en-US"/>
        </a:p>
      </dgm:t>
    </dgm:pt>
    <dgm:pt modelId="{3F258B43-4DD1-441A-9957-7CE1271FA888}">
      <dgm:prSet phldrT="[文本]" custT="1"/>
      <dgm:spPr/>
      <dgm:t>
        <a:bodyPr/>
        <a:lstStyle/>
        <a:p>
          <a:pPr marL="114300" lvl="1" indent="0" algn="l" defTabSz="622300">
            <a:lnSpc>
              <a:spcPct val="90000"/>
            </a:lnSpc>
            <a:spcBef>
              <a:spcPct val="0"/>
            </a:spcBef>
            <a:spcAft>
              <a:spcPct val="15000"/>
            </a:spcAft>
          </a:pPr>
          <a:r>
            <a:rPr lang="zh-CN" sz="1600" kern="1200" dirty="0"/>
            <a:t>结合多光谱附件</a:t>
          </a:r>
          <a:r>
            <a:rPr lang="zh-CN" altLang="en-US" sz="1600" kern="1200" dirty="0"/>
            <a:t>，构建农药残留识别模型</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dgm:t>
    </dgm:pt>
    <dgm:pt modelId="{DBC9B484-45E9-4B4A-8ED5-0D48FD0C52DA}" type="parTrans" cxnId="{CD3DC794-CE8C-4C6F-8A83-C0465FBF8F7A}">
      <dgm:prSet/>
      <dgm:spPr/>
      <dgm:t>
        <a:bodyPr/>
        <a:lstStyle/>
        <a:p>
          <a:endParaRPr lang="zh-CN" altLang="en-US"/>
        </a:p>
      </dgm:t>
    </dgm:pt>
    <dgm:pt modelId="{9986B3E0-D74D-49A8-9652-2D09BE7660AE}" type="sibTrans" cxnId="{CD3DC794-CE8C-4C6F-8A83-C0465FBF8F7A}">
      <dgm:prSet/>
      <dgm:spPr/>
      <dgm:t>
        <a:bodyPr/>
        <a:lstStyle/>
        <a:p>
          <a:endParaRPr lang="zh-CN" altLang="en-US"/>
        </a:p>
      </dgm:t>
    </dgm:pt>
    <dgm:pt modelId="{96F15AFB-617E-432A-947E-D5E77DB1B906}">
      <dgm:prSet phldrT="[文本]"/>
      <dgm:spPr/>
      <dgm:t>
        <a:bodyPr/>
        <a:lstStyle/>
        <a:p>
          <a:r>
            <a:rPr lang="en-US" altLang="zh-CN" dirty="0"/>
            <a:t>3</a:t>
          </a:r>
          <a:endParaRPr lang="zh-CN" altLang="en-US" dirty="0"/>
        </a:p>
      </dgm:t>
    </dgm:pt>
    <dgm:pt modelId="{699DD65E-6417-4929-8C99-3EEFB99FD79B}" type="parTrans" cxnId="{10E2D0B1-6396-4E06-80BB-3009B24BBDDF}">
      <dgm:prSet/>
      <dgm:spPr/>
      <dgm:t>
        <a:bodyPr/>
        <a:lstStyle/>
        <a:p>
          <a:endParaRPr lang="zh-CN" altLang="en-US"/>
        </a:p>
      </dgm:t>
    </dgm:pt>
    <dgm:pt modelId="{2ED1B2F3-912F-43CF-A884-B49484FFEB41}" type="sibTrans" cxnId="{10E2D0B1-6396-4E06-80BB-3009B24BBDDF}">
      <dgm:prSet/>
      <dgm:spPr/>
      <dgm:t>
        <a:bodyPr/>
        <a:lstStyle/>
        <a:p>
          <a:endParaRPr lang="zh-CN" altLang="en-US"/>
        </a:p>
      </dgm:t>
    </dgm:pt>
    <dgm:pt modelId="{B994417D-0FB5-40F0-B4F3-338DDED128CE}">
      <dgm:prSet phldrT="[文本]" custT="1"/>
      <dgm:spPr/>
      <dgm: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5</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7</a:t>
          </a:r>
          <a:r>
            <a:rPr lang="zh-CN" altLang="en-US" sz="1600" b="1" kern="1200" spc="100" dirty="0">
              <a:solidFill>
                <a:srgbClr val="32497B"/>
              </a:solidFill>
              <a:latin typeface="微软雅黑"/>
              <a:ea typeface="微软雅黑"/>
              <a:cs typeface="+mn-cs"/>
            </a:rPr>
            <a:t>月</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dgm:t>
    </dgm:pt>
    <dgm:pt modelId="{97361CE7-EA87-4A30-9F2D-04F9AED03CA8}" type="parTrans" cxnId="{1F1346B4-E90D-4560-81FD-8450418AB1FD}">
      <dgm:prSet/>
      <dgm:spPr/>
      <dgm:t>
        <a:bodyPr/>
        <a:lstStyle/>
        <a:p>
          <a:endParaRPr lang="zh-CN" altLang="en-US"/>
        </a:p>
      </dgm:t>
    </dgm:pt>
    <dgm:pt modelId="{DCB390CE-DA53-4E69-A9CC-42AE97B098E3}" type="sibTrans" cxnId="{1F1346B4-E90D-4560-81FD-8450418AB1FD}">
      <dgm:prSet/>
      <dgm:spPr/>
      <dgm:t>
        <a:bodyPr/>
        <a:lstStyle/>
        <a:p>
          <a:endParaRPr lang="zh-CN" altLang="en-US"/>
        </a:p>
      </dgm:t>
    </dgm:pt>
    <dgm:pt modelId="{0B1D3370-3769-44A5-831F-2939F9AAC150}">
      <dgm:prSet phldrT="[文本]" custT="1"/>
      <dgm:spPr/>
      <dgm:t>
        <a:bodyPr/>
        <a:lstStyle/>
        <a:p>
          <a:pPr marL="114300" lvl="1" indent="0" algn="l" defTabSz="622300">
            <a:lnSpc>
              <a:spcPct val="90000"/>
            </a:lnSpc>
            <a:spcBef>
              <a:spcPct val="0"/>
            </a:spcBef>
            <a:spcAft>
              <a:spcPct val="15000"/>
            </a:spcAft>
          </a:pP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算法开发与模型训练，深度学习光谱分析核心实现</a:t>
          </a:r>
        </a:p>
      </dgm:t>
    </dgm:pt>
    <dgm:pt modelId="{9760168D-D401-4821-889F-3FCDC4E178B3}" type="parTrans" cxnId="{B351230E-2B41-4323-906C-B01027A4F2C6}">
      <dgm:prSet/>
      <dgm:spPr/>
      <dgm:t>
        <a:bodyPr/>
        <a:lstStyle/>
        <a:p>
          <a:endParaRPr lang="zh-CN" altLang="en-US"/>
        </a:p>
      </dgm:t>
    </dgm:pt>
    <dgm:pt modelId="{1F540D94-FD4F-4B7A-842B-0DAE6E14B4E0}" type="sibTrans" cxnId="{B351230E-2B41-4323-906C-B01027A4F2C6}">
      <dgm:prSet/>
      <dgm:spPr/>
      <dgm:t>
        <a:bodyPr/>
        <a:lstStyle/>
        <a:p>
          <a:endParaRPr lang="zh-CN" altLang="en-US"/>
        </a:p>
      </dgm:t>
    </dgm:pt>
    <dgm:pt modelId="{20A37D60-C841-481F-8076-CDB5A6ECB0D9}">
      <dgm:prSet/>
      <dgm:spPr/>
      <dgm:t>
        <a:bodyPr/>
        <a:lstStyle/>
        <a:p>
          <a:r>
            <a:rPr lang="en-US" altLang="zh-CN" dirty="0"/>
            <a:t>4</a:t>
          </a:r>
          <a:endParaRPr lang="zh-CN" altLang="en-US" dirty="0"/>
        </a:p>
      </dgm:t>
    </dgm:pt>
    <dgm:pt modelId="{0AD40DE5-61CC-4278-9396-599FB0F1E1F2}" type="parTrans" cxnId="{343E0BF9-1611-4251-8CFE-0B8838AD623A}">
      <dgm:prSet/>
      <dgm:spPr/>
      <dgm:t>
        <a:bodyPr/>
        <a:lstStyle/>
        <a:p>
          <a:endParaRPr lang="zh-CN" altLang="en-US"/>
        </a:p>
      </dgm:t>
    </dgm:pt>
    <dgm:pt modelId="{AA5565E9-7AF4-4822-A156-E9756A5F251F}" type="sibTrans" cxnId="{343E0BF9-1611-4251-8CFE-0B8838AD623A}">
      <dgm:prSet/>
      <dgm:spPr/>
      <dgm:t>
        <a:bodyPr/>
        <a:lstStyle/>
        <a:p>
          <a:endParaRPr lang="zh-CN" altLang="en-US"/>
        </a:p>
      </dgm:t>
    </dgm:pt>
    <dgm:pt modelId="{5E076870-B1A4-475D-8530-F07AE04FDA04}">
      <dgm:prSet/>
      <dgm:spPr/>
      <dgm:t>
        <a:bodyPr/>
        <a:lstStyle/>
        <a:p>
          <a:r>
            <a:rPr lang="en-US" altLang="zh-CN" dirty="0"/>
            <a:t>5</a:t>
          </a:r>
          <a:endParaRPr lang="zh-CN" altLang="en-US" dirty="0"/>
        </a:p>
      </dgm:t>
    </dgm:pt>
    <dgm:pt modelId="{317854D3-E704-435B-9761-FD12CEBC1EBC}" type="parTrans" cxnId="{EAC36922-B4B4-43A4-9DED-649324C5943E}">
      <dgm:prSet/>
      <dgm:spPr/>
      <dgm:t>
        <a:bodyPr/>
        <a:lstStyle/>
        <a:p>
          <a:endParaRPr lang="zh-CN" altLang="en-US"/>
        </a:p>
      </dgm:t>
    </dgm:pt>
    <dgm:pt modelId="{16E87B4D-A94B-4536-99D0-2A192FE48F67}" type="sibTrans" cxnId="{EAC36922-B4B4-43A4-9DED-649324C5943E}">
      <dgm:prSet/>
      <dgm:spPr/>
      <dgm:t>
        <a:bodyPr/>
        <a:lstStyle/>
        <a:p>
          <a:endParaRPr lang="zh-CN" altLang="en-US"/>
        </a:p>
      </dgm:t>
    </dgm:pt>
    <dgm:pt modelId="{185D1B79-C5EC-42CB-A4E6-32494ED441C6}">
      <dgm:prSet custT="1"/>
      <dgm:spPr/>
      <dgm: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8</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10</a:t>
          </a:r>
          <a:r>
            <a:rPr lang="zh-CN" altLang="en-US" sz="1600" b="1" kern="1200" spc="100" dirty="0">
              <a:solidFill>
                <a:srgbClr val="32497B"/>
              </a:solidFill>
              <a:latin typeface="微软雅黑"/>
              <a:ea typeface="微软雅黑"/>
              <a:cs typeface="+mn-cs"/>
            </a:rPr>
            <a:t>月</a:t>
          </a:r>
        </a:p>
      </dgm:t>
    </dgm:pt>
    <dgm:pt modelId="{1160874D-23B9-4CD6-8D91-E4289A07899E}" type="parTrans" cxnId="{DFE6BFB2-C92D-40C9-BBD9-DF6A6D878F61}">
      <dgm:prSet/>
      <dgm:spPr/>
      <dgm:t>
        <a:bodyPr/>
        <a:lstStyle/>
        <a:p>
          <a:endParaRPr lang="zh-CN" altLang="en-US"/>
        </a:p>
      </dgm:t>
    </dgm:pt>
    <dgm:pt modelId="{E39D5DA0-AB9B-4045-A447-3DF684EA1884}" type="sibTrans" cxnId="{DFE6BFB2-C92D-40C9-BBD9-DF6A6D878F61}">
      <dgm:prSet/>
      <dgm:spPr/>
      <dgm:t>
        <a:bodyPr/>
        <a:lstStyle/>
        <a:p>
          <a:endParaRPr lang="zh-CN" altLang="en-US"/>
        </a:p>
      </dgm:t>
    </dgm:pt>
    <dgm:pt modelId="{3972DE56-510E-4570-9972-D6F394911D46}">
      <dgm:prSet custT="1"/>
      <dgm:spPr/>
      <dgm:t>
        <a:bodyPr/>
        <a:lstStyle/>
        <a:p>
          <a:pPr marL="114300" lvl="1" indent="0" algn="l" defTabSz="622300">
            <a:lnSpc>
              <a:spcPct val="90000"/>
            </a:lnSpc>
            <a:spcBef>
              <a:spcPct val="0"/>
            </a:spcBef>
            <a:spcAft>
              <a:spcPct val="15000"/>
            </a:spcAft>
          </a:pP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APP</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开发与</a:t>
          </a: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引擎集成，用户界面设计与体验优化</a:t>
          </a:r>
        </a:p>
      </dgm:t>
    </dgm:pt>
    <dgm:pt modelId="{D90AF094-ADA4-43C6-9B5E-BEC62567063A}" type="parTrans" cxnId="{841EA31C-3610-4F3A-B887-E1B8AC15280C}">
      <dgm:prSet/>
      <dgm:spPr/>
      <dgm:t>
        <a:bodyPr/>
        <a:lstStyle/>
        <a:p>
          <a:endParaRPr lang="zh-CN" altLang="en-US"/>
        </a:p>
      </dgm:t>
    </dgm:pt>
    <dgm:pt modelId="{46447AAE-881C-4752-A2E7-843291515B1E}" type="sibTrans" cxnId="{841EA31C-3610-4F3A-B887-E1B8AC15280C}">
      <dgm:prSet/>
      <dgm:spPr/>
      <dgm:t>
        <a:bodyPr/>
        <a:lstStyle/>
        <a:p>
          <a:endParaRPr lang="zh-CN" altLang="en-US"/>
        </a:p>
      </dgm:t>
    </dgm:pt>
    <dgm:pt modelId="{9D8308B2-94F8-4927-8543-3C5F56C32EDE}">
      <dgm:prSet custT="1"/>
      <dgm:spPr/>
      <dgm: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11</a:t>
          </a:r>
          <a:r>
            <a:rPr lang="zh-CN" altLang="en-US" sz="1600" b="1" kern="1200" spc="100" dirty="0">
              <a:solidFill>
                <a:srgbClr val="32497B"/>
              </a:solidFill>
              <a:latin typeface="微软雅黑"/>
              <a:ea typeface="微软雅黑"/>
              <a:cs typeface="+mn-cs"/>
            </a:rPr>
            <a:t>月</a:t>
          </a:r>
        </a:p>
      </dgm:t>
    </dgm:pt>
    <dgm:pt modelId="{D1CBD6D1-693D-4A8D-8FB8-1D5C37BA76A2}" type="parTrans" cxnId="{D35BCE28-938C-4656-8944-75335120D2A6}">
      <dgm:prSet/>
      <dgm:spPr/>
      <dgm:t>
        <a:bodyPr/>
        <a:lstStyle/>
        <a:p>
          <a:endParaRPr lang="zh-CN" altLang="en-US"/>
        </a:p>
      </dgm:t>
    </dgm:pt>
    <dgm:pt modelId="{CB97F855-C39F-4C83-986C-A9E7D1CBC186}" type="sibTrans" cxnId="{D35BCE28-938C-4656-8944-75335120D2A6}">
      <dgm:prSet/>
      <dgm:spPr/>
      <dgm:t>
        <a:bodyPr/>
        <a:lstStyle/>
        <a:p>
          <a:endParaRPr lang="zh-CN" altLang="en-US"/>
        </a:p>
      </dgm:t>
    </dgm:pt>
    <dgm:pt modelId="{1B05704B-84B5-4CD3-80C5-3A30731178BD}">
      <dgm:prSet custT="1"/>
      <dgm:spPr/>
      <dgm:t>
        <a:bodyPr/>
        <a:lstStyle/>
        <a:p>
          <a:pPr marL="114300" lvl="1" indent="0" algn="l" defTabSz="622300">
            <a:lnSpc>
              <a:spcPct val="90000"/>
            </a:lnSpc>
            <a:spcBef>
              <a:spcPct val="0"/>
            </a:spcBef>
            <a:spcAft>
              <a:spcPct val="15000"/>
            </a:spcAft>
          </a:pP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系统集成与</a:t>
          </a: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性能优化、</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sym typeface="+mn-ea"/>
            </a:rPr>
            <a:t>全面测试</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dgm:t>
    </dgm:pt>
    <dgm:pt modelId="{3277129A-9609-45F9-B3E0-8A58D40DC9B1}" type="parTrans" cxnId="{27A907FA-B5CB-486D-AC33-1FF0FEA0AD92}">
      <dgm:prSet/>
      <dgm:spPr/>
      <dgm:t>
        <a:bodyPr/>
        <a:lstStyle/>
        <a:p>
          <a:endParaRPr lang="zh-CN" altLang="en-US"/>
        </a:p>
      </dgm:t>
    </dgm:pt>
    <dgm:pt modelId="{D7798B6B-60DC-49A8-B959-EED35B83D964}" type="sibTrans" cxnId="{27A907FA-B5CB-486D-AC33-1FF0FEA0AD92}">
      <dgm:prSet/>
      <dgm:spPr/>
      <dgm:t>
        <a:bodyPr/>
        <a:lstStyle/>
        <a:p>
          <a:endParaRPr lang="zh-CN" altLang="en-US"/>
        </a:p>
      </dgm:t>
    </dgm:pt>
    <dgm:pt modelId="{5C99307F-266B-43C2-BB81-20602E345DEF}">
      <dgm:prSet/>
      <dgm:spPr/>
      <dgm:t>
        <a:bodyPr/>
        <a:lstStyle/>
        <a:p>
          <a:r>
            <a:rPr lang="en-US" altLang="zh-CN" dirty="0"/>
            <a:t>6</a:t>
          </a:r>
          <a:endParaRPr lang="zh-CN" altLang="en-US" dirty="0"/>
        </a:p>
      </dgm:t>
    </dgm:pt>
    <dgm:pt modelId="{E6343C6C-D7A1-4AFB-82FD-B8E65DE094FF}" type="parTrans" cxnId="{3DA5FCCD-27BD-40F1-85AA-CF59A65E37B8}">
      <dgm:prSet/>
      <dgm:spPr/>
      <dgm:t>
        <a:bodyPr/>
        <a:lstStyle/>
        <a:p>
          <a:endParaRPr lang="zh-CN" altLang="en-US"/>
        </a:p>
      </dgm:t>
    </dgm:pt>
    <dgm:pt modelId="{C7385E43-AE3A-4178-BA35-7321A9BE6183}" type="sibTrans" cxnId="{3DA5FCCD-27BD-40F1-85AA-CF59A65E37B8}">
      <dgm:prSet/>
      <dgm:spPr/>
      <dgm:t>
        <a:bodyPr/>
        <a:lstStyle/>
        <a:p>
          <a:endParaRPr lang="zh-CN" altLang="en-US"/>
        </a:p>
      </dgm:t>
    </dgm:pt>
    <dgm:pt modelId="{4690F0AF-62D2-4B37-9D17-759F18E6FC1C}">
      <dgm:prSet custT="1"/>
      <dgm:spPr/>
      <dgm: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12</a:t>
          </a:r>
          <a:r>
            <a:rPr lang="zh-CN" altLang="en-US" sz="1600" b="1" kern="1200" spc="100" dirty="0">
              <a:solidFill>
                <a:srgbClr val="32497B"/>
              </a:solidFill>
              <a:latin typeface="微软雅黑"/>
              <a:ea typeface="微软雅黑"/>
              <a:cs typeface="+mn-cs"/>
            </a:rPr>
            <a:t>月</a:t>
          </a:r>
        </a:p>
      </dgm:t>
    </dgm:pt>
    <dgm:pt modelId="{34B44BBA-7291-4D69-B6F3-04C839D7079E}" type="parTrans" cxnId="{E6D19218-3CA8-4B39-8A04-258F1D8EF240}">
      <dgm:prSet/>
      <dgm:spPr/>
      <dgm:t>
        <a:bodyPr/>
        <a:lstStyle/>
        <a:p>
          <a:endParaRPr lang="zh-CN" altLang="en-US"/>
        </a:p>
      </dgm:t>
    </dgm:pt>
    <dgm:pt modelId="{8E6287FE-D01A-4FBC-A8F4-1C8A46A26741}" type="sibTrans" cxnId="{E6D19218-3CA8-4B39-8A04-258F1D8EF240}">
      <dgm:prSet/>
      <dgm:spPr/>
      <dgm:t>
        <a:bodyPr/>
        <a:lstStyle/>
        <a:p>
          <a:endParaRPr lang="zh-CN" altLang="en-US"/>
        </a:p>
      </dgm:t>
    </dgm:pt>
    <dgm:pt modelId="{F6CCCBE1-EBBC-4969-8867-D061F64F1BD8}">
      <dgm:prSet custT="1"/>
      <dgm:spPr/>
      <dgm:t>
        <a:bodyPr/>
        <a:lstStyle/>
        <a:p>
          <a:pPr marL="114300" lvl="1" indent="0" algn="l" defTabSz="622300">
            <a:lnSpc>
              <a:spcPct val="90000"/>
            </a:lnSpc>
            <a:spcBef>
              <a:spcPct val="0"/>
            </a:spcBef>
            <a:spcAft>
              <a:spcPct val="15000"/>
            </a:spcAft>
          </a:pP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项目总结、成果整理与结题报告</a:t>
          </a:r>
        </a:p>
      </dgm:t>
    </dgm:pt>
    <dgm:pt modelId="{379BBB36-BC77-45D7-A67D-E746EEDE768A}" type="parTrans" cxnId="{584E34F4-0E59-4071-8400-888470F0FD99}">
      <dgm:prSet/>
      <dgm:spPr/>
      <dgm:t>
        <a:bodyPr/>
        <a:lstStyle/>
        <a:p>
          <a:endParaRPr lang="zh-CN" altLang="en-US"/>
        </a:p>
      </dgm:t>
    </dgm:pt>
    <dgm:pt modelId="{04B3905D-59BF-4E49-B138-FB18FB833094}" type="sibTrans" cxnId="{584E34F4-0E59-4071-8400-888470F0FD99}">
      <dgm:prSet/>
      <dgm:spPr/>
      <dgm:t>
        <a:bodyPr/>
        <a:lstStyle/>
        <a:p>
          <a:endParaRPr lang="zh-CN" altLang="en-US"/>
        </a:p>
      </dgm:t>
    </dgm:pt>
    <dgm:pt modelId="{1C03C628-8D93-4D21-BC4E-576B227726D6}" type="pres">
      <dgm:prSet presAssocID="{82C54CB5-62E3-493C-B800-992D56B94305}" presName="linearFlow" presStyleCnt="0">
        <dgm:presLayoutVars>
          <dgm:dir/>
          <dgm:animLvl val="lvl"/>
          <dgm:resizeHandles val="exact"/>
        </dgm:presLayoutVars>
      </dgm:prSet>
      <dgm:spPr/>
    </dgm:pt>
    <dgm:pt modelId="{F954712A-0A7E-4640-A12E-C96C50208AEF}" type="pres">
      <dgm:prSet presAssocID="{9A631D3E-CE18-4824-9185-56BDDE9128DD}" presName="composite" presStyleCnt="0"/>
      <dgm:spPr/>
    </dgm:pt>
    <dgm:pt modelId="{1399D0FC-4D07-4C56-906B-CBD4931655C9}" type="pres">
      <dgm:prSet presAssocID="{9A631D3E-CE18-4824-9185-56BDDE9128DD}" presName="parentText" presStyleLbl="alignNode1" presStyleIdx="0" presStyleCnt="6">
        <dgm:presLayoutVars>
          <dgm:chMax val="1"/>
          <dgm:bulletEnabled val="1"/>
        </dgm:presLayoutVars>
      </dgm:prSet>
      <dgm:spPr/>
    </dgm:pt>
    <dgm:pt modelId="{5DF1FFC6-32EF-4637-A55C-037F6AF020A5}" type="pres">
      <dgm:prSet presAssocID="{9A631D3E-CE18-4824-9185-56BDDE9128DD}" presName="descendantText" presStyleLbl="alignAcc1" presStyleIdx="0" presStyleCnt="6">
        <dgm:presLayoutVars>
          <dgm:bulletEnabled val="1"/>
        </dgm:presLayoutVars>
      </dgm:prSet>
      <dgm:spPr/>
    </dgm:pt>
    <dgm:pt modelId="{8418E734-089F-434A-9C4C-C8A05FCE6E14}" type="pres">
      <dgm:prSet presAssocID="{3F4A56F3-EF0B-4A34-BC7E-F4F4729DB5C7}" presName="sp" presStyleCnt="0"/>
      <dgm:spPr/>
    </dgm:pt>
    <dgm:pt modelId="{A998ED22-015E-403E-AC14-A03A53CCF525}" type="pres">
      <dgm:prSet presAssocID="{F5491EF1-B5C2-4C98-801E-9715FED6B2AA}" presName="composite" presStyleCnt="0"/>
      <dgm:spPr/>
    </dgm:pt>
    <dgm:pt modelId="{5F1517DC-DC4C-4105-9427-CE19199EEB45}" type="pres">
      <dgm:prSet presAssocID="{F5491EF1-B5C2-4C98-801E-9715FED6B2AA}" presName="parentText" presStyleLbl="alignNode1" presStyleIdx="1" presStyleCnt="6">
        <dgm:presLayoutVars>
          <dgm:chMax val="1"/>
          <dgm:bulletEnabled val="1"/>
        </dgm:presLayoutVars>
      </dgm:prSet>
      <dgm:spPr/>
    </dgm:pt>
    <dgm:pt modelId="{FE7FC35B-EBB7-4586-AC6B-5CB6709B05E3}" type="pres">
      <dgm:prSet presAssocID="{F5491EF1-B5C2-4C98-801E-9715FED6B2AA}" presName="descendantText" presStyleLbl="alignAcc1" presStyleIdx="1" presStyleCnt="6" custLinFactNeighborX="-1031" custLinFactNeighborY="1194">
        <dgm:presLayoutVars>
          <dgm:bulletEnabled val="1"/>
        </dgm:presLayoutVars>
      </dgm:prSet>
      <dgm:spPr/>
    </dgm:pt>
    <dgm:pt modelId="{1B966393-198F-448E-9996-FAFE38295817}" type="pres">
      <dgm:prSet presAssocID="{B6FED659-3631-498B-A671-7DF5AE8AAA4B}" presName="sp" presStyleCnt="0"/>
      <dgm:spPr/>
    </dgm:pt>
    <dgm:pt modelId="{550DFB86-C8A2-4A2A-823F-5E39A4CFB9F4}" type="pres">
      <dgm:prSet presAssocID="{96F15AFB-617E-432A-947E-D5E77DB1B906}" presName="composite" presStyleCnt="0"/>
      <dgm:spPr/>
    </dgm:pt>
    <dgm:pt modelId="{FE7C15E3-FFEB-426F-84D9-79B7EF91FAB9}" type="pres">
      <dgm:prSet presAssocID="{96F15AFB-617E-432A-947E-D5E77DB1B906}" presName="parentText" presStyleLbl="alignNode1" presStyleIdx="2" presStyleCnt="6">
        <dgm:presLayoutVars>
          <dgm:chMax val="1"/>
          <dgm:bulletEnabled val="1"/>
        </dgm:presLayoutVars>
      </dgm:prSet>
      <dgm:spPr/>
    </dgm:pt>
    <dgm:pt modelId="{282C81AE-304F-4371-BF27-AD9E59D03FF8}" type="pres">
      <dgm:prSet presAssocID="{96F15AFB-617E-432A-947E-D5E77DB1B906}" presName="descendantText" presStyleLbl="alignAcc1" presStyleIdx="2" presStyleCnt="6">
        <dgm:presLayoutVars>
          <dgm:bulletEnabled val="1"/>
        </dgm:presLayoutVars>
      </dgm:prSet>
      <dgm:spPr/>
    </dgm:pt>
    <dgm:pt modelId="{536AAF3B-D0D2-4A3B-8FD4-614A7FF4D69A}" type="pres">
      <dgm:prSet presAssocID="{2ED1B2F3-912F-43CF-A884-B49484FFEB41}" presName="sp" presStyleCnt="0"/>
      <dgm:spPr/>
    </dgm:pt>
    <dgm:pt modelId="{8ACFFEB2-5988-4381-9C4A-99E16B00A86B}" type="pres">
      <dgm:prSet presAssocID="{20A37D60-C841-481F-8076-CDB5A6ECB0D9}" presName="composite" presStyleCnt="0"/>
      <dgm:spPr/>
    </dgm:pt>
    <dgm:pt modelId="{FE29EBD9-ACBA-4590-BA01-DA2C5FE26EF1}" type="pres">
      <dgm:prSet presAssocID="{20A37D60-C841-481F-8076-CDB5A6ECB0D9}" presName="parentText" presStyleLbl="alignNode1" presStyleIdx="3" presStyleCnt="6">
        <dgm:presLayoutVars>
          <dgm:chMax val="1"/>
          <dgm:bulletEnabled val="1"/>
        </dgm:presLayoutVars>
      </dgm:prSet>
      <dgm:spPr/>
    </dgm:pt>
    <dgm:pt modelId="{DCE9D2F9-570E-4418-A260-BE50D789B8B7}" type="pres">
      <dgm:prSet presAssocID="{20A37D60-C841-481F-8076-CDB5A6ECB0D9}" presName="descendantText" presStyleLbl="alignAcc1" presStyleIdx="3" presStyleCnt="6">
        <dgm:presLayoutVars>
          <dgm:bulletEnabled val="1"/>
        </dgm:presLayoutVars>
      </dgm:prSet>
      <dgm:spPr/>
    </dgm:pt>
    <dgm:pt modelId="{8E0AB483-2192-44EB-B614-AC4C33E4E118}" type="pres">
      <dgm:prSet presAssocID="{AA5565E9-7AF4-4822-A156-E9756A5F251F}" presName="sp" presStyleCnt="0"/>
      <dgm:spPr/>
    </dgm:pt>
    <dgm:pt modelId="{6EC573B2-F5D2-4AC1-890C-9DF05EA7D520}" type="pres">
      <dgm:prSet presAssocID="{5E076870-B1A4-475D-8530-F07AE04FDA04}" presName="composite" presStyleCnt="0"/>
      <dgm:spPr/>
    </dgm:pt>
    <dgm:pt modelId="{1CBA4829-E67F-4F1E-BE69-98E5276E94F2}" type="pres">
      <dgm:prSet presAssocID="{5E076870-B1A4-475D-8530-F07AE04FDA04}" presName="parentText" presStyleLbl="alignNode1" presStyleIdx="4" presStyleCnt="6">
        <dgm:presLayoutVars>
          <dgm:chMax val="1"/>
          <dgm:bulletEnabled val="1"/>
        </dgm:presLayoutVars>
      </dgm:prSet>
      <dgm:spPr/>
    </dgm:pt>
    <dgm:pt modelId="{E104039D-CA61-49F7-ABE5-EAF2DE336D46}" type="pres">
      <dgm:prSet presAssocID="{5E076870-B1A4-475D-8530-F07AE04FDA04}" presName="descendantText" presStyleLbl="alignAcc1" presStyleIdx="4" presStyleCnt="6">
        <dgm:presLayoutVars>
          <dgm:bulletEnabled val="1"/>
        </dgm:presLayoutVars>
      </dgm:prSet>
      <dgm:spPr/>
    </dgm:pt>
    <dgm:pt modelId="{C1A29D92-B40F-46CB-AFF1-13D86795DF98}" type="pres">
      <dgm:prSet presAssocID="{16E87B4D-A94B-4536-99D0-2A192FE48F67}" presName="sp" presStyleCnt="0"/>
      <dgm:spPr/>
    </dgm:pt>
    <dgm:pt modelId="{E82D5599-C1AD-4B75-B1C7-71AD55712589}" type="pres">
      <dgm:prSet presAssocID="{5C99307F-266B-43C2-BB81-20602E345DEF}" presName="composite" presStyleCnt="0"/>
      <dgm:spPr/>
    </dgm:pt>
    <dgm:pt modelId="{5ABAB2D0-FC51-4368-BA4C-AAA8B53A09E3}" type="pres">
      <dgm:prSet presAssocID="{5C99307F-266B-43C2-BB81-20602E345DEF}" presName="parentText" presStyleLbl="alignNode1" presStyleIdx="5" presStyleCnt="6">
        <dgm:presLayoutVars>
          <dgm:chMax val="1"/>
          <dgm:bulletEnabled val="1"/>
        </dgm:presLayoutVars>
      </dgm:prSet>
      <dgm:spPr/>
    </dgm:pt>
    <dgm:pt modelId="{2BCBCD69-A821-472D-AD09-0EF55609F484}" type="pres">
      <dgm:prSet presAssocID="{5C99307F-266B-43C2-BB81-20602E345DEF}" presName="descendantText" presStyleLbl="alignAcc1" presStyleIdx="5" presStyleCnt="6">
        <dgm:presLayoutVars>
          <dgm:bulletEnabled val="1"/>
        </dgm:presLayoutVars>
      </dgm:prSet>
      <dgm:spPr/>
    </dgm:pt>
  </dgm:ptLst>
  <dgm:cxnLst>
    <dgm:cxn modelId="{862E8500-D168-4187-B047-C1AAC917948B}" type="presOf" srcId="{185D1B79-C5EC-42CB-A4E6-32494ED441C6}" destId="{DCE9D2F9-570E-4418-A260-BE50D789B8B7}" srcOrd="0" destOrd="0" presId="urn:microsoft.com/office/officeart/2005/8/layout/chevron2"/>
    <dgm:cxn modelId="{49D99404-7D94-4B83-9382-7911DE578EBD}" type="presOf" srcId="{3F258B43-4DD1-441A-9957-7CE1271FA888}" destId="{FE7FC35B-EBB7-4586-AC6B-5CB6709B05E3}" srcOrd="0" destOrd="1" presId="urn:microsoft.com/office/officeart/2005/8/layout/chevron2"/>
    <dgm:cxn modelId="{AD60A20D-0AD3-43D7-9A44-AA1668CBE756}" type="presOf" srcId="{F6CCCBE1-EBBC-4969-8867-D061F64F1BD8}" destId="{2BCBCD69-A821-472D-AD09-0EF55609F484}" srcOrd="0" destOrd="1" presId="urn:microsoft.com/office/officeart/2005/8/layout/chevron2"/>
    <dgm:cxn modelId="{B351230E-2B41-4323-906C-B01027A4F2C6}" srcId="{96F15AFB-617E-432A-947E-D5E77DB1B906}" destId="{0B1D3370-3769-44A5-831F-2939F9AAC150}" srcOrd="1" destOrd="0" parTransId="{9760168D-D401-4821-889F-3FCDC4E178B3}" sibTransId="{1F540D94-FD4F-4B7A-842B-0DAE6E14B4E0}"/>
    <dgm:cxn modelId="{AFF0910E-12EB-43A5-B3DF-87BC2E553BD2}" type="presOf" srcId="{9A631D3E-CE18-4824-9185-56BDDE9128DD}" destId="{1399D0FC-4D07-4C56-906B-CBD4931655C9}" srcOrd="0" destOrd="0" presId="urn:microsoft.com/office/officeart/2005/8/layout/chevron2"/>
    <dgm:cxn modelId="{C6A80016-C69B-4BA1-BD53-DAFF186E1C67}" type="presOf" srcId="{0B1D3370-3769-44A5-831F-2939F9AAC150}" destId="{282C81AE-304F-4371-BF27-AD9E59D03FF8}" srcOrd="0" destOrd="1" presId="urn:microsoft.com/office/officeart/2005/8/layout/chevron2"/>
    <dgm:cxn modelId="{E6D19218-3CA8-4B39-8A04-258F1D8EF240}" srcId="{5C99307F-266B-43C2-BB81-20602E345DEF}" destId="{4690F0AF-62D2-4B37-9D17-759F18E6FC1C}" srcOrd="0" destOrd="0" parTransId="{34B44BBA-7291-4D69-B6F3-04C839D7079E}" sibTransId="{8E6287FE-D01A-4FBC-A8F4-1C8A46A26741}"/>
    <dgm:cxn modelId="{841EA31C-3610-4F3A-B887-E1B8AC15280C}" srcId="{20A37D60-C841-481F-8076-CDB5A6ECB0D9}" destId="{3972DE56-510E-4570-9972-D6F394911D46}" srcOrd="1" destOrd="0" parTransId="{D90AF094-ADA4-43C6-9B5E-BEC62567063A}" sibTransId="{46447AAE-881C-4752-A2E7-843291515B1E}"/>
    <dgm:cxn modelId="{0739281E-D736-4215-8281-7484481934C3}" type="presOf" srcId="{84F595E5-DD90-4438-8863-B06D0E4050F4}" destId="{5DF1FFC6-32EF-4637-A55C-037F6AF020A5}" srcOrd="0" destOrd="0" presId="urn:microsoft.com/office/officeart/2005/8/layout/chevron2"/>
    <dgm:cxn modelId="{EAC36922-B4B4-43A4-9DED-649324C5943E}" srcId="{82C54CB5-62E3-493C-B800-992D56B94305}" destId="{5E076870-B1A4-475D-8530-F07AE04FDA04}" srcOrd="4" destOrd="0" parTransId="{317854D3-E704-435B-9761-FD12CEBC1EBC}" sibTransId="{16E87B4D-A94B-4536-99D0-2A192FE48F67}"/>
    <dgm:cxn modelId="{D35BCE28-938C-4656-8944-75335120D2A6}" srcId="{5E076870-B1A4-475D-8530-F07AE04FDA04}" destId="{9D8308B2-94F8-4927-8543-3C5F56C32EDE}" srcOrd="0" destOrd="0" parTransId="{D1CBD6D1-693D-4A8D-8FB8-1D5C37BA76A2}" sibTransId="{CB97F855-C39F-4C83-986C-A9E7D1CBC186}"/>
    <dgm:cxn modelId="{CA2ADF38-36D5-48CD-BCC0-B81044680ECC}" type="presOf" srcId="{1B05704B-84B5-4CD3-80C5-3A30731178BD}" destId="{E104039D-CA61-49F7-ABE5-EAF2DE336D46}" srcOrd="0" destOrd="1" presId="urn:microsoft.com/office/officeart/2005/8/layout/chevron2"/>
    <dgm:cxn modelId="{063F583B-1228-41D0-9669-3C2FF06E1EA8}" srcId="{9A631D3E-CE18-4824-9185-56BDDE9128DD}" destId="{71BC2AE7-8E2A-4232-BF1A-18820C9F7AA0}" srcOrd="1" destOrd="0" parTransId="{00960582-8DEB-4521-A93A-93F084B7E6A8}" sibTransId="{110144B3-D910-47B3-9C06-3A67A91916E4}"/>
    <dgm:cxn modelId="{B787EE3B-A68E-436F-B1E6-7AEB715A0A05}" srcId="{82C54CB5-62E3-493C-B800-992D56B94305}" destId="{9A631D3E-CE18-4824-9185-56BDDE9128DD}" srcOrd="0" destOrd="0" parTransId="{A5F3E899-1BF9-4729-83DE-DC5CE2B09635}" sibTransId="{3F4A56F3-EF0B-4A34-BC7E-F4F4729DB5C7}"/>
    <dgm:cxn modelId="{C349C93D-5F7E-4A8B-B5E9-3C0A6A9CCC33}" type="presOf" srcId="{9D8308B2-94F8-4927-8543-3C5F56C32EDE}" destId="{E104039D-CA61-49F7-ABE5-EAF2DE336D46}" srcOrd="0" destOrd="0" presId="urn:microsoft.com/office/officeart/2005/8/layout/chevron2"/>
    <dgm:cxn modelId="{DDCD2D41-399D-433A-9B28-FFDA60B6EF84}" type="presOf" srcId="{5E076870-B1A4-475D-8530-F07AE04FDA04}" destId="{1CBA4829-E67F-4F1E-BE69-98E5276E94F2}" srcOrd="0" destOrd="0" presId="urn:microsoft.com/office/officeart/2005/8/layout/chevron2"/>
    <dgm:cxn modelId="{06C41543-7207-4883-A268-67E1121791C7}" type="presOf" srcId="{F5491EF1-B5C2-4C98-801E-9715FED6B2AA}" destId="{5F1517DC-DC4C-4105-9427-CE19199EEB45}" srcOrd="0" destOrd="0" presId="urn:microsoft.com/office/officeart/2005/8/layout/chevron2"/>
    <dgm:cxn modelId="{EAB6A34A-2AAB-45C9-BD5B-5C60EBEE49A6}" type="presOf" srcId="{3972DE56-510E-4570-9972-D6F394911D46}" destId="{DCE9D2F9-570E-4418-A260-BE50D789B8B7}" srcOrd="0" destOrd="1" presId="urn:microsoft.com/office/officeart/2005/8/layout/chevron2"/>
    <dgm:cxn modelId="{DA66D455-BD3E-4E2E-B104-A834CF411D42}" type="presOf" srcId="{82C54CB5-62E3-493C-B800-992D56B94305}" destId="{1C03C628-8D93-4D21-BC4E-576B227726D6}" srcOrd="0" destOrd="0" presId="urn:microsoft.com/office/officeart/2005/8/layout/chevron2"/>
    <dgm:cxn modelId="{F6979C7E-18BA-48FD-881D-9A6FAA86CC3F}" type="presOf" srcId="{5C99307F-266B-43C2-BB81-20602E345DEF}" destId="{5ABAB2D0-FC51-4368-BA4C-AAA8B53A09E3}" srcOrd="0" destOrd="0" presId="urn:microsoft.com/office/officeart/2005/8/layout/chevron2"/>
    <dgm:cxn modelId="{C023FF84-ACEC-4246-8E84-5BD25495A5D3}" srcId="{F5491EF1-B5C2-4C98-801E-9715FED6B2AA}" destId="{71C58102-AC66-424D-9C0F-C610C8120A95}" srcOrd="0" destOrd="0" parTransId="{7704A182-9523-4265-BE82-F0488FF1D9C8}" sibTransId="{3461812C-A5C0-4949-BAD6-AD98E63448A7}"/>
    <dgm:cxn modelId="{C787228A-C296-4D80-A884-FA0FAD4CCDE3}" type="presOf" srcId="{71C58102-AC66-424D-9C0F-C610C8120A95}" destId="{FE7FC35B-EBB7-4586-AC6B-5CB6709B05E3}" srcOrd="0" destOrd="0" presId="urn:microsoft.com/office/officeart/2005/8/layout/chevron2"/>
    <dgm:cxn modelId="{6580E68A-EF07-4621-B5A2-D782CD85B6A2}" srcId="{9A631D3E-CE18-4824-9185-56BDDE9128DD}" destId="{84F595E5-DD90-4438-8863-B06D0E4050F4}" srcOrd="0" destOrd="0" parTransId="{BED8B5D3-C353-4E99-A5BD-47F26A2BB25C}" sibTransId="{922AF872-CE59-463B-B5E1-F05B07EC54F9}"/>
    <dgm:cxn modelId="{B694108E-C1F8-4F3B-B348-61996C418AAD}" type="presOf" srcId="{B994417D-0FB5-40F0-B4F3-338DDED128CE}" destId="{282C81AE-304F-4371-BF27-AD9E59D03FF8}" srcOrd="0" destOrd="0" presId="urn:microsoft.com/office/officeart/2005/8/layout/chevron2"/>
    <dgm:cxn modelId="{CD3DC794-CE8C-4C6F-8A83-C0465FBF8F7A}" srcId="{F5491EF1-B5C2-4C98-801E-9715FED6B2AA}" destId="{3F258B43-4DD1-441A-9957-7CE1271FA888}" srcOrd="1" destOrd="0" parTransId="{DBC9B484-45E9-4B4A-8ED5-0D48FD0C52DA}" sibTransId="{9986B3E0-D74D-49A8-9652-2D09BE7660AE}"/>
    <dgm:cxn modelId="{069388A5-6DAA-4D22-8F4D-3E162223E53B}" type="presOf" srcId="{96F15AFB-617E-432A-947E-D5E77DB1B906}" destId="{FE7C15E3-FFEB-426F-84D9-79B7EF91FAB9}" srcOrd="0" destOrd="0" presId="urn:microsoft.com/office/officeart/2005/8/layout/chevron2"/>
    <dgm:cxn modelId="{AB75DDA9-DEC0-4B20-8E4F-A4B3D9612393}" type="presOf" srcId="{4690F0AF-62D2-4B37-9D17-759F18E6FC1C}" destId="{2BCBCD69-A821-472D-AD09-0EF55609F484}" srcOrd="0" destOrd="0" presId="urn:microsoft.com/office/officeart/2005/8/layout/chevron2"/>
    <dgm:cxn modelId="{B35752AF-A85D-401F-AC4F-35155A3A00F1}" srcId="{82C54CB5-62E3-493C-B800-992D56B94305}" destId="{F5491EF1-B5C2-4C98-801E-9715FED6B2AA}" srcOrd="1" destOrd="0" parTransId="{28452AD4-412A-4619-A6E9-BDEA47EB4C81}" sibTransId="{B6FED659-3631-498B-A671-7DF5AE8AAA4B}"/>
    <dgm:cxn modelId="{10E2D0B1-6396-4E06-80BB-3009B24BBDDF}" srcId="{82C54CB5-62E3-493C-B800-992D56B94305}" destId="{96F15AFB-617E-432A-947E-D5E77DB1B906}" srcOrd="2" destOrd="0" parTransId="{699DD65E-6417-4929-8C99-3EEFB99FD79B}" sibTransId="{2ED1B2F3-912F-43CF-A884-B49484FFEB41}"/>
    <dgm:cxn modelId="{DFE6BFB2-C92D-40C9-BBD9-DF6A6D878F61}" srcId="{20A37D60-C841-481F-8076-CDB5A6ECB0D9}" destId="{185D1B79-C5EC-42CB-A4E6-32494ED441C6}" srcOrd="0" destOrd="0" parTransId="{1160874D-23B9-4CD6-8D91-E4289A07899E}" sibTransId="{E39D5DA0-AB9B-4045-A447-3DF684EA1884}"/>
    <dgm:cxn modelId="{1F1346B4-E90D-4560-81FD-8450418AB1FD}" srcId="{96F15AFB-617E-432A-947E-D5E77DB1B906}" destId="{B994417D-0FB5-40F0-B4F3-338DDED128CE}" srcOrd="0" destOrd="0" parTransId="{97361CE7-EA87-4A30-9F2D-04F9AED03CA8}" sibTransId="{DCB390CE-DA53-4E69-A9CC-42AE97B098E3}"/>
    <dgm:cxn modelId="{D9A866B5-3A02-4206-9321-792FDF76A936}" type="presOf" srcId="{71BC2AE7-8E2A-4232-BF1A-18820C9F7AA0}" destId="{5DF1FFC6-32EF-4637-A55C-037F6AF020A5}" srcOrd="0" destOrd="1" presId="urn:microsoft.com/office/officeart/2005/8/layout/chevron2"/>
    <dgm:cxn modelId="{3DA5FCCD-27BD-40F1-85AA-CF59A65E37B8}" srcId="{82C54CB5-62E3-493C-B800-992D56B94305}" destId="{5C99307F-266B-43C2-BB81-20602E345DEF}" srcOrd="5" destOrd="0" parTransId="{E6343C6C-D7A1-4AFB-82FD-B8E65DE094FF}" sibTransId="{C7385E43-AE3A-4178-BA35-7321A9BE6183}"/>
    <dgm:cxn modelId="{158A00DA-983B-4874-BB78-DCDCF6092C76}" type="presOf" srcId="{20A37D60-C841-481F-8076-CDB5A6ECB0D9}" destId="{FE29EBD9-ACBA-4590-BA01-DA2C5FE26EF1}" srcOrd="0" destOrd="0" presId="urn:microsoft.com/office/officeart/2005/8/layout/chevron2"/>
    <dgm:cxn modelId="{584E34F4-0E59-4071-8400-888470F0FD99}" srcId="{5C99307F-266B-43C2-BB81-20602E345DEF}" destId="{F6CCCBE1-EBBC-4969-8867-D061F64F1BD8}" srcOrd="1" destOrd="0" parTransId="{379BBB36-BC77-45D7-A67D-E746EEDE768A}" sibTransId="{04B3905D-59BF-4E49-B138-FB18FB833094}"/>
    <dgm:cxn modelId="{343E0BF9-1611-4251-8CFE-0B8838AD623A}" srcId="{82C54CB5-62E3-493C-B800-992D56B94305}" destId="{20A37D60-C841-481F-8076-CDB5A6ECB0D9}" srcOrd="3" destOrd="0" parTransId="{0AD40DE5-61CC-4278-9396-599FB0F1E1F2}" sibTransId="{AA5565E9-7AF4-4822-A156-E9756A5F251F}"/>
    <dgm:cxn modelId="{27A907FA-B5CB-486D-AC33-1FF0FEA0AD92}" srcId="{5E076870-B1A4-475D-8530-F07AE04FDA04}" destId="{1B05704B-84B5-4CD3-80C5-3A30731178BD}" srcOrd="1" destOrd="0" parTransId="{3277129A-9609-45F9-B3E0-8A58D40DC9B1}" sibTransId="{D7798B6B-60DC-49A8-B959-EED35B83D964}"/>
    <dgm:cxn modelId="{5E95E975-E8A4-43A8-BC1D-AA8F389A5C6D}" type="presParOf" srcId="{1C03C628-8D93-4D21-BC4E-576B227726D6}" destId="{F954712A-0A7E-4640-A12E-C96C50208AEF}" srcOrd="0" destOrd="0" presId="urn:microsoft.com/office/officeart/2005/8/layout/chevron2"/>
    <dgm:cxn modelId="{C244C179-400F-46C9-99D9-B1B90B78D350}" type="presParOf" srcId="{F954712A-0A7E-4640-A12E-C96C50208AEF}" destId="{1399D0FC-4D07-4C56-906B-CBD4931655C9}" srcOrd="0" destOrd="0" presId="urn:microsoft.com/office/officeart/2005/8/layout/chevron2"/>
    <dgm:cxn modelId="{DC3434F2-F9AC-445F-A36A-CA85649ED598}" type="presParOf" srcId="{F954712A-0A7E-4640-A12E-C96C50208AEF}" destId="{5DF1FFC6-32EF-4637-A55C-037F6AF020A5}" srcOrd="1" destOrd="0" presId="urn:microsoft.com/office/officeart/2005/8/layout/chevron2"/>
    <dgm:cxn modelId="{1B81DFC3-0D0C-4B8D-9DAC-994F43F7A896}" type="presParOf" srcId="{1C03C628-8D93-4D21-BC4E-576B227726D6}" destId="{8418E734-089F-434A-9C4C-C8A05FCE6E14}" srcOrd="1" destOrd="0" presId="urn:microsoft.com/office/officeart/2005/8/layout/chevron2"/>
    <dgm:cxn modelId="{C54CE81B-9FF7-468C-BD29-60FAB251459E}" type="presParOf" srcId="{1C03C628-8D93-4D21-BC4E-576B227726D6}" destId="{A998ED22-015E-403E-AC14-A03A53CCF525}" srcOrd="2" destOrd="0" presId="urn:microsoft.com/office/officeart/2005/8/layout/chevron2"/>
    <dgm:cxn modelId="{103FCDE6-E49E-481D-9FD4-CFB23157A681}" type="presParOf" srcId="{A998ED22-015E-403E-AC14-A03A53CCF525}" destId="{5F1517DC-DC4C-4105-9427-CE19199EEB45}" srcOrd="0" destOrd="0" presId="urn:microsoft.com/office/officeart/2005/8/layout/chevron2"/>
    <dgm:cxn modelId="{ECE97C49-1784-422A-9564-7DE288FCFA8D}" type="presParOf" srcId="{A998ED22-015E-403E-AC14-A03A53CCF525}" destId="{FE7FC35B-EBB7-4586-AC6B-5CB6709B05E3}" srcOrd="1" destOrd="0" presId="urn:microsoft.com/office/officeart/2005/8/layout/chevron2"/>
    <dgm:cxn modelId="{EF7E805C-E81C-4EFB-98C7-8F637D17195F}" type="presParOf" srcId="{1C03C628-8D93-4D21-BC4E-576B227726D6}" destId="{1B966393-198F-448E-9996-FAFE38295817}" srcOrd="3" destOrd="0" presId="urn:microsoft.com/office/officeart/2005/8/layout/chevron2"/>
    <dgm:cxn modelId="{240EC785-A1BF-4F38-BEEA-5B7DCA9FA0C0}" type="presParOf" srcId="{1C03C628-8D93-4D21-BC4E-576B227726D6}" destId="{550DFB86-C8A2-4A2A-823F-5E39A4CFB9F4}" srcOrd="4" destOrd="0" presId="urn:microsoft.com/office/officeart/2005/8/layout/chevron2"/>
    <dgm:cxn modelId="{73DB5BD8-9E76-44DD-8098-D1F6DD8EF2B9}" type="presParOf" srcId="{550DFB86-C8A2-4A2A-823F-5E39A4CFB9F4}" destId="{FE7C15E3-FFEB-426F-84D9-79B7EF91FAB9}" srcOrd="0" destOrd="0" presId="urn:microsoft.com/office/officeart/2005/8/layout/chevron2"/>
    <dgm:cxn modelId="{DBD165C1-4968-4AE2-861C-13863F169B2B}" type="presParOf" srcId="{550DFB86-C8A2-4A2A-823F-5E39A4CFB9F4}" destId="{282C81AE-304F-4371-BF27-AD9E59D03FF8}" srcOrd="1" destOrd="0" presId="urn:microsoft.com/office/officeart/2005/8/layout/chevron2"/>
    <dgm:cxn modelId="{731BB028-F323-4CE7-A0C9-23BCD14BE97E}" type="presParOf" srcId="{1C03C628-8D93-4D21-BC4E-576B227726D6}" destId="{536AAF3B-D0D2-4A3B-8FD4-614A7FF4D69A}" srcOrd="5" destOrd="0" presId="urn:microsoft.com/office/officeart/2005/8/layout/chevron2"/>
    <dgm:cxn modelId="{F463B4CA-3831-4290-8B98-9412CD6FB19C}" type="presParOf" srcId="{1C03C628-8D93-4D21-BC4E-576B227726D6}" destId="{8ACFFEB2-5988-4381-9C4A-99E16B00A86B}" srcOrd="6" destOrd="0" presId="urn:microsoft.com/office/officeart/2005/8/layout/chevron2"/>
    <dgm:cxn modelId="{BA7D8857-21F3-4680-AB17-44D7CC98B147}" type="presParOf" srcId="{8ACFFEB2-5988-4381-9C4A-99E16B00A86B}" destId="{FE29EBD9-ACBA-4590-BA01-DA2C5FE26EF1}" srcOrd="0" destOrd="0" presId="urn:microsoft.com/office/officeart/2005/8/layout/chevron2"/>
    <dgm:cxn modelId="{B657CAA0-C62A-43E6-89D4-D2619BCD4216}" type="presParOf" srcId="{8ACFFEB2-5988-4381-9C4A-99E16B00A86B}" destId="{DCE9D2F9-570E-4418-A260-BE50D789B8B7}" srcOrd="1" destOrd="0" presId="urn:microsoft.com/office/officeart/2005/8/layout/chevron2"/>
    <dgm:cxn modelId="{87564914-50C7-4998-AEB5-9628F4EB3CF2}" type="presParOf" srcId="{1C03C628-8D93-4D21-BC4E-576B227726D6}" destId="{8E0AB483-2192-44EB-B614-AC4C33E4E118}" srcOrd="7" destOrd="0" presId="urn:microsoft.com/office/officeart/2005/8/layout/chevron2"/>
    <dgm:cxn modelId="{4E598FAB-6C05-46D7-8F7E-1683FCE4B083}" type="presParOf" srcId="{1C03C628-8D93-4D21-BC4E-576B227726D6}" destId="{6EC573B2-F5D2-4AC1-890C-9DF05EA7D520}" srcOrd="8" destOrd="0" presId="urn:microsoft.com/office/officeart/2005/8/layout/chevron2"/>
    <dgm:cxn modelId="{33C49E22-7BFE-4288-BB32-8013055DAE22}" type="presParOf" srcId="{6EC573B2-F5D2-4AC1-890C-9DF05EA7D520}" destId="{1CBA4829-E67F-4F1E-BE69-98E5276E94F2}" srcOrd="0" destOrd="0" presId="urn:microsoft.com/office/officeart/2005/8/layout/chevron2"/>
    <dgm:cxn modelId="{5DB3301D-8599-4255-B502-16081192919C}" type="presParOf" srcId="{6EC573B2-F5D2-4AC1-890C-9DF05EA7D520}" destId="{E104039D-CA61-49F7-ABE5-EAF2DE336D46}" srcOrd="1" destOrd="0" presId="urn:microsoft.com/office/officeart/2005/8/layout/chevron2"/>
    <dgm:cxn modelId="{F2D2C188-8D5F-4B20-84BD-C780A5ED3527}" type="presParOf" srcId="{1C03C628-8D93-4D21-BC4E-576B227726D6}" destId="{C1A29D92-B40F-46CB-AFF1-13D86795DF98}" srcOrd="9" destOrd="0" presId="urn:microsoft.com/office/officeart/2005/8/layout/chevron2"/>
    <dgm:cxn modelId="{C90DEEA8-E23C-43D5-8400-EA7BAF01814C}" type="presParOf" srcId="{1C03C628-8D93-4D21-BC4E-576B227726D6}" destId="{E82D5599-C1AD-4B75-B1C7-71AD55712589}" srcOrd="10" destOrd="0" presId="urn:microsoft.com/office/officeart/2005/8/layout/chevron2"/>
    <dgm:cxn modelId="{7E2B7EA4-F037-4189-90F8-37BB4D81759E}" type="presParOf" srcId="{E82D5599-C1AD-4B75-B1C7-71AD55712589}" destId="{5ABAB2D0-FC51-4368-BA4C-AAA8B53A09E3}" srcOrd="0" destOrd="0" presId="urn:microsoft.com/office/officeart/2005/8/layout/chevron2"/>
    <dgm:cxn modelId="{B16E9DBC-B9C9-4BCC-8BE6-69EB622AA1B2}" type="presParOf" srcId="{E82D5599-C1AD-4B75-B1C7-71AD55712589}" destId="{2BCBCD69-A821-472D-AD09-0EF55609F484}"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9D0FC-4D07-4C56-906B-CBD4931655C9}">
      <dsp:nvSpPr>
        <dsp:cNvPr id="0" name=""/>
        <dsp:cNvSpPr/>
      </dsp:nvSpPr>
      <dsp:spPr>
        <a:xfrm rot="5400000">
          <a:off x="-150704" y="154758"/>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1</a:t>
          </a:r>
          <a:endParaRPr lang="zh-CN" altLang="en-US" sz="1400" kern="1200" dirty="0"/>
        </a:p>
      </dsp:txBody>
      <dsp:txXfrm rot="-5400000">
        <a:off x="1" y="355698"/>
        <a:ext cx="703287" cy="301409"/>
      </dsp:txXfrm>
    </dsp:sp>
    <dsp:sp modelId="{5DF1FFC6-32EF-4637-A55C-037F6AF020A5}">
      <dsp:nvSpPr>
        <dsp:cNvPr id="0" name=""/>
        <dsp:cNvSpPr/>
      </dsp:nvSpPr>
      <dsp:spPr>
        <a:xfrm rot="5400000">
          <a:off x="3262427" y="-2555085"/>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chemeClr val="accent1"/>
              </a:solidFill>
              <a:latin typeface="+mj-ea"/>
              <a:ea typeface="+mj-ea"/>
              <a:cs typeface="+mn-cs"/>
            </a:rPr>
            <a:t>2025</a:t>
          </a:r>
          <a:r>
            <a:rPr lang="zh-CN" altLang="en-US" sz="1600" b="1" kern="1200" spc="100" dirty="0">
              <a:solidFill>
                <a:schemeClr val="accent1"/>
              </a:solidFill>
              <a:latin typeface="+mj-ea"/>
              <a:ea typeface="+mj-ea"/>
              <a:cs typeface="+mn-cs"/>
            </a:rPr>
            <a:t>年</a:t>
          </a:r>
          <a:r>
            <a:rPr lang="en-US" altLang="zh-CN" sz="1600" b="1" kern="1200" spc="100" dirty="0">
              <a:solidFill>
                <a:schemeClr val="accent1"/>
              </a:solidFill>
              <a:latin typeface="+mj-ea"/>
              <a:ea typeface="+mj-ea"/>
              <a:cs typeface="+mn-cs"/>
            </a:rPr>
            <a:t>12</a:t>
          </a:r>
          <a:r>
            <a:rPr lang="zh-CN" altLang="en-US" sz="1600" b="1" kern="1200" spc="100" dirty="0">
              <a:solidFill>
                <a:schemeClr val="accent1"/>
              </a:solidFill>
              <a:latin typeface="+mj-ea"/>
              <a:ea typeface="+mj-ea"/>
              <a:cs typeface="+mn-cs"/>
            </a:rPr>
            <a:t>月</a:t>
          </a:r>
          <a:r>
            <a:rPr lang="zh-CN" altLang="en-US" sz="1600" b="1" kern="1200" spc="100" dirty="0">
              <a:solidFill>
                <a:srgbClr val="32497B"/>
              </a:solidFill>
              <a:latin typeface="微软雅黑"/>
              <a:ea typeface="微软雅黑"/>
              <a:cs typeface="+mn-cs"/>
            </a:rPr>
            <a:t>～</a:t>
          </a:r>
          <a:r>
            <a:rPr lang="en-US" altLang="zh-CN" sz="1600" b="1" kern="1200" spc="100" dirty="0">
              <a:solidFill>
                <a:schemeClr val="accent1"/>
              </a:solidFill>
              <a:latin typeface="+mj-ea"/>
              <a:ea typeface="+mj-ea"/>
              <a:cs typeface="+mn-cs"/>
            </a:rPr>
            <a:t>1</a:t>
          </a:r>
          <a:r>
            <a:rPr lang="zh-CN" altLang="en-US" sz="1600" b="1" kern="1200" spc="100" dirty="0">
              <a:solidFill>
                <a:schemeClr val="accent1"/>
              </a:solidFill>
              <a:latin typeface="+mj-ea"/>
              <a:ea typeface="+mj-ea"/>
              <a:cs typeface="+mn-cs"/>
            </a:rPr>
            <a:t>月</a:t>
          </a:r>
        </a:p>
        <a:p>
          <a:pPr marL="171450" lvl="1" indent="-171450" algn="l" defTabSz="711200">
            <a:lnSpc>
              <a:spcPct val="90000"/>
            </a:lnSpc>
            <a:spcBef>
              <a:spcPct val="0"/>
            </a:spcBef>
            <a:spcAft>
              <a:spcPct val="15000"/>
            </a:spcAft>
            <a:buChar char="•"/>
          </a:pPr>
          <a:r>
            <a:rPr lang="zh-CN" altLang="en-US" sz="1600" b="0" i="0" kern="1200" dirty="0">
              <a:solidFill>
                <a:schemeClr val="tx1"/>
              </a:solidFill>
              <a:latin typeface="微软雅黑" panose="020B0503020204020204" charset="-122"/>
              <a:ea typeface="微软雅黑" panose="020B0503020204020204" charset="-122"/>
              <a:cs typeface="微软雅黑" panose="020B0503020204020204" charset="-122"/>
            </a:rPr>
            <a:t>项目启动、文献调研、方案设计与数据集准备</a:t>
          </a:r>
          <a:endParaRPr lang="zh-CN" altLang="en-US" sz="1400" b="1" kern="1200" dirty="0"/>
        </a:p>
      </dsp:txBody>
      <dsp:txXfrm rot="-5400000">
        <a:off x="703288" y="35933"/>
        <a:ext cx="5739453" cy="589294"/>
      </dsp:txXfrm>
    </dsp:sp>
    <dsp:sp modelId="{5F1517DC-DC4C-4105-9427-CE19199EEB45}">
      <dsp:nvSpPr>
        <dsp:cNvPr id="0" name=""/>
        <dsp:cNvSpPr/>
      </dsp:nvSpPr>
      <dsp:spPr>
        <a:xfrm rot="5400000">
          <a:off x="-150704" y="1062510"/>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2</a:t>
          </a:r>
          <a:endParaRPr lang="zh-CN" altLang="en-US" sz="1400" kern="1200" dirty="0"/>
        </a:p>
      </dsp:txBody>
      <dsp:txXfrm rot="-5400000">
        <a:off x="1" y="1263450"/>
        <a:ext cx="703287" cy="301409"/>
      </dsp:txXfrm>
    </dsp:sp>
    <dsp:sp modelId="{FE7FC35B-EBB7-4586-AC6B-5CB6709B05E3}">
      <dsp:nvSpPr>
        <dsp:cNvPr id="0" name=""/>
        <dsp:cNvSpPr/>
      </dsp:nvSpPr>
      <dsp:spPr>
        <a:xfrm rot="5400000">
          <a:off x="3202924" y="-1639536"/>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2</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4</a:t>
          </a:r>
          <a:r>
            <a:rPr lang="zh-CN" altLang="en-US" sz="1600" b="1" kern="1200" spc="100" dirty="0">
              <a:solidFill>
                <a:srgbClr val="32497B"/>
              </a:solidFill>
              <a:latin typeface="微软雅黑"/>
              <a:ea typeface="微软雅黑"/>
              <a:cs typeface="+mn-cs"/>
            </a:rPr>
            <a:t>月</a:t>
          </a:r>
        </a:p>
        <a:p>
          <a:pPr marL="114300" lvl="1" indent="0" algn="l" defTabSz="622300">
            <a:lnSpc>
              <a:spcPct val="90000"/>
            </a:lnSpc>
            <a:spcBef>
              <a:spcPct val="0"/>
            </a:spcBef>
            <a:spcAft>
              <a:spcPct val="15000"/>
            </a:spcAft>
            <a:buChar char="•"/>
          </a:pPr>
          <a:r>
            <a:rPr lang="zh-CN" sz="1600" kern="1200" dirty="0"/>
            <a:t>结合多光谱附件</a:t>
          </a:r>
          <a:r>
            <a:rPr lang="zh-CN" altLang="en-US" sz="1600" kern="1200" dirty="0"/>
            <a:t>，构建农药残留识别模型</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dsp:txBody>
      <dsp:txXfrm rot="-5400000">
        <a:off x="643785" y="951482"/>
        <a:ext cx="5739453" cy="589294"/>
      </dsp:txXfrm>
    </dsp:sp>
    <dsp:sp modelId="{FE7C15E3-FFEB-426F-84D9-79B7EF91FAB9}">
      <dsp:nvSpPr>
        <dsp:cNvPr id="0" name=""/>
        <dsp:cNvSpPr/>
      </dsp:nvSpPr>
      <dsp:spPr>
        <a:xfrm rot="5400000">
          <a:off x="-150704" y="1970262"/>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3</a:t>
          </a:r>
          <a:endParaRPr lang="zh-CN" altLang="en-US" sz="1400" kern="1200" dirty="0"/>
        </a:p>
      </dsp:txBody>
      <dsp:txXfrm rot="-5400000">
        <a:off x="1" y="2171202"/>
        <a:ext cx="703287" cy="301409"/>
      </dsp:txXfrm>
    </dsp:sp>
    <dsp:sp modelId="{282C81AE-304F-4371-BF27-AD9E59D03FF8}">
      <dsp:nvSpPr>
        <dsp:cNvPr id="0" name=""/>
        <dsp:cNvSpPr/>
      </dsp:nvSpPr>
      <dsp:spPr>
        <a:xfrm rot="5400000">
          <a:off x="3262427" y="-739581"/>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5</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7</a:t>
          </a:r>
          <a:r>
            <a:rPr lang="zh-CN" altLang="en-US" sz="1600" b="1" kern="1200" spc="100" dirty="0">
              <a:solidFill>
                <a:srgbClr val="32497B"/>
              </a:solidFill>
              <a:latin typeface="微软雅黑"/>
              <a:ea typeface="微软雅黑"/>
              <a:cs typeface="+mn-cs"/>
            </a:rPr>
            <a:t>月</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a:p>
          <a:pPr marL="114300" lvl="1" indent="0" algn="l" defTabSz="622300">
            <a:lnSpc>
              <a:spcPct val="90000"/>
            </a:lnSpc>
            <a:spcBef>
              <a:spcPct val="0"/>
            </a:spcBef>
            <a:spcAft>
              <a:spcPct val="15000"/>
            </a:spcAft>
            <a:buChar char="•"/>
          </a:pP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算法开发与模型训练，深度学习光谱分析核心实现</a:t>
          </a:r>
        </a:p>
      </dsp:txBody>
      <dsp:txXfrm rot="-5400000">
        <a:off x="703288" y="1851437"/>
        <a:ext cx="5739453" cy="589294"/>
      </dsp:txXfrm>
    </dsp:sp>
    <dsp:sp modelId="{FE29EBD9-ACBA-4590-BA01-DA2C5FE26EF1}">
      <dsp:nvSpPr>
        <dsp:cNvPr id="0" name=""/>
        <dsp:cNvSpPr/>
      </dsp:nvSpPr>
      <dsp:spPr>
        <a:xfrm rot="5400000">
          <a:off x="-150704" y="2878014"/>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4</a:t>
          </a:r>
          <a:endParaRPr lang="zh-CN" altLang="en-US" sz="1400" kern="1200" dirty="0"/>
        </a:p>
      </dsp:txBody>
      <dsp:txXfrm rot="-5400000">
        <a:off x="1" y="3078954"/>
        <a:ext cx="703287" cy="301409"/>
      </dsp:txXfrm>
    </dsp:sp>
    <dsp:sp modelId="{DCE9D2F9-570E-4418-A260-BE50D789B8B7}">
      <dsp:nvSpPr>
        <dsp:cNvPr id="0" name=""/>
        <dsp:cNvSpPr/>
      </dsp:nvSpPr>
      <dsp:spPr>
        <a:xfrm rot="5400000">
          <a:off x="3262427" y="168170"/>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8</a:t>
          </a:r>
          <a:r>
            <a:rPr lang="zh-CN" altLang="en-US" sz="1600" b="1" kern="1200" spc="100" dirty="0">
              <a:solidFill>
                <a:srgbClr val="32497B"/>
              </a:solidFill>
              <a:latin typeface="微软雅黑"/>
              <a:ea typeface="微软雅黑"/>
              <a:cs typeface="+mn-cs"/>
            </a:rPr>
            <a:t>月～</a:t>
          </a:r>
          <a:r>
            <a:rPr lang="en-US" altLang="zh-CN" sz="1600" b="1" kern="1200" spc="100" dirty="0">
              <a:solidFill>
                <a:srgbClr val="32497B"/>
              </a:solidFill>
              <a:latin typeface="微软雅黑"/>
              <a:ea typeface="微软雅黑"/>
              <a:cs typeface="+mn-cs"/>
            </a:rPr>
            <a:t>10</a:t>
          </a:r>
          <a:r>
            <a:rPr lang="zh-CN" altLang="en-US" sz="1600" b="1" kern="1200" spc="100" dirty="0">
              <a:solidFill>
                <a:srgbClr val="32497B"/>
              </a:solidFill>
              <a:latin typeface="微软雅黑"/>
              <a:ea typeface="微软雅黑"/>
              <a:cs typeface="+mn-cs"/>
            </a:rPr>
            <a:t>月</a:t>
          </a:r>
        </a:p>
        <a:p>
          <a:pPr marL="114300" lvl="1" indent="0" algn="l" defTabSz="622300">
            <a:lnSpc>
              <a:spcPct val="90000"/>
            </a:lnSpc>
            <a:spcBef>
              <a:spcPct val="0"/>
            </a:spcBef>
            <a:spcAft>
              <a:spcPct val="15000"/>
            </a:spcAft>
            <a:buChar char="•"/>
          </a:pP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APP</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开发与</a:t>
          </a: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引擎集成，用户界面设计与体验优化</a:t>
          </a:r>
        </a:p>
      </dsp:txBody>
      <dsp:txXfrm rot="-5400000">
        <a:off x="703288" y="2759189"/>
        <a:ext cx="5739453" cy="589294"/>
      </dsp:txXfrm>
    </dsp:sp>
    <dsp:sp modelId="{1CBA4829-E67F-4F1E-BE69-98E5276E94F2}">
      <dsp:nvSpPr>
        <dsp:cNvPr id="0" name=""/>
        <dsp:cNvSpPr/>
      </dsp:nvSpPr>
      <dsp:spPr>
        <a:xfrm rot="5400000">
          <a:off x="-150704" y="3785766"/>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5</a:t>
          </a:r>
          <a:endParaRPr lang="zh-CN" altLang="en-US" sz="1400" kern="1200" dirty="0"/>
        </a:p>
      </dsp:txBody>
      <dsp:txXfrm rot="-5400000">
        <a:off x="1" y="3986706"/>
        <a:ext cx="703287" cy="301409"/>
      </dsp:txXfrm>
    </dsp:sp>
    <dsp:sp modelId="{E104039D-CA61-49F7-ABE5-EAF2DE336D46}">
      <dsp:nvSpPr>
        <dsp:cNvPr id="0" name=""/>
        <dsp:cNvSpPr/>
      </dsp:nvSpPr>
      <dsp:spPr>
        <a:xfrm rot="5400000">
          <a:off x="3262427" y="1075922"/>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11</a:t>
          </a:r>
          <a:r>
            <a:rPr lang="zh-CN" altLang="en-US" sz="1600" b="1" kern="1200" spc="100" dirty="0">
              <a:solidFill>
                <a:srgbClr val="32497B"/>
              </a:solidFill>
              <a:latin typeface="微软雅黑"/>
              <a:ea typeface="微软雅黑"/>
              <a:cs typeface="+mn-cs"/>
            </a:rPr>
            <a:t>月</a:t>
          </a:r>
        </a:p>
        <a:p>
          <a:pPr marL="114300" lvl="1" indent="0" algn="l" defTabSz="622300">
            <a:lnSpc>
              <a:spcPct val="90000"/>
            </a:lnSpc>
            <a:spcBef>
              <a:spcPct val="0"/>
            </a:spcBef>
            <a:spcAft>
              <a:spcPct val="15000"/>
            </a:spcAft>
            <a:buChar char="•"/>
          </a:pP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系统集成与</a:t>
          </a:r>
          <a:r>
            <a:rPr lang="en-US" altLang="zh-CN" sz="1600" b="0" i="0" kern="1200" dirty="0">
              <a:solidFill>
                <a:prstClr val="black"/>
              </a:solidFill>
              <a:latin typeface="微软雅黑" panose="020B0503020204020204" charset="-122"/>
              <a:ea typeface="微软雅黑" panose="020B0503020204020204" charset="-122"/>
              <a:cs typeface="微软雅黑" panose="020B0503020204020204" charset="-122"/>
            </a:rPr>
            <a:t>AI</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性能优化、</a:t>
          </a: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sym typeface="+mn-ea"/>
            </a:rPr>
            <a:t>全面测试</a:t>
          </a:r>
          <a:endPar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endParaRPr>
        </a:p>
      </dsp:txBody>
      <dsp:txXfrm rot="-5400000">
        <a:off x="703288" y="3666941"/>
        <a:ext cx="5739453" cy="589294"/>
      </dsp:txXfrm>
    </dsp:sp>
    <dsp:sp modelId="{5ABAB2D0-FC51-4368-BA4C-AAA8B53A09E3}">
      <dsp:nvSpPr>
        <dsp:cNvPr id="0" name=""/>
        <dsp:cNvSpPr/>
      </dsp:nvSpPr>
      <dsp:spPr>
        <a:xfrm rot="5400000">
          <a:off x="-150704" y="4693518"/>
          <a:ext cx="1004696" cy="70328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6</a:t>
          </a:r>
          <a:endParaRPr lang="zh-CN" altLang="en-US" sz="1400" kern="1200" dirty="0"/>
        </a:p>
      </dsp:txBody>
      <dsp:txXfrm rot="-5400000">
        <a:off x="1" y="4894458"/>
        <a:ext cx="703287" cy="301409"/>
      </dsp:txXfrm>
    </dsp:sp>
    <dsp:sp modelId="{2BCBCD69-A821-472D-AD09-0EF55609F484}">
      <dsp:nvSpPr>
        <dsp:cNvPr id="0" name=""/>
        <dsp:cNvSpPr/>
      </dsp:nvSpPr>
      <dsp:spPr>
        <a:xfrm rot="5400000">
          <a:off x="3262427" y="1983674"/>
          <a:ext cx="653052" cy="577133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kern="1200" spc="100" dirty="0">
              <a:solidFill>
                <a:srgbClr val="32497B"/>
              </a:solidFill>
              <a:latin typeface="微软雅黑"/>
              <a:ea typeface="微软雅黑"/>
              <a:cs typeface="+mn-cs"/>
            </a:rPr>
            <a:t>2026</a:t>
          </a:r>
          <a:r>
            <a:rPr lang="zh-CN" altLang="en-US" sz="1600" b="1" kern="1200" spc="100" dirty="0">
              <a:solidFill>
                <a:srgbClr val="32497B"/>
              </a:solidFill>
              <a:latin typeface="微软雅黑"/>
              <a:ea typeface="微软雅黑"/>
              <a:cs typeface="+mn-cs"/>
            </a:rPr>
            <a:t>年</a:t>
          </a:r>
          <a:r>
            <a:rPr lang="en-US" altLang="zh-CN" sz="1600" b="1" kern="1200" spc="100" dirty="0">
              <a:solidFill>
                <a:srgbClr val="32497B"/>
              </a:solidFill>
              <a:latin typeface="微软雅黑"/>
              <a:ea typeface="微软雅黑"/>
              <a:cs typeface="+mn-cs"/>
            </a:rPr>
            <a:t>12</a:t>
          </a:r>
          <a:r>
            <a:rPr lang="zh-CN" altLang="en-US" sz="1600" b="1" kern="1200" spc="100" dirty="0">
              <a:solidFill>
                <a:srgbClr val="32497B"/>
              </a:solidFill>
              <a:latin typeface="微软雅黑"/>
              <a:ea typeface="微软雅黑"/>
              <a:cs typeface="+mn-cs"/>
            </a:rPr>
            <a:t>月</a:t>
          </a:r>
        </a:p>
        <a:p>
          <a:pPr marL="114300" lvl="1" indent="0" algn="l" defTabSz="622300">
            <a:lnSpc>
              <a:spcPct val="90000"/>
            </a:lnSpc>
            <a:spcBef>
              <a:spcPct val="0"/>
            </a:spcBef>
            <a:spcAft>
              <a:spcPct val="15000"/>
            </a:spcAft>
            <a:buChar char="•"/>
          </a:pPr>
          <a:r>
            <a:rPr lang="zh-CN" altLang="en-US" sz="1600" b="0" i="0" kern="1200" dirty="0">
              <a:solidFill>
                <a:prstClr val="black"/>
              </a:solidFill>
              <a:latin typeface="微软雅黑" panose="020B0503020204020204" charset="-122"/>
              <a:ea typeface="微软雅黑" panose="020B0503020204020204" charset="-122"/>
              <a:cs typeface="微软雅黑" panose="020B0503020204020204" charset="-122"/>
            </a:rPr>
            <a:t>项目总结、成果整理与结题报告</a:t>
          </a:r>
        </a:p>
      </dsp:txBody>
      <dsp:txXfrm rot="-5400000">
        <a:off x="703288" y="4574693"/>
        <a:ext cx="5739453" cy="58929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各位老师好，我是王诗涵，很荣幸能站在这里介绍我们的课题</a:t>
            </a:r>
            <a:r>
              <a:rPr lang="en-US" altLang="zh-CN" dirty="0"/>
              <a:t>——</a:t>
            </a:r>
            <a:r>
              <a:rPr lang="zh-CN" altLang="en-US" dirty="0"/>
              <a:t>基于</a:t>
            </a:r>
            <a:r>
              <a:rPr lang="en-US" altLang="zh-CN" dirty="0"/>
              <a:t>AI</a:t>
            </a:r>
            <a:r>
              <a:rPr lang="zh-CN" altLang="en-US" dirty="0"/>
              <a:t>光谱分析的果蔬农药残留智能检测系统的设计与开发</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339854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我将从这</a:t>
            </a:r>
            <a:r>
              <a:rPr lang="en-US" altLang="zh-CN" dirty="0"/>
              <a:t>4</a:t>
            </a:r>
            <a:r>
              <a:rPr lang="zh-CN" altLang="en-US" dirty="0"/>
              <a:t>个方面展开介绍</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593408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首先是我们课题背景和意义</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855935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每年我国因农药残留引发的食品安全问题众多，大家的健康意识也在提升，开发一个低成本快速检测农药残留的软件，可以帮助大家规避这类风险</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250312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F4B68-3CF2-646B-E778-1E655F7365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C757E-8911-7C77-5C3C-54913F1BC3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8EFA46-8F7C-7CD2-D7AB-1DD3BEC00ED7}"/>
              </a:ext>
            </a:extLst>
          </p:cNvPr>
          <p:cNvSpPr>
            <a:spLocks noGrp="1"/>
          </p:cNvSpPr>
          <p:nvPr>
            <p:ph type="body" idx="1"/>
          </p:nvPr>
        </p:nvSpPr>
        <p:spPr/>
        <p:txBody>
          <a:bodyPr/>
          <a:lstStyle/>
          <a:p>
            <a:r>
              <a:rPr lang="zh-CN" altLang="en-US" dirty="0"/>
              <a:t>市面上目前已有农药残留检测技术成本高、耗时长，大多在实验室等专业环境下进行，并未普及到民众中；</a:t>
            </a:r>
            <a:r>
              <a:rPr lang="en-US" altLang="zh-CN" dirty="0"/>
              <a:t>AI</a:t>
            </a:r>
            <a:r>
              <a:rPr lang="zh-CN" altLang="en-US" dirty="0"/>
              <a:t>也随发展更加强大，现有技术大多并未很好的结合</a:t>
            </a:r>
            <a:r>
              <a:rPr lang="en-US" altLang="zh-CN" dirty="0"/>
              <a:t>AI</a:t>
            </a:r>
            <a:r>
              <a:rPr lang="zh-CN" altLang="en-US" dirty="0"/>
              <a:t>，智能化程度低</a:t>
            </a:r>
          </a:p>
        </p:txBody>
      </p:sp>
      <p:sp>
        <p:nvSpPr>
          <p:cNvPr id="4" name="灯片编号占位符 3">
            <a:extLst>
              <a:ext uri="{FF2B5EF4-FFF2-40B4-BE49-F238E27FC236}">
                <a16:creationId xmlns:a16="http://schemas.microsoft.com/office/drawing/2014/main" id="{64B3B03C-E1E3-FD70-8219-0840FD95588B}"/>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427552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54D84-31AA-2F69-F806-F1518677F1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5C4F3F-7411-8E73-1B81-E8B6C24681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44446F-CFAE-36BF-F1A2-4B6313B3EE51}"/>
              </a:ext>
            </a:extLst>
          </p:cNvPr>
          <p:cNvSpPr>
            <a:spLocks noGrp="1"/>
          </p:cNvSpPr>
          <p:nvPr>
            <p:ph type="body" idx="1"/>
          </p:nvPr>
        </p:nvSpPr>
        <p:spPr/>
        <p:txBody>
          <a:bodyPr/>
          <a:lstStyle/>
          <a:p>
            <a:r>
              <a:rPr lang="zh-CN" altLang="en-US" dirty="0"/>
              <a:t>我们基于原有技术的局限性，想到将</a:t>
            </a:r>
            <a:r>
              <a:rPr lang="en-US" altLang="zh-CN" dirty="0"/>
              <a:t>AI</a:t>
            </a:r>
            <a:r>
              <a:rPr lang="zh-CN" altLang="en-US" dirty="0"/>
              <a:t>算法与手机</a:t>
            </a:r>
            <a:r>
              <a:rPr lang="en-US" altLang="zh-CN" dirty="0"/>
              <a:t>APP</a:t>
            </a:r>
            <a:r>
              <a:rPr lang="zh-CN" altLang="en-US" dirty="0"/>
              <a:t>结合，并与云端数据平台相联，这种智能检测的成本降低，速度加快，更适合于生活场景，没有环境限制，更便于民众使用；</a:t>
            </a:r>
            <a:r>
              <a:rPr lang="en-US" altLang="zh-CN" dirty="0"/>
              <a:t>AI</a:t>
            </a:r>
            <a:r>
              <a:rPr lang="zh-CN" altLang="en-US" dirty="0"/>
              <a:t>具有学习能力，可以实时更新数据库，还能生成更直观的图像</a:t>
            </a:r>
          </a:p>
        </p:txBody>
      </p:sp>
      <p:sp>
        <p:nvSpPr>
          <p:cNvPr id="4" name="灯片编号占位符 3">
            <a:extLst>
              <a:ext uri="{FF2B5EF4-FFF2-40B4-BE49-F238E27FC236}">
                <a16:creationId xmlns:a16="http://schemas.microsoft.com/office/drawing/2014/main" id="{745BCCC8-8EB7-6A86-73BE-D040BA40FF41}"/>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011585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然后是国内外研究现状</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359100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0456-1B2E-3982-A46F-316A049BF4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E544A4-BCA0-3372-660B-0B2A522896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B579A5-1079-8FA4-151B-ED1E7D69DCEF}"/>
              </a:ext>
            </a:extLst>
          </p:cNvPr>
          <p:cNvSpPr>
            <a:spLocks noGrp="1"/>
          </p:cNvSpPr>
          <p:nvPr>
            <p:ph type="body" idx="1"/>
          </p:nvPr>
        </p:nvSpPr>
        <p:spPr/>
        <p:txBody>
          <a:bodyPr/>
          <a:lstStyle/>
          <a:p>
            <a:r>
              <a:rPr lang="zh-CN" altLang="en-US" dirty="0"/>
              <a:t>国际上不同国家、团队开发了不同的算法对食物进行检测，其中也有对光谱技术的应用，但都限制于专业环境下的检测，民用化程度不足；国内的研究有的结合了光谱技术，有的结合人工智能，但没有出现将光谱技术、手机、</a:t>
            </a:r>
            <a:r>
              <a:rPr lang="en-US" altLang="zh-CN" dirty="0"/>
              <a:t>AI</a:t>
            </a:r>
            <a:r>
              <a:rPr lang="zh-CN" altLang="en-US" dirty="0"/>
              <a:t>结合在一起的系统，且普及程度低。不过有许多论文与我们课题相关性较高，能为我们提供强大的支持</a:t>
            </a:r>
            <a:endParaRPr lang="en-US" altLang="zh-CN" dirty="0"/>
          </a:p>
        </p:txBody>
      </p:sp>
      <p:sp>
        <p:nvSpPr>
          <p:cNvPr id="4" name="灯片编号占位符 3">
            <a:extLst>
              <a:ext uri="{FF2B5EF4-FFF2-40B4-BE49-F238E27FC236}">
                <a16:creationId xmlns:a16="http://schemas.microsoft.com/office/drawing/2014/main" id="{83BFB1B2-E160-C23A-69C9-FC67C4C6772D}"/>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616768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接下来将介绍我们的研究内容</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170308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3D969-5C8B-6A5A-C193-1B53DC641B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FD8290-8CC3-C3D2-1AFA-FB140590AA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CE4EED-36C2-CADA-A3A8-7303DFA7AF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我们的研究内容主要有四个方面，首先是融入多光谱附件用于采集表面数据，作为检测辅助设备；然后是</a:t>
            </a:r>
            <a:r>
              <a:rPr lang="en-US" altLang="zh-CN" dirty="0"/>
              <a:t>AI</a:t>
            </a:r>
            <a:r>
              <a:rPr lang="zh-CN" altLang="en-US" dirty="0"/>
              <a:t>算法，争对我们采集的数据编程，输入</a:t>
            </a:r>
            <a:r>
              <a:rPr lang="en-US" altLang="zh-CN" dirty="0"/>
              <a:t>AI</a:t>
            </a:r>
            <a:r>
              <a:rPr lang="zh-CN" altLang="en-US" dirty="0"/>
              <a:t>后进行训练；接下来是最为核心的部分，</a:t>
            </a:r>
            <a:r>
              <a:rPr lang="en-US" altLang="zh-CN" dirty="0"/>
              <a:t>APP</a:t>
            </a:r>
            <a:r>
              <a:rPr lang="zh-CN" altLang="en-US" dirty="0"/>
              <a:t>的开发，与此同时，搭建好云端数据平台，让</a:t>
            </a:r>
            <a:r>
              <a:rPr lang="en-US" altLang="zh-CN" dirty="0"/>
              <a:t>APP</a:t>
            </a:r>
            <a:r>
              <a:rPr lang="zh-CN" altLang="en-US" dirty="0"/>
              <a:t>与数据库相联，达到扫描后查找对比计算，输出结果的效果；最后，将前面几个部分结合，形成</a:t>
            </a:r>
            <a:r>
              <a:rPr lang="en-US" altLang="zh-CN" sz="1200" b="0" kern="1200" spc="100" dirty="0">
                <a:solidFill>
                  <a:srgbClr val="C00000"/>
                </a:solidFill>
                <a:latin typeface="+mj-ea"/>
                <a:ea typeface="+mn-ea"/>
                <a:cs typeface="+mn-cs"/>
                <a:sym typeface="+mn-ea"/>
              </a:rPr>
              <a:t>“</a:t>
            </a:r>
            <a:r>
              <a:rPr lang="zh-CN" altLang="en-US" sz="1200" b="0" kern="1200" spc="100" dirty="0">
                <a:solidFill>
                  <a:srgbClr val="C00000"/>
                </a:solidFill>
                <a:latin typeface="+mj-ea"/>
                <a:ea typeface="+mn-ea"/>
                <a:cs typeface="+mn-cs"/>
                <a:sym typeface="+mn-ea"/>
              </a:rPr>
              <a:t>硬件</a:t>
            </a:r>
            <a:r>
              <a:rPr lang="en-US" altLang="zh-CN" sz="1200" b="0" kern="1200" spc="100" dirty="0">
                <a:solidFill>
                  <a:srgbClr val="C00000"/>
                </a:solidFill>
                <a:latin typeface="+mj-ea"/>
                <a:ea typeface="+mn-ea"/>
                <a:cs typeface="+mn-cs"/>
                <a:sym typeface="+mn-ea"/>
              </a:rPr>
              <a:t>+APP+AI+</a:t>
            </a:r>
            <a:r>
              <a:rPr lang="zh-CN" altLang="en-US" sz="1200" b="0" kern="1200" spc="100" dirty="0">
                <a:solidFill>
                  <a:srgbClr val="C00000"/>
                </a:solidFill>
                <a:latin typeface="+mj-ea"/>
                <a:ea typeface="+mn-ea"/>
                <a:cs typeface="+mn-cs"/>
                <a:sym typeface="+mn-ea"/>
              </a:rPr>
              <a:t>云平台</a:t>
            </a:r>
            <a:r>
              <a:rPr lang="en-US" altLang="zh-CN" sz="1200" b="0" kern="1200" spc="100" dirty="0">
                <a:solidFill>
                  <a:srgbClr val="C00000"/>
                </a:solidFill>
                <a:latin typeface="+mj-ea"/>
                <a:ea typeface="+mn-ea"/>
                <a:cs typeface="+mn-cs"/>
                <a:sym typeface="+mn-ea"/>
              </a:rPr>
              <a:t>”</a:t>
            </a:r>
            <a:r>
              <a:rPr lang="zh-CN" altLang="en-US" sz="1100" b="0" kern="1200" spc="100" dirty="0">
                <a:solidFill>
                  <a:schemeClr val="tx1">
                    <a:lumMod val="95000"/>
                    <a:lumOff val="5000"/>
                  </a:schemeClr>
                </a:solidFill>
                <a:latin typeface="+mj-ea"/>
                <a:ea typeface="+mn-ea"/>
                <a:cs typeface="+mn-cs"/>
                <a:sym typeface="+mn-ea"/>
              </a:rPr>
              <a:t>的一体化智能检测系统</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764A2E7E-B6C6-52F4-B3C9-FAD1059438BE}"/>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117558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3176D-693B-B8D4-430F-B69ACEC041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7098E2-D611-6FCF-F7FB-F11E493AE3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919636-0E4B-9CB2-3DD1-26D838E4E874}"/>
              </a:ext>
            </a:extLst>
          </p:cNvPr>
          <p:cNvSpPr>
            <a:spLocks noGrp="1"/>
          </p:cNvSpPr>
          <p:nvPr>
            <p:ph type="body" idx="1"/>
          </p:nvPr>
        </p:nvSpPr>
        <p:spPr/>
        <p:txBody>
          <a:bodyPr/>
          <a:lstStyle/>
          <a:p>
            <a:r>
              <a:rPr lang="zh-CN" altLang="en-US" dirty="0"/>
              <a:t>这是我们的技术路线：首先查找文献确定研究方案，收集样本构建初始数据库。然后研究的主体部分，先将外接附件与多光谱成像技术结合，</a:t>
            </a:r>
            <a:r>
              <a:rPr lang="zh-CN" altLang="zh-CN" sz="1200" kern="1200" dirty="0">
                <a:solidFill>
                  <a:schemeClr val="tx1"/>
                </a:solidFill>
                <a:effectLst/>
                <a:latin typeface="+mn-lt"/>
                <a:ea typeface="+mn-ea"/>
                <a:cs typeface="+mn-cs"/>
              </a:rPr>
              <a:t>通过外接硬件光源采集果蔬表面光谱信号，完成检测数据的初步获取</a:t>
            </a:r>
            <a:r>
              <a:rPr lang="zh-CN" altLang="en-US" sz="1200" kern="1200" dirty="0">
                <a:solidFill>
                  <a:schemeClr val="tx1"/>
                </a:solidFill>
                <a:effectLst/>
                <a:latin typeface="+mn-lt"/>
                <a:ea typeface="+mn-ea"/>
                <a:cs typeface="+mn-cs"/>
              </a:rPr>
              <a:t>，并与初始样本结合完成数据模型搭建；然后，</a:t>
            </a:r>
            <a:r>
              <a:rPr lang="zh-CN" altLang="zh-CN" sz="1200" kern="1200" dirty="0">
                <a:solidFill>
                  <a:schemeClr val="tx1"/>
                </a:solidFill>
                <a:effectLst/>
                <a:latin typeface="+mn-lt"/>
                <a:ea typeface="+mn-ea"/>
                <a:cs typeface="+mn-cs"/>
              </a:rPr>
              <a:t>开发面向移动端的</a:t>
            </a:r>
            <a:r>
              <a:rPr lang="en-US" altLang="zh-CN" sz="1200" kern="1200" dirty="0">
                <a:solidFill>
                  <a:schemeClr val="tx1"/>
                </a:solidFill>
                <a:effectLst/>
                <a:latin typeface="+mn-lt"/>
                <a:ea typeface="+mn-ea"/>
                <a:cs typeface="+mn-cs"/>
              </a:rPr>
              <a:t>AI</a:t>
            </a:r>
            <a:r>
              <a:rPr lang="zh-CN" altLang="zh-CN" sz="1200" kern="1200" dirty="0">
                <a:solidFill>
                  <a:schemeClr val="tx1"/>
                </a:solidFill>
                <a:effectLst/>
                <a:latin typeface="+mn-lt"/>
                <a:ea typeface="+mn-ea"/>
                <a:cs typeface="+mn-cs"/>
              </a:rPr>
              <a:t>农药残留识别算法</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构建光谱特征分析模型，实现农药种类的快速定性及残留量的定量分析</a:t>
            </a:r>
            <a:r>
              <a:rPr lang="zh-CN" altLang="en-US" sz="1200" kern="1200" dirty="0">
                <a:solidFill>
                  <a:schemeClr val="tx1"/>
                </a:solidFill>
                <a:effectLst/>
                <a:latin typeface="+mn-lt"/>
                <a:ea typeface="+mn-ea"/>
                <a:cs typeface="+mn-cs"/>
              </a:rPr>
              <a:t>；之后</a:t>
            </a:r>
            <a:r>
              <a:rPr lang="zh-CN" altLang="zh-CN" sz="1200" kern="1200" dirty="0">
                <a:solidFill>
                  <a:schemeClr val="tx1"/>
                </a:solidFill>
                <a:effectLst/>
                <a:latin typeface="+mn-lt"/>
                <a:ea typeface="+mn-ea"/>
                <a:cs typeface="+mn-cs"/>
              </a:rPr>
              <a:t>开发</a:t>
            </a:r>
            <a:r>
              <a:rPr lang="en-US" altLang="zh-CN" sz="1200" kern="1200" dirty="0">
                <a:solidFill>
                  <a:schemeClr val="tx1"/>
                </a:solidFill>
                <a:effectLst/>
                <a:latin typeface="+mn-lt"/>
                <a:ea typeface="+mn-ea"/>
                <a:cs typeface="+mn-cs"/>
              </a:rPr>
              <a:t>APP</a:t>
            </a:r>
            <a:r>
              <a:rPr lang="zh-CN" altLang="zh-CN" sz="1200" kern="1200" dirty="0">
                <a:solidFill>
                  <a:schemeClr val="tx1"/>
                </a:solidFill>
                <a:effectLst/>
                <a:latin typeface="+mn-lt"/>
                <a:ea typeface="+mn-ea"/>
                <a:cs typeface="+mn-cs"/>
              </a:rPr>
              <a:t>，搭建智慧云端数据管理与分析平台</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整合检测数据、农药毒性数据库与安全标准，</a:t>
            </a:r>
            <a:r>
              <a:rPr lang="zh-CN" altLang="en-US" sz="1200" kern="1200" dirty="0">
                <a:solidFill>
                  <a:schemeClr val="tx1"/>
                </a:solidFill>
                <a:effectLst/>
                <a:latin typeface="+mn-lt"/>
                <a:ea typeface="+mn-ea"/>
                <a:cs typeface="+mn-cs"/>
              </a:rPr>
              <a:t>实现</a:t>
            </a:r>
            <a:r>
              <a:rPr lang="zh-CN" altLang="zh-CN" sz="1200" kern="1200" dirty="0">
                <a:solidFill>
                  <a:schemeClr val="tx1"/>
                </a:solidFill>
                <a:effectLst/>
                <a:latin typeface="+mn-lt"/>
                <a:ea typeface="+mn-ea"/>
                <a:cs typeface="+mn-cs"/>
              </a:rPr>
              <a:t>数据实时比对、模型在线更新与风险预警</a:t>
            </a:r>
            <a:r>
              <a:rPr lang="zh-CN" altLang="en-US" sz="1200" kern="1200" dirty="0">
                <a:solidFill>
                  <a:schemeClr val="tx1"/>
                </a:solidFill>
                <a:effectLst/>
                <a:latin typeface="+mn-lt"/>
                <a:ea typeface="+mn-ea"/>
                <a:cs typeface="+mn-cs"/>
              </a:rPr>
              <a:t>；最后完成</a:t>
            </a:r>
            <a:r>
              <a:rPr lang="zh-CN" altLang="zh-CN" sz="1200" kern="1200" dirty="0">
                <a:solidFill>
                  <a:schemeClr val="tx1"/>
                </a:solidFill>
                <a:effectLst/>
                <a:latin typeface="+mn-lt"/>
                <a:ea typeface="+mn-ea"/>
                <a:cs typeface="+mn-cs"/>
              </a:rPr>
              <a:t>系统集成</a:t>
            </a:r>
            <a:r>
              <a:rPr lang="zh-CN" altLang="en-US" sz="1200" kern="1200" dirty="0">
                <a:solidFill>
                  <a:schemeClr val="tx1"/>
                </a:solidFill>
                <a:effectLst/>
                <a:latin typeface="+mn-lt"/>
                <a:ea typeface="+mn-ea"/>
                <a:cs typeface="+mn-cs"/>
              </a:rPr>
              <a:t>。然后进入检验优化环节，</a:t>
            </a:r>
            <a:r>
              <a:rPr lang="zh-CN" altLang="zh-CN" sz="1200" kern="1200" dirty="0">
                <a:solidFill>
                  <a:schemeClr val="tx1"/>
                </a:solidFill>
                <a:effectLst/>
                <a:latin typeface="+mn-lt"/>
                <a:ea typeface="+mn-ea"/>
                <a:cs typeface="+mn-cs"/>
              </a:rPr>
              <a:t>实现“信号采集—</a:t>
            </a:r>
            <a:r>
              <a:rPr lang="en-US" altLang="zh-CN" sz="1200" kern="1200" dirty="0">
                <a:solidFill>
                  <a:schemeClr val="tx1"/>
                </a:solidFill>
                <a:effectLst/>
                <a:latin typeface="+mn-lt"/>
                <a:ea typeface="+mn-ea"/>
                <a:cs typeface="+mn-cs"/>
              </a:rPr>
              <a:t>APP</a:t>
            </a:r>
            <a:r>
              <a:rPr lang="zh-CN" altLang="zh-CN" sz="1200" kern="1200" dirty="0">
                <a:solidFill>
                  <a:schemeClr val="tx1"/>
                </a:solidFill>
                <a:effectLst/>
                <a:latin typeface="+mn-lt"/>
                <a:ea typeface="+mn-ea"/>
                <a:cs typeface="+mn-cs"/>
              </a:rPr>
              <a:t>分析—云端反馈”</a:t>
            </a:r>
            <a:r>
              <a:rPr lang="zh-CN" altLang="en-US" sz="1200" kern="1200" dirty="0">
                <a:solidFill>
                  <a:schemeClr val="tx1"/>
                </a:solidFill>
                <a:effectLst/>
                <a:latin typeface="+mn-lt"/>
                <a:ea typeface="+mn-ea"/>
                <a:cs typeface="+mn-cs"/>
              </a:rPr>
              <a:t>一体化</a:t>
            </a:r>
            <a:r>
              <a:rPr lang="zh-CN" altLang="zh-CN" sz="1200" kern="1200" dirty="0">
                <a:solidFill>
                  <a:schemeClr val="tx1"/>
                </a:solidFill>
                <a:effectLst/>
                <a:latin typeface="+mn-lt"/>
                <a:ea typeface="+mn-ea"/>
                <a:cs typeface="+mn-cs"/>
              </a:rPr>
              <a:t>，达成快速检测目标。</a:t>
            </a:r>
            <a:r>
              <a:rPr lang="en-US" altLang="zh-CN" dirty="0"/>
              <a:t>	</a:t>
            </a:r>
            <a:endParaRPr lang="zh-CN" altLang="en-US" dirty="0"/>
          </a:p>
        </p:txBody>
      </p:sp>
      <p:sp>
        <p:nvSpPr>
          <p:cNvPr id="4" name="灯片编号占位符 3">
            <a:extLst>
              <a:ext uri="{FF2B5EF4-FFF2-40B4-BE49-F238E27FC236}">
                <a16:creationId xmlns:a16="http://schemas.microsoft.com/office/drawing/2014/main" id="{A36ACE48-030B-BEC9-637C-93E7DD67D619}"/>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158774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C22E-224A-8E9B-D847-223453428A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A81E92-69CF-A9A5-5BF6-C064C78F40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2BD828-EB47-3E51-9387-184D1AF891CD}"/>
              </a:ext>
            </a:extLst>
          </p:cNvPr>
          <p:cNvSpPr>
            <a:spLocks noGrp="1"/>
          </p:cNvSpPr>
          <p:nvPr>
            <p:ph type="body" idx="1"/>
          </p:nvPr>
        </p:nvSpPr>
        <p:spPr/>
        <p:txBody>
          <a:bodyPr/>
          <a:lstStyle/>
          <a:p>
            <a:r>
              <a:rPr lang="zh-CN" altLang="en-US" dirty="0"/>
              <a:t>我们研究课题的创新点在于开创</a:t>
            </a:r>
            <a:r>
              <a:rPr lang="en-US" altLang="zh-CN" sz="1200" b="0" kern="1200" spc="100" dirty="0">
                <a:solidFill>
                  <a:srgbClr val="C00000"/>
                </a:solidFill>
                <a:latin typeface="+mj-ea"/>
                <a:ea typeface="+mn-ea"/>
                <a:cs typeface="+mn-cs"/>
                <a:sym typeface="+mn-ea"/>
              </a:rPr>
              <a:t>“</a:t>
            </a:r>
            <a:r>
              <a:rPr lang="zh-CN" altLang="en-US" sz="1200" b="0" kern="1200" spc="100" dirty="0">
                <a:solidFill>
                  <a:srgbClr val="C00000"/>
                </a:solidFill>
                <a:latin typeface="+mj-ea"/>
                <a:ea typeface="+mn-ea"/>
                <a:cs typeface="+mn-cs"/>
                <a:sym typeface="+mn-ea"/>
              </a:rPr>
              <a:t>硬件</a:t>
            </a:r>
            <a:r>
              <a:rPr lang="en-US" altLang="zh-CN" sz="1200" b="0" kern="1200" spc="100" dirty="0">
                <a:solidFill>
                  <a:srgbClr val="C00000"/>
                </a:solidFill>
                <a:latin typeface="+mj-ea"/>
                <a:ea typeface="+mn-ea"/>
                <a:cs typeface="+mn-cs"/>
                <a:sym typeface="+mn-ea"/>
              </a:rPr>
              <a:t>+APP+AI+</a:t>
            </a:r>
            <a:r>
              <a:rPr lang="zh-CN" altLang="en-US" sz="1200" b="0" kern="1200" spc="100" dirty="0">
                <a:solidFill>
                  <a:srgbClr val="C00000"/>
                </a:solidFill>
                <a:latin typeface="+mj-ea"/>
                <a:ea typeface="+mn-ea"/>
                <a:cs typeface="+mn-cs"/>
                <a:sym typeface="+mn-ea"/>
              </a:rPr>
              <a:t>云平台</a:t>
            </a:r>
            <a:r>
              <a:rPr lang="en-US" altLang="zh-CN" sz="1200" b="0" kern="1200" spc="100" dirty="0">
                <a:solidFill>
                  <a:srgbClr val="C00000"/>
                </a:solidFill>
                <a:latin typeface="+mj-ea"/>
                <a:ea typeface="+mn-ea"/>
                <a:cs typeface="+mn-cs"/>
                <a:sym typeface="+mn-ea"/>
              </a:rPr>
              <a:t>”</a:t>
            </a:r>
            <a:r>
              <a:rPr lang="zh-CN" altLang="en-US" sz="1100" b="0" kern="1200" spc="100" dirty="0">
                <a:solidFill>
                  <a:schemeClr val="tx1">
                    <a:lumMod val="95000"/>
                    <a:lumOff val="5000"/>
                  </a:schemeClr>
                </a:solidFill>
                <a:latin typeface="+mj-ea"/>
                <a:ea typeface="+mn-ea"/>
                <a:cs typeface="+mn-cs"/>
                <a:sym typeface="+mn-ea"/>
              </a:rPr>
              <a:t>的四合一模式，结合现代化发展产物人工智能进行检测，并且将检测功能放在手机上，实现便捷、快速、精确检测，而且成本不高可提高普及性，运用到生活中</a:t>
            </a:r>
            <a:endParaRPr lang="zh-CN" altLang="en-US" dirty="0"/>
          </a:p>
        </p:txBody>
      </p:sp>
      <p:sp>
        <p:nvSpPr>
          <p:cNvPr id="4" name="灯片编号占位符 3">
            <a:extLst>
              <a:ext uri="{FF2B5EF4-FFF2-40B4-BE49-F238E27FC236}">
                <a16:creationId xmlns:a16="http://schemas.microsoft.com/office/drawing/2014/main" id="{59460C36-CB48-582D-E234-27019B8B7D14}"/>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797782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A565-F0E0-8164-152A-B77FE88931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F936AB-03BC-C7EF-3351-7B4E3FAC89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E0AFED-A7A8-2662-BEFC-9985537B3F2B}"/>
              </a:ext>
            </a:extLst>
          </p:cNvPr>
          <p:cNvSpPr>
            <a:spLocks noGrp="1"/>
          </p:cNvSpPr>
          <p:nvPr>
            <p:ph type="body" idx="1"/>
          </p:nvPr>
        </p:nvSpPr>
        <p:spPr/>
        <p:txBody>
          <a:bodyPr/>
          <a:lstStyle/>
          <a:p>
            <a:r>
              <a:rPr lang="zh-CN" altLang="en-US" dirty="0"/>
              <a:t>我们预计结题时，做好</a:t>
            </a:r>
            <a:r>
              <a:rPr lang="en-US" altLang="zh-CN" dirty="0"/>
              <a:t>APP</a:t>
            </a:r>
            <a:r>
              <a:rPr lang="zh-CN" altLang="en-US" dirty="0"/>
              <a:t>，完成完整的四合一系统，并且撰写研究报告，做的好的话希望产出论文或者申请专利</a:t>
            </a:r>
          </a:p>
        </p:txBody>
      </p:sp>
      <p:sp>
        <p:nvSpPr>
          <p:cNvPr id="4" name="灯片编号占位符 3">
            <a:extLst>
              <a:ext uri="{FF2B5EF4-FFF2-40B4-BE49-F238E27FC236}">
                <a16:creationId xmlns:a16="http://schemas.microsoft.com/office/drawing/2014/main" id="{01E5C9BB-EC16-06B7-468D-C16C39846FF1}"/>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947280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对于此次课题，我们大体安排如下</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587233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2F603-9F3B-77F7-0A5E-4B7363F645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BB3ED2-1299-3759-1CAF-0BF4261313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400438-875A-EF13-98BD-3C99AB8C19C0}"/>
              </a:ext>
            </a:extLst>
          </p:cNvPr>
          <p:cNvSpPr>
            <a:spLocks noGrp="1"/>
          </p:cNvSpPr>
          <p:nvPr>
            <p:ph type="body" idx="1"/>
          </p:nvPr>
        </p:nvSpPr>
        <p:spPr/>
        <p:txBody>
          <a:bodyPr/>
          <a:lstStyle/>
          <a:p>
            <a:r>
              <a:rPr lang="zh-CN" altLang="en-US" dirty="0"/>
              <a:t>今年</a:t>
            </a:r>
            <a:r>
              <a:rPr lang="en-US" altLang="zh-CN" dirty="0"/>
              <a:t>12</a:t>
            </a:r>
            <a:r>
              <a:rPr lang="zh-CN" altLang="en-US" dirty="0"/>
              <a:t>月到明年</a:t>
            </a:r>
            <a:r>
              <a:rPr lang="en-US" altLang="zh-CN" dirty="0"/>
              <a:t>1</a:t>
            </a:r>
            <a:r>
              <a:rPr lang="zh-CN" altLang="en-US" dirty="0"/>
              <a:t>月，查找论文，设计方案，整理形成数据库；明年的二月到四月份，通过光谱技术采集食物表面信息，构建农药残留识别模型；五月到七月份，根据数据库构建数据模型，然后开发相应的</a:t>
            </a:r>
            <a:r>
              <a:rPr lang="en-US" altLang="zh-CN" dirty="0"/>
              <a:t>AI</a:t>
            </a:r>
            <a:r>
              <a:rPr lang="zh-CN" altLang="en-US" dirty="0"/>
              <a:t>算法并对</a:t>
            </a:r>
            <a:r>
              <a:rPr lang="en-US" altLang="zh-CN" dirty="0"/>
              <a:t>AI</a:t>
            </a:r>
            <a:r>
              <a:rPr lang="zh-CN" altLang="en-US" dirty="0"/>
              <a:t>进行训练；八月到十月，进行</a:t>
            </a:r>
            <a:r>
              <a:rPr lang="en-US" altLang="zh-CN" dirty="0"/>
              <a:t>APP</a:t>
            </a:r>
            <a:r>
              <a:rPr lang="zh-CN" altLang="en-US" dirty="0"/>
              <a:t>开发和云端数据库的搭建，完成四合一的检测系统；最后十一月份对系统进行测试优化；十二月份进行项目成果总结以及结题报告</a:t>
            </a:r>
          </a:p>
        </p:txBody>
      </p:sp>
      <p:sp>
        <p:nvSpPr>
          <p:cNvPr id="4" name="灯片编号占位符 3">
            <a:extLst>
              <a:ext uri="{FF2B5EF4-FFF2-40B4-BE49-F238E27FC236}">
                <a16:creationId xmlns:a16="http://schemas.microsoft.com/office/drawing/2014/main" id="{6FAD5572-E254-16FA-35BE-46F46F019BF6}"/>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14328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4C65C-5EA5-331B-8744-A051603622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D77C47-CEDC-0E0F-8837-EF80F22747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FC97B5-8D7B-6E23-8FFB-72B77708DD67}"/>
              </a:ext>
            </a:extLst>
          </p:cNvPr>
          <p:cNvSpPr>
            <a:spLocks noGrp="1"/>
          </p:cNvSpPr>
          <p:nvPr>
            <p:ph type="body" idx="1"/>
          </p:nvPr>
        </p:nvSpPr>
        <p:spPr/>
        <p:txBody>
          <a:bodyPr/>
          <a:lstStyle/>
          <a:p>
            <a:r>
              <a:rPr lang="zh-CN" altLang="en-US" dirty="0"/>
              <a:t>我的介绍完毕，感谢各位老师，请您批评指正</a:t>
            </a:r>
          </a:p>
        </p:txBody>
      </p:sp>
      <p:sp>
        <p:nvSpPr>
          <p:cNvPr id="4" name="灯片编号占位符 3">
            <a:extLst>
              <a:ext uri="{FF2B5EF4-FFF2-40B4-BE49-F238E27FC236}">
                <a16:creationId xmlns:a16="http://schemas.microsoft.com/office/drawing/2014/main" id="{307CAD04-75FC-F804-75F7-A2E80A6E2E50}"/>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371604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D380A2-10FB-4E5B-939A-9C8891966AFC}" type="slidenum">
              <a:rPr lang="zh-CN" altLang="en-US" smtClean="0"/>
              <a:t>‹#›</a:t>
            </a:fld>
            <a:endParaRPr lang="zh-CN" altLang="en-US"/>
          </a:p>
        </p:txBody>
      </p:sp>
      <p:cxnSp>
        <p:nvCxnSpPr>
          <p:cNvPr id="47" name="直接连接符 46"/>
          <p:cNvCxnSpPr/>
          <p:nvPr userDrawn="1"/>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userDrawn="1"/>
        </p:nvSpPr>
        <p:spPr>
          <a:xfrm>
            <a:off x="0" y="0"/>
            <a:ext cx="1631406" cy="6858000"/>
          </a:xfrm>
          <a:prstGeom prst="rect">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p:cNvGrpSpPr/>
          <p:nvPr userDrawn="1"/>
        </p:nvGrpSpPr>
        <p:grpSpPr>
          <a:xfrm>
            <a:off x="561435" y="5953785"/>
            <a:ext cx="508537" cy="351105"/>
            <a:chOff x="1494889" y="5953785"/>
            <a:chExt cx="508537" cy="351105"/>
          </a:xfrm>
          <a:solidFill>
            <a:schemeClr val="accent1"/>
          </a:solidFill>
        </p:grpSpPr>
        <p:sp>
          <p:nvSpPr>
            <p:cNvPr id="85" name="矩形: 圆角 84"/>
            <p:cNvSpPr/>
            <p:nvPr/>
          </p:nvSpPr>
          <p:spPr>
            <a:xfrm>
              <a:off x="1494889" y="6230601"/>
              <a:ext cx="508537" cy="74289"/>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1581555" y="6092193"/>
              <a:ext cx="335203" cy="74289"/>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p:cNvSpPr/>
            <p:nvPr/>
          </p:nvSpPr>
          <p:spPr>
            <a:xfrm>
              <a:off x="1659665" y="5953785"/>
              <a:ext cx="178984" cy="74289"/>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4" name="图形 93"/>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600" y="628650"/>
            <a:ext cx="919480" cy="9201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380A2-10FB-4E5B-939A-9C8891966AFC}"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AC550A-ECD8-4A0F-9C2E-825EDB27FDD0}" type="datetimeFigureOut">
              <a:rPr lang="zh-CN" altLang="en-US" smtClean="0"/>
              <a:t>2025/12/13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D380A2-10FB-4E5B-939A-9C8891966AF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6.jpg"/><Relationship Id="rId4" Type="http://schemas.openxmlformats.org/officeDocument/2006/relationships/tags" Target="../tags/tag4.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9.xml"/><Relationship Id="rId7"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7.jpg"/><Relationship Id="rId4" Type="http://schemas.openxmlformats.org/officeDocument/2006/relationships/tags" Target="../tags/tag10.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image" Target="../media/image11.jpe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4.png"/><Relationship Id="rId2" Type="http://schemas.openxmlformats.org/officeDocument/2006/relationships/tags" Target="../tags/tag14.xml"/><Relationship Id="rId16" Type="http://schemas.openxmlformats.org/officeDocument/2006/relationships/image" Target="../media/image14.jp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notesSlide" Target="../notesSlides/notesSlide12.xml"/><Relationship Id="rId5" Type="http://schemas.openxmlformats.org/officeDocument/2006/relationships/tags" Target="../tags/tag17.xml"/><Relationship Id="rId15" Type="http://schemas.openxmlformats.org/officeDocument/2006/relationships/image" Target="../media/image13.png"/><Relationship Id="rId10" Type="http://schemas.openxmlformats.org/officeDocument/2006/relationships/slideLayout" Target="../slideLayouts/slideLayout7.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8600" y="220132"/>
            <a:ext cx="11734800" cy="6417735"/>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0" y="2100283"/>
            <a:ext cx="12192000" cy="2766950"/>
          </a:xfrm>
          <a:prstGeom prst="rect">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1477828" y="2760176"/>
            <a:ext cx="9369874" cy="1569660"/>
          </a:xfrm>
          <a:prstGeom prst="rect">
            <a:avLst/>
          </a:prstGeom>
          <a:noFill/>
        </p:spPr>
        <p:txBody>
          <a:bodyPr wrap="none" rtlCol="0">
            <a:spAutoFit/>
          </a:bodyPr>
          <a:lstStyle/>
          <a:p>
            <a:pPr algn="ctr"/>
            <a:r>
              <a:rPr lang="zh-CN" altLang="en-US" sz="4800" b="1" spc="200" dirty="0">
                <a:solidFill>
                  <a:schemeClr val="bg1"/>
                </a:solidFill>
                <a:latin typeface="+mj-ea"/>
                <a:ea typeface="+mj-ea"/>
              </a:rPr>
              <a:t>基于</a:t>
            </a:r>
            <a:r>
              <a:rPr lang="en-US" altLang="zh-CN" sz="4800" b="1" spc="200" dirty="0">
                <a:solidFill>
                  <a:schemeClr val="bg1"/>
                </a:solidFill>
                <a:latin typeface="+mj-ea"/>
                <a:ea typeface="+mj-ea"/>
              </a:rPr>
              <a:t>AI</a:t>
            </a:r>
            <a:r>
              <a:rPr lang="zh-CN" altLang="en-US" sz="4800" b="1" spc="200" dirty="0">
                <a:solidFill>
                  <a:schemeClr val="bg1"/>
                </a:solidFill>
                <a:latin typeface="+mj-ea"/>
                <a:ea typeface="+mj-ea"/>
              </a:rPr>
              <a:t>光谱分析的果蔬农药</a:t>
            </a:r>
            <a:endParaRPr lang="en-US" altLang="zh-CN" sz="4800" b="1" spc="200" dirty="0">
              <a:solidFill>
                <a:schemeClr val="bg1"/>
              </a:solidFill>
              <a:latin typeface="+mj-ea"/>
              <a:ea typeface="+mj-ea"/>
            </a:endParaRPr>
          </a:p>
          <a:p>
            <a:pPr algn="ctr"/>
            <a:r>
              <a:rPr lang="zh-CN" altLang="en-US" sz="4800" b="1" spc="200" dirty="0">
                <a:solidFill>
                  <a:schemeClr val="bg1"/>
                </a:solidFill>
                <a:latin typeface="+mj-ea"/>
                <a:ea typeface="+mj-ea"/>
              </a:rPr>
              <a:t>残留智能检测系统的设计与开发</a:t>
            </a:r>
          </a:p>
        </p:txBody>
      </p:sp>
      <p:sp>
        <p:nvSpPr>
          <p:cNvPr id="88" name="文本框 87"/>
          <p:cNvSpPr txBox="1"/>
          <p:nvPr/>
        </p:nvSpPr>
        <p:spPr>
          <a:xfrm>
            <a:off x="4593024" y="4337924"/>
            <a:ext cx="3005951" cy="400110"/>
          </a:xfrm>
          <a:prstGeom prst="rect">
            <a:avLst/>
          </a:prstGeom>
          <a:noFill/>
        </p:spPr>
        <p:txBody>
          <a:bodyPr wrap="none" rtlCol="0">
            <a:spAutoFit/>
          </a:bodyPr>
          <a:lstStyle/>
          <a:p>
            <a:pPr algn="ctr"/>
            <a:r>
              <a:rPr lang="zh-CN" altLang="en-US" sz="2000" dirty="0">
                <a:solidFill>
                  <a:schemeClr val="bg1">
                    <a:alpha val="96000"/>
                  </a:schemeClr>
                </a:solidFill>
                <a:latin typeface="+mn-ea"/>
              </a:rPr>
              <a:t>西北农林科技大学理学院</a:t>
            </a:r>
          </a:p>
        </p:txBody>
      </p:sp>
      <p:sp>
        <p:nvSpPr>
          <p:cNvPr id="89" name="文本框 88"/>
          <p:cNvSpPr txBox="1"/>
          <p:nvPr/>
        </p:nvSpPr>
        <p:spPr>
          <a:xfrm>
            <a:off x="5666948" y="2299801"/>
            <a:ext cx="896620" cy="460375"/>
          </a:xfrm>
          <a:prstGeom prst="rect">
            <a:avLst/>
          </a:prstGeom>
          <a:noFill/>
        </p:spPr>
        <p:txBody>
          <a:bodyPr wrap="none" rtlCol="0">
            <a:spAutoFit/>
          </a:bodyPr>
          <a:lstStyle/>
          <a:p>
            <a:pPr algn="ctr"/>
            <a:r>
              <a:rPr lang="en-US" altLang="zh-CN" sz="2400" dirty="0">
                <a:solidFill>
                  <a:schemeClr val="bg1">
                    <a:alpha val="96000"/>
                  </a:schemeClr>
                </a:solidFill>
                <a:latin typeface="+mn-ea"/>
              </a:rPr>
              <a:t>2025</a:t>
            </a:r>
            <a:endParaRPr lang="zh-CN" altLang="en-US" sz="2400" dirty="0">
              <a:solidFill>
                <a:schemeClr val="bg1">
                  <a:alpha val="96000"/>
                </a:schemeClr>
              </a:solidFill>
              <a:latin typeface="+mn-ea"/>
            </a:endParaRPr>
          </a:p>
        </p:txBody>
      </p:sp>
      <p:cxnSp>
        <p:nvCxnSpPr>
          <p:cNvPr id="90" name="直接连接符 89"/>
          <p:cNvCxnSpPr/>
          <p:nvPr/>
        </p:nvCxnSpPr>
        <p:spPr>
          <a:xfrm>
            <a:off x="4909920" y="2531187"/>
            <a:ext cx="650875" cy="0"/>
          </a:xfrm>
          <a:prstGeom prst="line">
            <a:avLst/>
          </a:prstGeom>
          <a:ln w="12700">
            <a:solidFill>
              <a:schemeClr val="bg1">
                <a:alpha val="96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34760" y="2529988"/>
            <a:ext cx="650875" cy="0"/>
          </a:xfrm>
          <a:prstGeom prst="line">
            <a:avLst/>
          </a:prstGeom>
          <a:ln w="12700">
            <a:solidFill>
              <a:schemeClr val="bg1">
                <a:alpha val="96000"/>
              </a:schemeClr>
            </a:solidFill>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1011697" y="5452139"/>
            <a:ext cx="2031325" cy="369332"/>
          </a:xfrm>
          <a:prstGeom prst="rect">
            <a:avLst/>
          </a:prstGeom>
          <a:noFill/>
        </p:spPr>
        <p:txBody>
          <a:bodyPr wrap="none" rtlCol="0">
            <a:spAutoFit/>
          </a:bodyPr>
          <a:lstStyle/>
          <a:p>
            <a:r>
              <a:rPr lang="zh-CN" altLang="en-US" dirty="0">
                <a:latin typeface="+mn-ea"/>
              </a:rPr>
              <a:t>指导老师：王元元</a:t>
            </a:r>
          </a:p>
        </p:txBody>
      </p:sp>
      <p:sp>
        <p:nvSpPr>
          <p:cNvPr id="97" name="文本框 96"/>
          <p:cNvSpPr txBox="1"/>
          <p:nvPr/>
        </p:nvSpPr>
        <p:spPr>
          <a:xfrm>
            <a:off x="3826118" y="5452139"/>
            <a:ext cx="3554178" cy="369332"/>
          </a:xfrm>
          <a:prstGeom prst="rect">
            <a:avLst/>
          </a:prstGeom>
          <a:noFill/>
        </p:spPr>
        <p:txBody>
          <a:bodyPr wrap="none" rtlCol="0">
            <a:spAutoFit/>
          </a:bodyPr>
          <a:lstStyle/>
          <a:p>
            <a:r>
              <a:rPr lang="zh-CN" altLang="en-US" dirty="0">
                <a:latin typeface="+mn-ea"/>
              </a:rPr>
              <a:t>小组成员：王诗涵 韦金霞 雷瑀璐</a:t>
            </a:r>
          </a:p>
        </p:txBody>
      </p:sp>
      <p:sp>
        <p:nvSpPr>
          <p:cNvPr id="9" name="文本框 8">
            <a:extLst>
              <a:ext uri="{FF2B5EF4-FFF2-40B4-BE49-F238E27FC236}">
                <a16:creationId xmlns:a16="http://schemas.microsoft.com/office/drawing/2014/main" id="{D0FDA7DA-447A-AA50-A667-ED076DCAEA9D}"/>
              </a:ext>
            </a:extLst>
          </p:cNvPr>
          <p:cNvSpPr txBox="1"/>
          <p:nvPr/>
        </p:nvSpPr>
        <p:spPr>
          <a:xfrm>
            <a:off x="8119923" y="5452139"/>
            <a:ext cx="3108543" cy="369332"/>
          </a:xfrm>
          <a:prstGeom prst="rect">
            <a:avLst/>
          </a:prstGeom>
          <a:noFill/>
        </p:spPr>
        <p:txBody>
          <a:bodyPr wrap="none" rtlCol="0">
            <a:spAutoFit/>
          </a:bodyPr>
          <a:lstStyle/>
          <a:p>
            <a:r>
              <a:rPr lang="zh-CN" altLang="en-US" dirty="0">
                <a:latin typeface="+mn-ea"/>
              </a:rPr>
              <a:t>汇报时间：</a:t>
            </a:r>
            <a:r>
              <a:rPr lang="en-US" altLang="zh-CN" dirty="0">
                <a:latin typeface="+mn-ea"/>
              </a:rPr>
              <a:t>2025</a:t>
            </a:r>
            <a:r>
              <a:rPr lang="zh-CN" altLang="en-US" dirty="0">
                <a:latin typeface="+mn-ea"/>
              </a:rPr>
              <a:t>年</a:t>
            </a:r>
            <a:r>
              <a:rPr lang="en-US" altLang="zh-CN" dirty="0">
                <a:latin typeface="+mn-ea"/>
              </a:rPr>
              <a:t>12</a:t>
            </a:r>
            <a:r>
              <a:rPr lang="zh-CN" altLang="en-US" dirty="0">
                <a:latin typeface="+mn-ea"/>
              </a:rPr>
              <a:t>月</a:t>
            </a:r>
            <a:r>
              <a:rPr lang="en-US" altLang="zh-CN" dirty="0">
                <a:latin typeface="+mn-ea"/>
              </a:rPr>
              <a:t>14</a:t>
            </a:r>
            <a:r>
              <a:rPr lang="zh-CN" altLang="en-US" dirty="0">
                <a:latin typeface="+mn-ea"/>
              </a:rPr>
              <a:t>日</a:t>
            </a:r>
          </a:p>
        </p:txBody>
      </p:sp>
      <p:pic>
        <p:nvPicPr>
          <p:cNvPr id="10" name="图片 9">
            <a:extLst>
              <a:ext uri="{FF2B5EF4-FFF2-40B4-BE49-F238E27FC236}">
                <a16:creationId xmlns:a16="http://schemas.microsoft.com/office/drawing/2014/main" id="{ACF2A445-7DD0-D474-65DC-F0415FC4F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9488" y="-92787"/>
            <a:ext cx="4673022" cy="239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0" y="2127250"/>
            <a:ext cx="4775200" cy="2603500"/>
          </a:xfrm>
          <a:custGeom>
            <a:avLst/>
            <a:gdLst>
              <a:gd name="connsiteX0" fmla="*/ 0 w 4775200"/>
              <a:gd name="connsiteY0" fmla="*/ 0 h 2603500"/>
              <a:gd name="connsiteX1" fmla="*/ 3473450 w 4775200"/>
              <a:gd name="connsiteY1" fmla="*/ 0 h 2603500"/>
              <a:gd name="connsiteX2" fmla="*/ 4775200 w 4775200"/>
              <a:gd name="connsiteY2" fmla="*/ 1301750 h 2603500"/>
              <a:gd name="connsiteX3" fmla="*/ 3473450 w 4775200"/>
              <a:gd name="connsiteY3" fmla="*/ 2603500 h 2603500"/>
              <a:gd name="connsiteX4" fmla="*/ 0 w 4775200"/>
              <a:gd name="connsiteY4" fmla="*/ 2603500 h 260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5200" h="2603500">
                <a:moveTo>
                  <a:pt x="0" y="0"/>
                </a:moveTo>
                <a:lnTo>
                  <a:pt x="3473450" y="0"/>
                </a:lnTo>
                <a:cubicBezTo>
                  <a:pt x="4192387" y="0"/>
                  <a:pt x="4775200" y="582813"/>
                  <a:pt x="4775200" y="1301750"/>
                </a:cubicBezTo>
                <a:cubicBezTo>
                  <a:pt x="4775200" y="2020687"/>
                  <a:pt x="4192387" y="2603500"/>
                  <a:pt x="3473450" y="2603500"/>
                </a:cubicBezTo>
                <a:lnTo>
                  <a:pt x="0" y="26035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p:cNvSpPr txBox="1"/>
          <p:nvPr/>
        </p:nvSpPr>
        <p:spPr>
          <a:xfrm>
            <a:off x="1402336" y="2672804"/>
            <a:ext cx="1903085" cy="1107996"/>
          </a:xfrm>
          <a:prstGeom prst="rect">
            <a:avLst/>
          </a:prstGeom>
          <a:noFill/>
        </p:spPr>
        <p:txBody>
          <a:bodyPr wrap="none" rtlCol="0">
            <a:spAutoFit/>
          </a:bodyPr>
          <a:lstStyle/>
          <a:p>
            <a:pPr algn="ctr"/>
            <a:r>
              <a:rPr lang="zh-CN" altLang="en-US" sz="6600" b="1" spc="100" dirty="0">
                <a:solidFill>
                  <a:schemeClr val="bg1"/>
                </a:solidFill>
                <a:latin typeface="+mj-ea"/>
                <a:ea typeface="+mj-ea"/>
              </a:rPr>
              <a:t>目录</a:t>
            </a:r>
          </a:p>
        </p:txBody>
      </p:sp>
      <p:sp>
        <p:nvSpPr>
          <p:cNvPr id="5" name="文本框 4"/>
          <p:cNvSpPr txBox="1"/>
          <p:nvPr/>
        </p:nvSpPr>
        <p:spPr>
          <a:xfrm>
            <a:off x="1415161" y="3668828"/>
            <a:ext cx="1877437" cy="523220"/>
          </a:xfrm>
          <a:prstGeom prst="rect">
            <a:avLst/>
          </a:prstGeom>
          <a:noFill/>
        </p:spPr>
        <p:txBody>
          <a:bodyPr wrap="none" rtlCol="0">
            <a:spAutoFit/>
          </a:bodyPr>
          <a:lstStyle/>
          <a:p>
            <a:pPr algn="ctr"/>
            <a:r>
              <a:rPr lang="en-US" altLang="zh-CN" sz="2800" b="1" spc="300" dirty="0">
                <a:solidFill>
                  <a:schemeClr val="bg1">
                    <a:alpha val="80000"/>
                  </a:schemeClr>
                </a:solidFill>
                <a:latin typeface="微软雅黑 Light" panose="020B0502040204020203" pitchFamily="34" charset="-122"/>
                <a:ea typeface="微软雅黑 Light" panose="020B0502040204020203" pitchFamily="34" charset="-122"/>
              </a:rPr>
              <a:t>contents</a:t>
            </a:r>
            <a:endParaRPr lang="zh-CN" altLang="en-US" sz="2800" b="1" spc="300" dirty="0">
              <a:solidFill>
                <a:schemeClr val="bg1">
                  <a:alpha val="80000"/>
                </a:schemeClr>
              </a:solidFill>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5778882" y="577877"/>
            <a:ext cx="867545" cy="707886"/>
          </a:xfrm>
          <a:prstGeom prst="rect">
            <a:avLst/>
          </a:prstGeom>
          <a:noFill/>
        </p:spPr>
        <p:txBody>
          <a:bodyPr wrap="square" rtlCol="0">
            <a:spAutoFit/>
          </a:bodyPr>
          <a:lstStyle/>
          <a:p>
            <a:r>
              <a:rPr lang="en-US" altLang="zh-CN" sz="4000" b="1" spc="200" dirty="0">
                <a:solidFill>
                  <a:schemeClr val="accent1"/>
                </a:solidFill>
                <a:latin typeface="+mj-ea"/>
                <a:ea typeface="+mj-ea"/>
              </a:rPr>
              <a:t>01</a:t>
            </a:r>
            <a:endParaRPr lang="zh-CN" altLang="en-US" sz="4000" b="1" spc="200" dirty="0">
              <a:solidFill>
                <a:schemeClr val="accent1"/>
              </a:solidFill>
              <a:latin typeface="+mj-ea"/>
              <a:ea typeface="+mj-ea"/>
            </a:endParaRPr>
          </a:p>
        </p:txBody>
      </p:sp>
      <p:sp>
        <p:nvSpPr>
          <p:cNvPr id="7" name="文本框 6"/>
          <p:cNvSpPr txBox="1"/>
          <p:nvPr/>
        </p:nvSpPr>
        <p:spPr>
          <a:xfrm>
            <a:off x="6646427" y="577877"/>
            <a:ext cx="2492990" cy="646331"/>
          </a:xfrm>
          <a:prstGeom prst="rect">
            <a:avLst/>
          </a:prstGeom>
        </p:spPr>
        <p:txBody>
          <a:bodyPr wrap="square" rtlCol="0">
            <a:spAutoFit/>
          </a:bodyPr>
          <a:lstStyle/>
          <a:p>
            <a:r>
              <a:rPr lang="zh-CN" altLang="en-US" sz="3600" b="1" dirty="0">
                <a:latin typeface="+mj-ea"/>
                <a:ea typeface="+mj-ea"/>
              </a:rPr>
              <a:t>背景与意义</a:t>
            </a:r>
          </a:p>
        </p:txBody>
      </p:sp>
      <p:sp>
        <p:nvSpPr>
          <p:cNvPr id="8" name="文本框 7"/>
          <p:cNvSpPr txBox="1"/>
          <p:nvPr/>
        </p:nvSpPr>
        <p:spPr>
          <a:xfrm>
            <a:off x="5778882" y="1946676"/>
            <a:ext cx="867545" cy="707886"/>
          </a:xfrm>
          <a:prstGeom prst="rect">
            <a:avLst/>
          </a:prstGeom>
          <a:noFill/>
        </p:spPr>
        <p:txBody>
          <a:bodyPr wrap="square" rtlCol="0">
            <a:spAutoFit/>
          </a:bodyPr>
          <a:lstStyle/>
          <a:p>
            <a:r>
              <a:rPr lang="en-US" altLang="zh-CN" sz="4000" b="1" spc="200" dirty="0">
                <a:solidFill>
                  <a:schemeClr val="accent1"/>
                </a:solidFill>
                <a:latin typeface="+mj-ea"/>
                <a:ea typeface="+mj-ea"/>
              </a:rPr>
              <a:t>02</a:t>
            </a:r>
            <a:endParaRPr lang="zh-CN" altLang="en-US" sz="4000" b="1" spc="200" dirty="0">
              <a:solidFill>
                <a:schemeClr val="accent1"/>
              </a:solidFill>
              <a:latin typeface="+mj-ea"/>
              <a:ea typeface="+mj-ea"/>
            </a:endParaRPr>
          </a:p>
        </p:txBody>
      </p:sp>
      <p:sp>
        <p:nvSpPr>
          <p:cNvPr id="9" name="文本框 8"/>
          <p:cNvSpPr txBox="1"/>
          <p:nvPr/>
        </p:nvSpPr>
        <p:spPr>
          <a:xfrm>
            <a:off x="6646427" y="1942729"/>
            <a:ext cx="3416320" cy="646331"/>
          </a:xfrm>
          <a:prstGeom prst="rect">
            <a:avLst/>
          </a:prstGeom>
        </p:spPr>
        <p:txBody>
          <a:bodyPr wrap="square" rtlCol="0">
            <a:spAutoFit/>
          </a:bodyPr>
          <a:lstStyle/>
          <a:p>
            <a:r>
              <a:rPr lang="zh-CN" altLang="en-US" sz="3600" b="1" dirty="0">
                <a:latin typeface="+mj-ea"/>
                <a:ea typeface="+mj-ea"/>
              </a:rPr>
              <a:t>国内外研究现状</a:t>
            </a:r>
          </a:p>
        </p:txBody>
      </p:sp>
      <p:sp>
        <p:nvSpPr>
          <p:cNvPr id="10" name="文本框 9"/>
          <p:cNvSpPr txBox="1"/>
          <p:nvPr/>
        </p:nvSpPr>
        <p:spPr>
          <a:xfrm>
            <a:off x="5772632" y="3531081"/>
            <a:ext cx="867545" cy="707886"/>
          </a:xfrm>
          <a:prstGeom prst="rect">
            <a:avLst/>
          </a:prstGeom>
          <a:noFill/>
        </p:spPr>
        <p:txBody>
          <a:bodyPr wrap="square" rtlCol="0">
            <a:spAutoFit/>
          </a:bodyPr>
          <a:lstStyle/>
          <a:p>
            <a:r>
              <a:rPr lang="en-US" altLang="zh-CN" sz="4000" b="1" spc="200" dirty="0">
                <a:solidFill>
                  <a:schemeClr val="accent1"/>
                </a:solidFill>
                <a:latin typeface="+mj-ea"/>
                <a:ea typeface="+mj-ea"/>
              </a:rPr>
              <a:t>03</a:t>
            </a:r>
            <a:endParaRPr lang="zh-CN" altLang="en-US" sz="4000" b="1" spc="200" dirty="0">
              <a:solidFill>
                <a:schemeClr val="accent1"/>
              </a:solidFill>
              <a:latin typeface="+mj-ea"/>
              <a:ea typeface="+mj-ea"/>
            </a:endParaRPr>
          </a:p>
        </p:txBody>
      </p:sp>
      <p:sp>
        <p:nvSpPr>
          <p:cNvPr id="11" name="文本框 10"/>
          <p:cNvSpPr txBox="1"/>
          <p:nvPr/>
        </p:nvSpPr>
        <p:spPr>
          <a:xfrm>
            <a:off x="6646427" y="3529074"/>
            <a:ext cx="2031325" cy="646331"/>
          </a:xfrm>
          <a:prstGeom prst="rect">
            <a:avLst/>
          </a:prstGeom>
        </p:spPr>
        <p:txBody>
          <a:bodyPr wrap="square" rtlCol="0">
            <a:spAutoFit/>
          </a:bodyPr>
          <a:lstStyle/>
          <a:p>
            <a:r>
              <a:rPr lang="zh-CN" altLang="en-US" sz="3600" b="1" dirty="0">
                <a:latin typeface="+mj-ea"/>
                <a:ea typeface="+mj-ea"/>
              </a:rPr>
              <a:t>研究内容</a:t>
            </a:r>
          </a:p>
        </p:txBody>
      </p:sp>
      <p:grpSp>
        <p:nvGrpSpPr>
          <p:cNvPr id="14" name="组合 13"/>
          <p:cNvGrpSpPr/>
          <p:nvPr/>
        </p:nvGrpSpPr>
        <p:grpSpPr>
          <a:xfrm flipH="1">
            <a:off x="11088622" y="389631"/>
            <a:ext cx="596597" cy="262959"/>
            <a:chOff x="352728" y="249931"/>
            <a:chExt cx="723900" cy="319070"/>
          </a:xfrm>
        </p:grpSpPr>
        <p:sp>
          <p:nvSpPr>
            <p:cNvPr id="15" name="矩形: 圆角 14"/>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flipV="1">
            <a:off x="518832" y="6208607"/>
            <a:ext cx="596597" cy="262959"/>
            <a:chOff x="352728" y="249931"/>
            <a:chExt cx="723900" cy="319070"/>
          </a:xfrm>
        </p:grpSpPr>
        <p:sp>
          <p:nvSpPr>
            <p:cNvPr id="19" name="矩形: 圆角 18"/>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7" name="组合 96"/>
          <p:cNvGrpSpPr/>
          <p:nvPr/>
        </p:nvGrpSpPr>
        <p:grpSpPr>
          <a:xfrm>
            <a:off x="11043763" y="5932117"/>
            <a:ext cx="630808" cy="552979"/>
            <a:chOff x="1143409" y="5756683"/>
            <a:chExt cx="226164" cy="198260"/>
          </a:xfrm>
          <a:solidFill>
            <a:schemeClr val="accent1"/>
          </a:solidFill>
        </p:grpSpPr>
        <p:sp>
          <p:nvSpPr>
            <p:cNvPr id="98" name="任意多边形: 形状 97"/>
            <p:cNvSpPr/>
            <p:nvPr/>
          </p:nvSpPr>
          <p:spPr>
            <a:xfrm>
              <a:off x="1143409" y="5756683"/>
              <a:ext cx="226164" cy="130990"/>
            </a:xfrm>
            <a:custGeom>
              <a:avLst/>
              <a:gdLst>
                <a:gd name="connsiteX0" fmla="*/ 109937 w 226164"/>
                <a:gd name="connsiteY0" fmla="*/ 130990 h 130990"/>
                <a:gd name="connsiteX1" fmla="*/ 105971 w 226164"/>
                <a:gd name="connsiteY1" fmla="*/ 129954 h 130990"/>
                <a:gd name="connsiteX2" fmla="*/ 4118 w 226164"/>
                <a:gd name="connsiteY2" fmla="*/ 72586 h 130990"/>
                <a:gd name="connsiteX3" fmla="*/ 0 w 226164"/>
                <a:gd name="connsiteY3" fmla="*/ 65538 h 130990"/>
                <a:gd name="connsiteX4" fmla="*/ 4118 w 226164"/>
                <a:gd name="connsiteY4" fmla="*/ 58490 h 130990"/>
                <a:gd name="connsiteX5" fmla="*/ 105971 w 226164"/>
                <a:gd name="connsiteY5" fmla="*/ 1046 h 130990"/>
                <a:gd name="connsiteX6" fmla="*/ 113727 w 226164"/>
                <a:gd name="connsiteY6" fmla="*/ 945 h 130990"/>
                <a:gd name="connsiteX7" fmla="*/ 221870 w 226164"/>
                <a:gd name="connsiteY7" fmla="*/ 58439 h 130990"/>
                <a:gd name="connsiteX8" fmla="*/ 226165 w 226164"/>
                <a:gd name="connsiteY8" fmla="*/ 65588 h 130990"/>
                <a:gd name="connsiteX9" fmla="*/ 221870 w 226164"/>
                <a:gd name="connsiteY9" fmla="*/ 72737 h 130990"/>
                <a:gd name="connsiteX10" fmla="*/ 113701 w 226164"/>
                <a:gd name="connsiteY10" fmla="*/ 130081 h 130990"/>
                <a:gd name="connsiteX11" fmla="*/ 109937 w 226164"/>
                <a:gd name="connsiteY11" fmla="*/ 130990 h 130990"/>
                <a:gd name="connsiteX12" fmla="*/ 24529 w 226164"/>
                <a:gd name="connsiteY12" fmla="*/ 65538 h 130990"/>
                <a:gd name="connsiteX13" fmla="*/ 110038 w 226164"/>
                <a:gd name="connsiteY13" fmla="*/ 113711 h 130990"/>
                <a:gd name="connsiteX14" fmla="*/ 200828 w 226164"/>
                <a:gd name="connsiteY14" fmla="*/ 65563 h 130990"/>
                <a:gd name="connsiteX15" fmla="*/ 110038 w 226164"/>
                <a:gd name="connsiteY15" fmla="*/ 17339 h 130990"/>
                <a:gd name="connsiteX16" fmla="*/ 24529 w 226164"/>
                <a:gd name="connsiteY16" fmla="*/ 65538 h 13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6164" h="130990">
                  <a:moveTo>
                    <a:pt x="109937" y="130990"/>
                  </a:moveTo>
                  <a:cubicBezTo>
                    <a:pt x="108573" y="130990"/>
                    <a:pt x="107209" y="130636"/>
                    <a:pt x="105971" y="129954"/>
                  </a:cubicBezTo>
                  <a:lnTo>
                    <a:pt x="4118" y="72586"/>
                  </a:lnTo>
                  <a:cubicBezTo>
                    <a:pt x="1566" y="71146"/>
                    <a:pt x="0" y="68468"/>
                    <a:pt x="0" y="65538"/>
                  </a:cubicBezTo>
                  <a:cubicBezTo>
                    <a:pt x="0" y="62608"/>
                    <a:pt x="1566" y="59930"/>
                    <a:pt x="4118" y="58490"/>
                  </a:cubicBezTo>
                  <a:lnTo>
                    <a:pt x="105971" y="1046"/>
                  </a:lnTo>
                  <a:cubicBezTo>
                    <a:pt x="108371" y="-318"/>
                    <a:pt x="111301" y="-344"/>
                    <a:pt x="113727" y="945"/>
                  </a:cubicBezTo>
                  <a:lnTo>
                    <a:pt x="221870" y="58439"/>
                  </a:lnTo>
                  <a:cubicBezTo>
                    <a:pt x="224523" y="59854"/>
                    <a:pt x="226165" y="62582"/>
                    <a:pt x="226165" y="65588"/>
                  </a:cubicBezTo>
                  <a:cubicBezTo>
                    <a:pt x="226165" y="68595"/>
                    <a:pt x="224523" y="71323"/>
                    <a:pt x="221870" y="72737"/>
                  </a:cubicBezTo>
                  <a:lnTo>
                    <a:pt x="113701" y="130081"/>
                  </a:lnTo>
                  <a:cubicBezTo>
                    <a:pt x="112539" y="130687"/>
                    <a:pt x="111226" y="130990"/>
                    <a:pt x="109937" y="130990"/>
                  </a:cubicBezTo>
                  <a:close/>
                  <a:moveTo>
                    <a:pt x="24529" y="65538"/>
                  </a:moveTo>
                  <a:lnTo>
                    <a:pt x="110038" y="113711"/>
                  </a:lnTo>
                  <a:lnTo>
                    <a:pt x="200828" y="65563"/>
                  </a:lnTo>
                  <a:lnTo>
                    <a:pt x="110038" y="17339"/>
                  </a:lnTo>
                  <a:lnTo>
                    <a:pt x="24529" y="65538"/>
                  </a:lnTo>
                  <a:close/>
                </a:path>
              </a:pathLst>
            </a:custGeom>
            <a:grpFill/>
            <a:ln w="251" cap="flat">
              <a:noFill/>
              <a:prstDash val="solid"/>
              <a:miter/>
            </a:ln>
          </p:spPr>
          <p:txBody>
            <a:bodyPr rtlCol="0" anchor="ctr"/>
            <a:lstStyle/>
            <a:p>
              <a:endParaRPr lang="zh-CN" altLang="en-US"/>
            </a:p>
          </p:txBody>
        </p:sp>
        <p:sp>
          <p:nvSpPr>
            <p:cNvPr id="99" name="任意多边形: 形状 98"/>
            <p:cNvSpPr/>
            <p:nvPr/>
          </p:nvSpPr>
          <p:spPr>
            <a:xfrm>
              <a:off x="1177840" y="5839828"/>
              <a:ext cx="157302" cy="87858"/>
            </a:xfrm>
            <a:custGeom>
              <a:avLst/>
              <a:gdLst>
                <a:gd name="connsiteX0" fmla="*/ 8084 w 157302"/>
                <a:gd name="connsiteY0" fmla="*/ 87859 h 87858"/>
                <a:gd name="connsiteX1" fmla="*/ 0 w 157302"/>
                <a:gd name="connsiteY1" fmla="*/ 79775 h 87858"/>
                <a:gd name="connsiteX2" fmla="*/ 0 w 157302"/>
                <a:gd name="connsiteY2" fmla="*/ 8084 h 87858"/>
                <a:gd name="connsiteX3" fmla="*/ 8084 w 157302"/>
                <a:gd name="connsiteY3" fmla="*/ 0 h 87858"/>
                <a:gd name="connsiteX4" fmla="*/ 16167 w 157302"/>
                <a:gd name="connsiteY4" fmla="*/ 8084 h 87858"/>
                <a:gd name="connsiteX5" fmla="*/ 16167 w 157302"/>
                <a:gd name="connsiteY5" fmla="*/ 79775 h 87858"/>
                <a:gd name="connsiteX6" fmla="*/ 8084 w 157302"/>
                <a:gd name="connsiteY6" fmla="*/ 87859 h 87858"/>
                <a:gd name="connsiteX7" fmla="*/ 149219 w 157302"/>
                <a:gd name="connsiteY7" fmla="*/ 87859 h 87858"/>
                <a:gd name="connsiteX8" fmla="*/ 141135 w 157302"/>
                <a:gd name="connsiteY8" fmla="*/ 79775 h 87858"/>
                <a:gd name="connsiteX9" fmla="*/ 141135 w 157302"/>
                <a:gd name="connsiteY9" fmla="*/ 8084 h 87858"/>
                <a:gd name="connsiteX10" fmla="*/ 149219 w 157302"/>
                <a:gd name="connsiteY10" fmla="*/ 0 h 87858"/>
                <a:gd name="connsiteX11" fmla="*/ 157302 w 157302"/>
                <a:gd name="connsiteY11" fmla="*/ 8084 h 87858"/>
                <a:gd name="connsiteX12" fmla="*/ 157302 w 157302"/>
                <a:gd name="connsiteY12" fmla="*/ 79775 h 87858"/>
                <a:gd name="connsiteX13" fmla="*/ 149219 w 157302"/>
                <a:gd name="connsiteY13" fmla="*/ 87859 h 8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302" h="87858">
                  <a:moveTo>
                    <a:pt x="8084" y="87859"/>
                  </a:moveTo>
                  <a:cubicBezTo>
                    <a:pt x="3612" y="87859"/>
                    <a:pt x="0" y="84247"/>
                    <a:pt x="0" y="79775"/>
                  </a:cubicBezTo>
                  <a:lnTo>
                    <a:pt x="0" y="8084"/>
                  </a:lnTo>
                  <a:cubicBezTo>
                    <a:pt x="0" y="3612"/>
                    <a:pt x="3612" y="0"/>
                    <a:pt x="8084" y="0"/>
                  </a:cubicBezTo>
                  <a:cubicBezTo>
                    <a:pt x="12555" y="0"/>
                    <a:pt x="16167" y="3612"/>
                    <a:pt x="16167" y="8084"/>
                  </a:cubicBezTo>
                  <a:lnTo>
                    <a:pt x="16167" y="79775"/>
                  </a:lnTo>
                  <a:cubicBezTo>
                    <a:pt x="16167" y="84247"/>
                    <a:pt x="12555" y="87859"/>
                    <a:pt x="8084" y="87859"/>
                  </a:cubicBezTo>
                  <a:close/>
                  <a:moveTo>
                    <a:pt x="149219" y="87859"/>
                  </a:moveTo>
                  <a:cubicBezTo>
                    <a:pt x="144747" y="87859"/>
                    <a:pt x="141135" y="84247"/>
                    <a:pt x="141135" y="79775"/>
                  </a:cubicBezTo>
                  <a:lnTo>
                    <a:pt x="141135" y="8084"/>
                  </a:lnTo>
                  <a:cubicBezTo>
                    <a:pt x="141135" y="3612"/>
                    <a:pt x="144747" y="0"/>
                    <a:pt x="149219" y="0"/>
                  </a:cubicBezTo>
                  <a:cubicBezTo>
                    <a:pt x="153690" y="0"/>
                    <a:pt x="157302" y="3612"/>
                    <a:pt x="157302" y="8084"/>
                  </a:cubicBezTo>
                  <a:lnTo>
                    <a:pt x="157302" y="79775"/>
                  </a:lnTo>
                  <a:cubicBezTo>
                    <a:pt x="157302" y="84247"/>
                    <a:pt x="153665" y="87859"/>
                    <a:pt x="149219" y="87859"/>
                  </a:cubicBezTo>
                  <a:close/>
                </a:path>
              </a:pathLst>
            </a:custGeom>
            <a:grpFill/>
            <a:ln w="251" cap="flat">
              <a:noFill/>
              <a:prstDash val="solid"/>
              <a:miter/>
            </a:ln>
          </p:spPr>
          <p:txBody>
            <a:bodyPr rtlCol="0" anchor="ctr"/>
            <a:lstStyle/>
            <a:p>
              <a:endParaRPr lang="zh-CN" altLang="en-US"/>
            </a:p>
          </p:txBody>
        </p:sp>
        <p:sp>
          <p:nvSpPr>
            <p:cNvPr id="100" name="任意多边形: 形状 99"/>
            <p:cNvSpPr/>
            <p:nvPr/>
          </p:nvSpPr>
          <p:spPr>
            <a:xfrm>
              <a:off x="1177840" y="5848391"/>
              <a:ext cx="189459" cy="106552"/>
            </a:xfrm>
            <a:custGeom>
              <a:avLst/>
              <a:gdLst>
                <a:gd name="connsiteX0" fmla="*/ 78639 w 189459"/>
                <a:gd name="connsiteY0" fmla="*/ 106552 h 106552"/>
                <a:gd name="connsiteX1" fmla="*/ 26044 w 189459"/>
                <a:gd name="connsiteY1" fmla="*/ 98747 h 106552"/>
                <a:gd name="connsiteX2" fmla="*/ 8437 w 189459"/>
                <a:gd name="connsiteY2" fmla="*/ 89349 h 106552"/>
                <a:gd name="connsiteX3" fmla="*/ 0 w 189459"/>
                <a:gd name="connsiteY3" fmla="*/ 73409 h 106552"/>
                <a:gd name="connsiteX4" fmla="*/ 8084 w 189459"/>
                <a:gd name="connsiteY4" fmla="*/ 65326 h 106552"/>
                <a:gd name="connsiteX5" fmla="*/ 16167 w 189459"/>
                <a:gd name="connsiteY5" fmla="*/ 73409 h 106552"/>
                <a:gd name="connsiteX6" fmla="*/ 31450 w 189459"/>
                <a:gd name="connsiteY6" fmla="*/ 83539 h 106552"/>
                <a:gd name="connsiteX7" fmla="*/ 78639 w 189459"/>
                <a:gd name="connsiteY7" fmla="*/ 90410 h 106552"/>
                <a:gd name="connsiteX8" fmla="*/ 125827 w 189459"/>
                <a:gd name="connsiteY8" fmla="*/ 83539 h 106552"/>
                <a:gd name="connsiteX9" fmla="*/ 141110 w 189459"/>
                <a:gd name="connsiteY9" fmla="*/ 73409 h 106552"/>
                <a:gd name="connsiteX10" fmla="*/ 149193 w 189459"/>
                <a:gd name="connsiteY10" fmla="*/ 65326 h 106552"/>
                <a:gd name="connsiteX11" fmla="*/ 157277 w 189459"/>
                <a:gd name="connsiteY11" fmla="*/ 73409 h 106552"/>
                <a:gd name="connsiteX12" fmla="*/ 148840 w 189459"/>
                <a:gd name="connsiteY12" fmla="*/ 89349 h 106552"/>
                <a:gd name="connsiteX13" fmla="*/ 131233 w 189459"/>
                <a:gd name="connsiteY13" fmla="*/ 98747 h 106552"/>
                <a:gd name="connsiteX14" fmla="*/ 78639 w 189459"/>
                <a:gd name="connsiteY14" fmla="*/ 106552 h 106552"/>
                <a:gd name="connsiteX15" fmla="*/ 181376 w 189459"/>
                <a:gd name="connsiteY15" fmla="*/ 90183 h 106552"/>
                <a:gd name="connsiteX16" fmla="*/ 173293 w 189459"/>
                <a:gd name="connsiteY16" fmla="*/ 82099 h 106552"/>
                <a:gd name="connsiteX17" fmla="*/ 173293 w 189459"/>
                <a:gd name="connsiteY17" fmla="*/ 8084 h 106552"/>
                <a:gd name="connsiteX18" fmla="*/ 181376 w 189459"/>
                <a:gd name="connsiteY18" fmla="*/ 0 h 106552"/>
                <a:gd name="connsiteX19" fmla="*/ 189460 w 189459"/>
                <a:gd name="connsiteY19" fmla="*/ 8084 h 106552"/>
                <a:gd name="connsiteX20" fmla="*/ 189460 w 189459"/>
                <a:gd name="connsiteY20" fmla="*/ 82099 h 106552"/>
                <a:gd name="connsiteX21" fmla="*/ 181376 w 189459"/>
                <a:gd name="connsiteY21" fmla="*/ 90183 h 10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459" h="106552">
                  <a:moveTo>
                    <a:pt x="78639" y="106552"/>
                  </a:moveTo>
                  <a:cubicBezTo>
                    <a:pt x="58884" y="106552"/>
                    <a:pt x="40216" y="103774"/>
                    <a:pt x="26044" y="98747"/>
                  </a:cubicBezTo>
                  <a:cubicBezTo>
                    <a:pt x="18643" y="96119"/>
                    <a:pt x="12732" y="92962"/>
                    <a:pt x="8437" y="89349"/>
                  </a:cubicBezTo>
                  <a:cubicBezTo>
                    <a:pt x="1465" y="83489"/>
                    <a:pt x="0" y="77451"/>
                    <a:pt x="0" y="73409"/>
                  </a:cubicBezTo>
                  <a:cubicBezTo>
                    <a:pt x="0" y="68938"/>
                    <a:pt x="3612" y="65326"/>
                    <a:pt x="8084" y="65326"/>
                  </a:cubicBezTo>
                  <a:cubicBezTo>
                    <a:pt x="12555" y="65326"/>
                    <a:pt x="16167" y="68938"/>
                    <a:pt x="16167" y="73409"/>
                  </a:cubicBezTo>
                  <a:cubicBezTo>
                    <a:pt x="16167" y="74925"/>
                    <a:pt x="19906" y="79422"/>
                    <a:pt x="31450" y="83539"/>
                  </a:cubicBezTo>
                  <a:cubicBezTo>
                    <a:pt x="43929" y="87985"/>
                    <a:pt x="60678" y="90410"/>
                    <a:pt x="78639" y="90410"/>
                  </a:cubicBezTo>
                  <a:cubicBezTo>
                    <a:pt x="96599" y="90410"/>
                    <a:pt x="113348" y="87960"/>
                    <a:pt x="125827" y="83539"/>
                  </a:cubicBezTo>
                  <a:cubicBezTo>
                    <a:pt x="137371" y="79422"/>
                    <a:pt x="141110" y="74950"/>
                    <a:pt x="141110" y="73409"/>
                  </a:cubicBezTo>
                  <a:cubicBezTo>
                    <a:pt x="141110" y="68938"/>
                    <a:pt x="144722" y="65326"/>
                    <a:pt x="149193" y="65326"/>
                  </a:cubicBezTo>
                  <a:cubicBezTo>
                    <a:pt x="153665" y="65326"/>
                    <a:pt x="157277" y="68938"/>
                    <a:pt x="157277" y="73409"/>
                  </a:cubicBezTo>
                  <a:cubicBezTo>
                    <a:pt x="157277" y="77451"/>
                    <a:pt x="155812" y="83514"/>
                    <a:pt x="148840" y="89349"/>
                  </a:cubicBezTo>
                  <a:cubicBezTo>
                    <a:pt x="144545" y="92962"/>
                    <a:pt x="138609" y="96119"/>
                    <a:pt x="131233" y="98747"/>
                  </a:cubicBezTo>
                  <a:cubicBezTo>
                    <a:pt x="117086" y="103774"/>
                    <a:pt x="98393" y="106552"/>
                    <a:pt x="78639" y="106552"/>
                  </a:cubicBezTo>
                  <a:close/>
                  <a:moveTo>
                    <a:pt x="181376" y="90183"/>
                  </a:moveTo>
                  <a:cubicBezTo>
                    <a:pt x="176905" y="90183"/>
                    <a:pt x="173293" y="86571"/>
                    <a:pt x="173293" y="82099"/>
                  </a:cubicBezTo>
                  <a:lnTo>
                    <a:pt x="173293" y="8084"/>
                  </a:lnTo>
                  <a:cubicBezTo>
                    <a:pt x="173293" y="3612"/>
                    <a:pt x="176905" y="0"/>
                    <a:pt x="181376" y="0"/>
                  </a:cubicBezTo>
                  <a:cubicBezTo>
                    <a:pt x="185848" y="0"/>
                    <a:pt x="189460" y="3612"/>
                    <a:pt x="189460" y="8084"/>
                  </a:cubicBezTo>
                  <a:lnTo>
                    <a:pt x="189460" y="82099"/>
                  </a:lnTo>
                  <a:cubicBezTo>
                    <a:pt x="189460" y="86545"/>
                    <a:pt x="185848" y="90183"/>
                    <a:pt x="181376" y="90183"/>
                  </a:cubicBezTo>
                  <a:close/>
                </a:path>
              </a:pathLst>
            </a:custGeom>
            <a:grpFill/>
            <a:ln w="251" cap="flat">
              <a:noFill/>
              <a:prstDash val="solid"/>
              <a:miter/>
            </a:ln>
          </p:spPr>
          <p:txBody>
            <a:bodyPr rtlCol="0" anchor="ctr"/>
            <a:lstStyle/>
            <a:p>
              <a:endParaRPr lang="zh-CN" altLang="en-US"/>
            </a:p>
          </p:txBody>
        </p:sp>
      </p:grpSp>
      <p:sp>
        <p:nvSpPr>
          <p:cNvPr id="33" name="文本框 32">
            <a:extLst>
              <a:ext uri="{FF2B5EF4-FFF2-40B4-BE49-F238E27FC236}">
                <a16:creationId xmlns:a16="http://schemas.microsoft.com/office/drawing/2014/main" id="{167ABED1-CEFB-67D8-8D85-00493DDF017D}"/>
              </a:ext>
            </a:extLst>
          </p:cNvPr>
          <p:cNvSpPr txBox="1"/>
          <p:nvPr/>
        </p:nvSpPr>
        <p:spPr>
          <a:xfrm>
            <a:off x="5832665" y="5113479"/>
            <a:ext cx="867545" cy="707886"/>
          </a:xfrm>
          <a:prstGeom prst="rect">
            <a:avLst/>
          </a:prstGeom>
          <a:noFill/>
        </p:spPr>
        <p:txBody>
          <a:bodyPr wrap="square" rtlCol="0">
            <a:spAutoFit/>
          </a:bodyPr>
          <a:lstStyle/>
          <a:p>
            <a:r>
              <a:rPr lang="en-US" altLang="zh-CN" sz="4000" b="1" spc="200" dirty="0">
                <a:solidFill>
                  <a:schemeClr val="accent1"/>
                </a:solidFill>
                <a:latin typeface="+mj-ea"/>
                <a:ea typeface="+mj-ea"/>
              </a:rPr>
              <a:t>04</a:t>
            </a:r>
            <a:endParaRPr lang="zh-CN" altLang="en-US" sz="4000" b="1" spc="200" dirty="0">
              <a:solidFill>
                <a:schemeClr val="accent1"/>
              </a:solidFill>
              <a:latin typeface="+mj-ea"/>
              <a:ea typeface="+mj-ea"/>
            </a:endParaRPr>
          </a:p>
        </p:txBody>
      </p:sp>
      <p:sp>
        <p:nvSpPr>
          <p:cNvPr id="34" name="文本框 33">
            <a:extLst>
              <a:ext uri="{FF2B5EF4-FFF2-40B4-BE49-F238E27FC236}">
                <a16:creationId xmlns:a16="http://schemas.microsoft.com/office/drawing/2014/main" id="{1AF1E0E3-2FC8-672C-7039-760663B6E7CC}"/>
              </a:ext>
            </a:extLst>
          </p:cNvPr>
          <p:cNvSpPr txBox="1"/>
          <p:nvPr/>
        </p:nvSpPr>
        <p:spPr>
          <a:xfrm>
            <a:off x="6700210" y="5113479"/>
            <a:ext cx="2121011" cy="646331"/>
          </a:xfrm>
          <a:prstGeom prst="rect">
            <a:avLst/>
          </a:prstGeom>
          <a:noFill/>
        </p:spPr>
        <p:txBody>
          <a:bodyPr wrap="square">
            <a:spAutoFit/>
          </a:bodyPr>
          <a:lstStyle/>
          <a:p>
            <a:r>
              <a:rPr lang="zh-CN" altLang="en-US" sz="3600" b="1" dirty="0">
                <a:latin typeface="+mj-ea"/>
                <a:ea typeface="+mj-ea"/>
              </a:rPr>
              <a:t>进度安排</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werpoint template design by DAJU_PPT正版来源小红书大橘PPT微信DAJU_PPT请勿抄袭搬运！盗版必究！"/>
          <p:cNvSpPr/>
          <p:nvPr/>
        </p:nvSpPr>
        <p:spPr>
          <a:xfrm>
            <a:off x="351099" y="312517"/>
            <a:ext cx="11489802" cy="6302416"/>
          </a:xfrm>
          <a:prstGeom prst="rect">
            <a:avLst/>
          </a:prstGeom>
          <a:noFill/>
          <a:ln w="190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owerpoint template design by DAJU_PPT正版来源小红书大橘PPT微信DAJU_PPT请勿抄袭搬运！盗版必究！"/>
          <p:cNvSpPr txBox="1"/>
          <p:nvPr/>
        </p:nvSpPr>
        <p:spPr>
          <a:xfrm>
            <a:off x="2407920" y="6249873"/>
            <a:ext cx="7376160" cy="307777"/>
          </a:xfrm>
          <a:prstGeom prst="rect">
            <a:avLst/>
          </a:prstGeom>
          <a:noFill/>
        </p:spPr>
        <p:txBody>
          <a:bodyPr wrap="square">
            <a:spAutoFit/>
          </a:bodyPr>
          <a:lstStyle/>
          <a:p>
            <a:pPr algn="ctr"/>
            <a:r>
              <a:rPr lang="en-US" altLang="zh-CN" sz="1400" dirty="0">
                <a:solidFill>
                  <a:schemeClr val="bg1"/>
                </a:solidFill>
                <a:cs typeface="+mn-ea"/>
                <a:sym typeface="+mn-lt"/>
              </a:rPr>
              <a:t>——</a:t>
            </a:r>
            <a:r>
              <a:rPr lang="en-US" altLang="zh-CN" sz="1400" spc="300" dirty="0">
                <a:solidFill>
                  <a:schemeClr val="bg1"/>
                </a:solidFill>
                <a:cs typeface="+mn-ea"/>
                <a:sym typeface="+mn-lt"/>
              </a:rPr>
              <a:t> </a:t>
            </a:r>
            <a:r>
              <a:rPr lang="zh-CN" altLang="en-US" sz="1400" spc="300" dirty="0">
                <a:solidFill>
                  <a:schemeClr val="bg1"/>
                </a:solidFill>
                <a:cs typeface="+mn-ea"/>
                <a:sym typeface="+mn-lt"/>
              </a:rPr>
              <a:t>艰苦朴素 </a:t>
            </a:r>
            <a:r>
              <a:rPr lang="en-US" altLang="zh-CN" sz="1400" spc="300" dirty="0">
                <a:solidFill>
                  <a:schemeClr val="bg1"/>
                </a:solidFill>
                <a:cs typeface="+mn-ea"/>
                <a:sym typeface="+mn-lt"/>
              </a:rPr>
              <a:t>· </a:t>
            </a:r>
            <a:r>
              <a:rPr lang="zh-CN" altLang="en-US" sz="1400" spc="300" dirty="0">
                <a:solidFill>
                  <a:schemeClr val="bg1"/>
                </a:solidFill>
                <a:cs typeface="+mn-ea"/>
                <a:sym typeface="+mn-lt"/>
              </a:rPr>
              <a:t>实事求是 </a:t>
            </a:r>
            <a:r>
              <a:rPr lang="en-US" altLang="zh-CN" sz="1400" spc="300" dirty="0">
                <a:solidFill>
                  <a:schemeClr val="bg1"/>
                </a:solidFill>
                <a:cs typeface="+mn-ea"/>
                <a:sym typeface="+mn-lt"/>
              </a:rPr>
              <a:t>· </a:t>
            </a:r>
            <a:r>
              <a:rPr lang="zh-CN" altLang="en-US" sz="1400" spc="300" dirty="0">
                <a:solidFill>
                  <a:schemeClr val="bg1"/>
                </a:solidFill>
                <a:cs typeface="+mn-ea"/>
                <a:sym typeface="+mn-lt"/>
              </a:rPr>
              <a:t>严格要求 </a:t>
            </a:r>
            <a:r>
              <a:rPr lang="en-US" altLang="zh-CN" sz="1400" spc="300" dirty="0">
                <a:solidFill>
                  <a:schemeClr val="bg1"/>
                </a:solidFill>
                <a:cs typeface="+mn-ea"/>
                <a:sym typeface="+mn-lt"/>
              </a:rPr>
              <a:t>· </a:t>
            </a:r>
            <a:r>
              <a:rPr lang="zh-CN" altLang="en-US" sz="1400" spc="300" dirty="0">
                <a:solidFill>
                  <a:schemeClr val="bg1"/>
                </a:solidFill>
                <a:cs typeface="+mn-ea"/>
                <a:sym typeface="+mn-lt"/>
              </a:rPr>
              <a:t>勇于探索 </a:t>
            </a:r>
            <a:r>
              <a:rPr lang="en-US" altLang="zh-CN" sz="1400" spc="-150" dirty="0">
                <a:solidFill>
                  <a:schemeClr val="bg1"/>
                </a:solidFill>
                <a:cs typeface="+mn-ea"/>
                <a:sym typeface="+mn-lt"/>
              </a:rPr>
              <a:t>——</a:t>
            </a:r>
          </a:p>
        </p:txBody>
      </p:sp>
      <p:sp>
        <p:nvSpPr>
          <p:cNvPr id="79" name="powerpoint template design by DAJU_PPT正版来源小红书大橘PPT微信DAJU_PPT请勿抄袭搬运！盗版必究！"/>
          <p:cNvSpPr/>
          <p:nvPr/>
        </p:nvSpPr>
        <p:spPr>
          <a:xfrm>
            <a:off x="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5421777" y="1112345"/>
            <a:ext cx="1348447" cy="1200329"/>
          </a:xfrm>
          <a:prstGeom prst="rect">
            <a:avLst/>
          </a:prstGeom>
          <a:noFill/>
        </p:spPr>
        <p:txBody>
          <a:bodyPr wrap="none" rtlCol="0">
            <a:spAutoFit/>
          </a:bodyPr>
          <a:lstStyle/>
          <a:p>
            <a:pPr algn="ctr"/>
            <a:r>
              <a:rPr lang="en-US" altLang="zh-CN" sz="7200" b="1" spc="100" dirty="0">
                <a:solidFill>
                  <a:schemeClr val="accent1"/>
                </a:solidFill>
                <a:latin typeface="+mj-lt"/>
                <a:ea typeface="+mj-ea"/>
              </a:rPr>
              <a:t>01</a:t>
            </a:r>
            <a:endParaRPr lang="zh-CN" altLang="en-US" sz="7200" b="1" spc="100" dirty="0">
              <a:solidFill>
                <a:schemeClr val="accent1"/>
              </a:solidFill>
              <a:latin typeface="+mj-lt"/>
              <a:ea typeface="+mj-ea"/>
            </a:endParaRPr>
          </a:p>
        </p:txBody>
      </p:sp>
      <p:sp>
        <p:nvSpPr>
          <p:cNvPr id="81" name="文本框 80"/>
          <p:cNvSpPr txBox="1"/>
          <p:nvPr/>
        </p:nvSpPr>
        <p:spPr>
          <a:xfrm>
            <a:off x="4272424" y="3399999"/>
            <a:ext cx="3647152" cy="923330"/>
          </a:xfrm>
          <a:prstGeom prst="rect">
            <a:avLst/>
          </a:prstGeom>
          <a:noFill/>
        </p:spPr>
        <p:txBody>
          <a:bodyPr wrap="none" rtlCol="0">
            <a:spAutoFit/>
          </a:bodyPr>
          <a:lstStyle/>
          <a:p>
            <a:r>
              <a:rPr lang="zh-CN" altLang="en-US" sz="5400" b="1" dirty="0">
                <a:latin typeface="+mj-ea"/>
              </a:rPr>
              <a:t>背景与意义</a:t>
            </a:r>
          </a:p>
        </p:txBody>
      </p:sp>
      <p:grpSp>
        <p:nvGrpSpPr>
          <p:cNvPr id="82" name="组合 81"/>
          <p:cNvGrpSpPr/>
          <p:nvPr/>
        </p:nvGrpSpPr>
        <p:grpSpPr>
          <a:xfrm flipH="1">
            <a:off x="7195174" y="2893284"/>
            <a:ext cx="1427668" cy="98842"/>
            <a:chOff x="3582899" y="2893284"/>
            <a:chExt cx="1427668" cy="98842"/>
          </a:xfrm>
        </p:grpSpPr>
        <p:cxnSp>
          <p:nvCxnSpPr>
            <p:cNvPr id="83" name="直接连接符 82"/>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文本框 84"/>
          <p:cNvSpPr txBox="1"/>
          <p:nvPr/>
        </p:nvSpPr>
        <p:spPr>
          <a:xfrm>
            <a:off x="5339286" y="2742650"/>
            <a:ext cx="1513428" cy="400110"/>
          </a:xfrm>
          <a:prstGeom prst="rect">
            <a:avLst/>
          </a:prstGeom>
          <a:noFill/>
        </p:spPr>
        <p:txBody>
          <a:bodyPr wrap="none" rtlCol="0">
            <a:spAutoFit/>
          </a:bodyPr>
          <a:lstStyle/>
          <a:p>
            <a:pPr algn="ctr"/>
            <a:r>
              <a:rPr lang="en-US" altLang="zh-CN" sz="2000" b="1" dirty="0">
                <a:solidFill>
                  <a:schemeClr val="tx1">
                    <a:lumMod val="75000"/>
                    <a:lumOff val="25000"/>
                  </a:schemeClr>
                </a:solidFill>
                <a:latin typeface="+mj-ea"/>
                <a:ea typeface="+mj-ea"/>
              </a:rPr>
              <a:t>PART ONE</a:t>
            </a:r>
            <a:endParaRPr lang="zh-CN" altLang="en-US" sz="2000" b="1" dirty="0">
              <a:solidFill>
                <a:schemeClr val="tx1">
                  <a:lumMod val="75000"/>
                  <a:lumOff val="25000"/>
                </a:schemeClr>
              </a:solidFill>
              <a:latin typeface="+mj-ea"/>
              <a:ea typeface="+mj-ea"/>
            </a:endParaRPr>
          </a:p>
        </p:txBody>
      </p:sp>
      <p:grpSp>
        <p:nvGrpSpPr>
          <p:cNvPr id="86" name="组合 85"/>
          <p:cNvGrpSpPr/>
          <p:nvPr/>
        </p:nvGrpSpPr>
        <p:grpSpPr>
          <a:xfrm>
            <a:off x="3569158" y="2893284"/>
            <a:ext cx="1427668" cy="98842"/>
            <a:chOff x="3582899" y="2893284"/>
            <a:chExt cx="1427668" cy="98842"/>
          </a:xfrm>
        </p:grpSpPr>
        <p:cxnSp>
          <p:nvCxnSpPr>
            <p:cNvPr id="87" name="直接连接符 86"/>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8" name="椭圆 87"/>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2307393" y="166826"/>
            <a:ext cx="1891865" cy="461665"/>
          </a:xfrm>
          <a:prstGeom prst="rect">
            <a:avLst/>
          </a:prstGeom>
          <a:noFill/>
        </p:spPr>
        <p:txBody>
          <a:bodyPr wrap="none" rtlCol="0">
            <a:spAutoFit/>
          </a:bodyPr>
          <a:lstStyle/>
          <a:p>
            <a:r>
              <a:rPr lang="en-US" altLang="zh-CN" sz="2400" b="1" spc="100" dirty="0">
                <a:solidFill>
                  <a:schemeClr val="accent1"/>
                </a:solidFill>
                <a:latin typeface="+mj-ea"/>
                <a:ea typeface="+mj-ea"/>
              </a:rPr>
              <a:t> </a:t>
            </a:r>
            <a:r>
              <a:rPr lang="zh-CN" altLang="en-US" sz="2400" b="1" spc="100" dirty="0">
                <a:solidFill>
                  <a:schemeClr val="accent1"/>
                </a:solidFill>
                <a:latin typeface="+mj-ea"/>
                <a:ea typeface="+mj-ea"/>
              </a:rPr>
              <a:t>背景与意义</a:t>
            </a:r>
          </a:p>
        </p:txBody>
      </p:sp>
      <p:grpSp>
        <p:nvGrpSpPr>
          <p:cNvPr id="8" name="组合 7"/>
          <p:cNvGrpSpPr/>
          <p:nvPr/>
        </p:nvGrpSpPr>
        <p:grpSpPr>
          <a:xfrm>
            <a:off x="1957299" y="229525"/>
            <a:ext cx="355042" cy="353395"/>
            <a:chOff x="1957299" y="229525"/>
            <a:chExt cx="355042" cy="353395"/>
          </a:xfrm>
        </p:grpSpPr>
        <p:sp>
          <p:nvSpPr>
            <p:cNvPr id="9" name="矩形: 圆角 8"/>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0" y="2401808"/>
            <a:ext cx="1631406" cy="5307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背景与意义</a:t>
            </a:r>
          </a:p>
        </p:txBody>
      </p:sp>
      <p:sp>
        <p:nvSpPr>
          <p:cNvPr id="18" name="文本框 17">
            <a:extLst>
              <a:ext uri="{FF2B5EF4-FFF2-40B4-BE49-F238E27FC236}">
                <a16:creationId xmlns:a16="http://schemas.microsoft.com/office/drawing/2014/main" id="{2A8D02F1-DF8C-6A72-979F-1BF508DA1843}"/>
              </a:ext>
            </a:extLst>
          </p:cNvPr>
          <p:cNvSpPr txBox="1"/>
          <p:nvPr/>
        </p:nvSpPr>
        <p:spPr>
          <a:xfrm>
            <a:off x="2135878" y="1244208"/>
            <a:ext cx="5080000" cy="1034642"/>
          </a:xfrm>
          <a:prstGeom prst="rect">
            <a:avLst/>
          </a:prstGeom>
        </p:spPr>
        <p:txBody>
          <a:bodyPr>
            <a:spAutoFit/>
          </a:bodyPr>
          <a:lstStyle/>
          <a:p>
            <a:pPr>
              <a:lnSpc>
                <a:spcPct val="90000"/>
              </a:lnSpc>
              <a:spcBef>
                <a:spcPts val="1000"/>
              </a:spcBef>
              <a:spcAft>
                <a:spcPts val="300"/>
              </a:spcAft>
              <a:buClrTx/>
              <a:buSzTx/>
            </a:pPr>
            <a:r>
              <a:rPr lang="zh-CN" altLang="en-US" sz="2800" b="1" spc="100" dirty="0">
                <a:solidFill>
                  <a:schemeClr val="accent1"/>
                </a:solidFill>
                <a:latin typeface="+mj-ea"/>
                <a:ea typeface="+mj-ea"/>
              </a:rPr>
              <a:t>让AI食品安全检测触手可及</a:t>
            </a:r>
          </a:p>
          <a:p>
            <a:pPr>
              <a:lnSpc>
                <a:spcPct val="90000"/>
              </a:lnSpc>
              <a:spcBef>
                <a:spcPts val="1000"/>
              </a:spcBef>
              <a:spcAft>
                <a:spcPts val="300"/>
              </a:spcAft>
              <a:buClrTx/>
              <a:buSzTx/>
            </a:pPr>
            <a:r>
              <a:rPr lang="zh-CN" altLang="en-US" sz="2800" b="1" spc="100" dirty="0">
                <a:solidFill>
                  <a:schemeClr val="accent1"/>
                </a:solidFill>
                <a:latin typeface="+mj-ea"/>
                <a:ea typeface="+mj-ea"/>
              </a:rPr>
              <a:t>用智能光谱科技守护健康生活</a:t>
            </a:r>
          </a:p>
        </p:txBody>
      </p:sp>
      <p:sp>
        <p:nvSpPr>
          <p:cNvPr id="20" name="文本框 19">
            <a:extLst>
              <a:ext uri="{FF2B5EF4-FFF2-40B4-BE49-F238E27FC236}">
                <a16:creationId xmlns:a16="http://schemas.microsoft.com/office/drawing/2014/main" id="{8BD87534-62C6-0D43-6C2E-66DDDF099663}"/>
              </a:ext>
            </a:extLst>
          </p:cNvPr>
          <p:cNvSpPr txBox="1"/>
          <p:nvPr/>
        </p:nvSpPr>
        <p:spPr>
          <a:xfrm>
            <a:off x="2118473" y="2438002"/>
            <a:ext cx="5407235" cy="3647032"/>
          </a:xfrm>
          <a:prstGeom prst="rect">
            <a:avLst/>
          </a:prstGeom>
          <a:noFill/>
        </p:spPr>
        <p:txBody>
          <a:bodyPr wrap="square">
            <a:spAutoFit/>
          </a:bodyPr>
          <a:lstStyle/>
          <a:p>
            <a:pPr algn="just">
              <a:lnSpc>
                <a:spcPts val="3500"/>
              </a:lnSpc>
              <a:spcAft>
                <a:spcPts val="300"/>
              </a:spcAft>
            </a:pPr>
            <a:r>
              <a:rPr lang="zh-CN" altLang="en-US" sz="2000" dirty="0">
                <a:solidFill>
                  <a:srgbClr val="000000"/>
                </a:solidFill>
                <a:latin typeface="微软雅黑" panose="020B0503020204020204" charset="-122"/>
                <a:ea typeface="微软雅黑" panose="020B0503020204020204" charset="-122"/>
              </a:rPr>
              <a:t>我国食品安全面临农药残留挑战，年发相关事件众多，危及千万消费者；伴随公众健康意识提升，果蔬安全议题热度随之飙升。</a:t>
            </a:r>
            <a:endParaRPr lang="en-US" altLang="zh-CN" sz="2000" dirty="0">
              <a:solidFill>
                <a:srgbClr val="000000"/>
              </a:solidFill>
              <a:latin typeface="微软雅黑" panose="020B0503020204020204" charset="-122"/>
              <a:ea typeface="微软雅黑" panose="020B0503020204020204" charset="-122"/>
            </a:endParaRPr>
          </a:p>
          <a:p>
            <a:pPr algn="just">
              <a:lnSpc>
                <a:spcPts val="3500"/>
              </a:lnSpc>
              <a:spcAft>
                <a:spcPts val="300"/>
              </a:spcAft>
            </a:pPr>
            <a:r>
              <a:rPr lang="zh-CN" altLang="en-US" sz="2000" dirty="0">
                <a:solidFill>
                  <a:srgbClr val="000000"/>
                </a:solidFill>
                <a:latin typeface="微软雅黑" panose="020B0503020204020204" charset="-122"/>
                <a:ea typeface="微软雅黑" panose="020B0503020204020204" charset="-122"/>
              </a:rPr>
              <a:t>开发</a:t>
            </a:r>
            <a:r>
              <a:rPr lang="zh-CN" altLang="en-US" sz="2000" dirty="0">
                <a:solidFill>
                  <a:srgbClr val="C00000"/>
                </a:solidFill>
                <a:latin typeface="微软雅黑" panose="020B0503020204020204" charset="-122"/>
                <a:ea typeface="微软雅黑" panose="020B0503020204020204" charset="-122"/>
              </a:rPr>
              <a:t>集成光谱技术、外接智能硬件与</a:t>
            </a:r>
            <a:r>
              <a:rPr lang="en-US" altLang="zh-CN" sz="2000" dirty="0">
                <a:solidFill>
                  <a:srgbClr val="C00000"/>
                </a:solidFill>
                <a:latin typeface="微软雅黑" panose="020B0503020204020204" charset="-122"/>
                <a:ea typeface="微软雅黑" panose="020B0503020204020204" charset="-122"/>
              </a:rPr>
              <a:t>AI</a:t>
            </a:r>
            <a:r>
              <a:rPr lang="zh-CN" altLang="en-US" sz="2000" dirty="0">
                <a:solidFill>
                  <a:srgbClr val="C00000"/>
                </a:solidFill>
                <a:latin typeface="微软雅黑" panose="020B0503020204020204" charset="-122"/>
                <a:ea typeface="微软雅黑" panose="020B0503020204020204" charset="-122"/>
              </a:rPr>
              <a:t>算法</a:t>
            </a:r>
            <a:r>
              <a:rPr lang="zh-CN" altLang="en-US" sz="2000" dirty="0">
                <a:solidFill>
                  <a:srgbClr val="000000"/>
                </a:solidFill>
                <a:latin typeface="微软雅黑" panose="020B0503020204020204" charset="-122"/>
                <a:ea typeface="微软雅黑" panose="020B0503020204020204" charset="-122"/>
              </a:rPr>
              <a:t>的手机检测应用，构建</a:t>
            </a:r>
            <a:r>
              <a:rPr lang="zh-CN" altLang="en-US" sz="2000" dirty="0">
                <a:solidFill>
                  <a:srgbClr val="C00000"/>
                </a:solidFill>
                <a:latin typeface="微软雅黑" panose="020B0503020204020204" charset="-122"/>
                <a:ea typeface="微软雅黑" panose="020B0503020204020204" charset="-122"/>
              </a:rPr>
              <a:t>低成本、快速精准</a:t>
            </a:r>
            <a:r>
              <a:rPr lang="zh-CN" altLang="en-US" sz="2000" dirty="0">
                <a:solidFill>
                  <a:srgbClr val="000000"/>
                </a:solidFill>
                <a:latin typeface="微软雅黑" panose="020B0503020204020204" charset="-122"/>
                <a:ea typeface="微软雅黑" panose="020B0503020204020204" charset="-122"/>
              </a:rPr>
              <a:t>的农药残留快检方案，对保障“舌尖安全”、推动检测技术普惠、培育</a:t>
            </a:r>
            <a:r>
              <a:rPr lang="zh-CN" altLang="en-US" sz="2000" dirty="0">
                <a:solidFill>
                  <a:srgbClr val="C00000"/>
                </a:solidFill>
                <a:latin typeface="微软雅黑" panose="020B0503020204020204" charset="-122"/>
                <a:ea typeface="微软雅黑" panose="020B0503020204020204" charset="-122"/>
              </a:rPr>
              <a:t>“</a:t>
            </a:r>
            <a:r>
              <a:rPr lang="en-US" altLang="zh-CN" sz="2000" dirty="0">
                <a:solidFill>
                  <a:srgbClr val="C00000"/>
                </a:solidFill>
                <a:latin typeface="微软雅黑" panose="020B0503020204020204" charset="-122"/>
                <a:ea typeface="微软雅黑" panose="020B0503020204020204" charset="-122"/>
              </a:rPr>
              <a:t>AI+</a:t>
            </a:r>
            <a:r>
              <a:rPr lang="zh-CN" altLang="en-US" sz="2000" dirty="0">
                <a:solidFill>
                  <a:srgbClr val="C00000"/>
                </a:solidFill>
                <a:latin typeface="微软雅黑" panose="020B0503020204020204" charset="-122"/>
                <a:ea typeface="微软雅黑" panose="020B0503020204020204" charset="-122"/>
              </a:rPr>
              <a:t>硬件</a:t>
            </a:r>
            <a:r>
              <a:rPr lang="en-US" altLang="zh-CN" sz="2000" dirty="0">
                <a:solidFill>
                  <a:srgbClr val="C00000"/>
                </a:solidFill>
                <a:latin typeface="微软雅黑" panose="020B0503020204020204" charset="-122"/>
                <a:ea typeface="微软雅黑" panose="020B0503020204020204" charset="-122"/>
              </a:rPr>
              <a:t>+</a:t>
            </a:r>
            <a:r>
              <a:rPr lang="zh-CN" altLang="en-US" sz="2000" dirty="0">
                <a:solidFill>
                  <a:srgbClr val="C00000"/>
                </a:solidFill>
                <a:latin typeface="微软雅黑" panose="020B0503020204020204" charset="-122"/>
                <a:ea typeface="微软雅黑" panose="020B0503020204020204" charset="-122"/>
              </a:rPr>
              <a:t>食品安全”</a:t>
            </a:r>
            <a:r>
              <a:rPr lang="zh-CN" altLang="en-US" sz="2000" dirty="0">
                <a:solidFill>
                  <a:srgbClr val="000000"/>
                </a:solidFill>
                <a:latin typeface="微软雅黑" panose="020B0503020204020204" charset="-122"/>
                <a:ea typeface="微软雅黑" panose="020B0503020204020204" charset="-122"/>
              </a:rPr>
              <a:t>跨学科创新，具有重要社会意义与科技价值。</a:t>
            </a:r>
          </a:p>
        </p:txBody>
      </p:sp>
      <p:pic>
        <p:nvPicPr>
          <p:cNvPr id="5" name="图片 4">
            <a:extLst>
              <a:ext uri="{FF2B5EF4-FFF2-40B4-BE49-F238E27FC236}">
                <a16:creationId xmlns:a16="http://schemas.microsoft.com/office/drawing/2014/main" id="{B5804CCA-C269-2415-7FDC-85039F4CF5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73495" y="1493705"/>
            <a:ext cx="3732156" cy="4591329"/>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9">
            <a:lum/>
          </a:blip>
          <a:srcRect/>
          <a:stretch>
            <a:fillRect/>
          </a:stretch>
        </a:blipFill>
        <a:effectLst/>
      </p:bgPr>
    </p:bg>
    <p:spTree>
      <p:nvGrpSpPr>
        <p:cNvPr id="1" name="">
          <a:extLst>
            <a:ext uri="{FF2B5EF4-FFF2-40B4-BE49-F238E27FC236}">
              <a16:creationId xmlns:a16="http://schemas.microsoft.com/office/drawing/2014/main" id="{CA182242-6A63-33B7-894C-0DF532472F39}"/>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E988C79F-B8F0-CF14-5CEF-9BAE29CF64A5}"/>
              </a:ext>
            </a:extLst>
          </p:cNvPr>
          <p:cNvSpPr txBox="1"/>
          <p:nvPr/>
        </p:nvSpPr>
        <p:spPr>
          <a:xfrm>
            <a:off x="2307393" y="166826"/>
            <a:ext cx="3390672" cy="461665"/>
          </a:xfrm>
          <a:prstGeom prst="rect">
            <a:avLst/>
          </a:prstGeom>
          <a:noFill/>
        </p:spPr>
        <p:txBody>
          <a:bodyPr wrap="none" rtlCol="0">
            <a:spAutoFit/>
          </a:bodyPr>
          <a:lstStyle/>
          <a:p>
            <a:r>
              <a:rPr lang="zh-CN" altLang="en-US" sz="2400" b="1" spc="100" dirty="0">
                <a:solidFill>
                  <a:schemeClr val="accent1"/>
                </a:solidFill>
                <a:latin typeface="+mj-ea"/>
                <a:ea typeface="+mj-ea"/>
              </a:rPr>
              <a:t>传统检测方法的局限性</a:t>
            </a:r>
          </a:p>
        </p:txBody>
      </p:sp>
      <p:grpSp>
        <p:nvGrpSpPr>
          <p:cNvPr id="8" name="组合 7">
            <a:extLst>
              <a:ext uri="{FF2B5EF4-FFF2-40B4-BE49-F238E27FC236}">
                <a16:creationId xmlns:a16="http://schemas.microsoft.com/office/drawing/2014/main" id="{68FABEFF-775C-264F-B795-B1047597ED14}"/>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6EC6D826-122E-8E1F-983C-CB4B30ABEF24}"/>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8959F3C6-5FC2-B29E-348B-5CE0B88D1E89}"/>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246E3F3C-ABB5-2C83-881F-27311DFB4A3F}"/>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AFFD1B42-3432-DBC5-480A-716443DEA2A2}"/>
              </a:ext>
            </a:extLst>
          </p:cNvPr>
          <p:cNvSpPr/>
          <p:nvPr/>
        </p:nvSpPr>
        <p:spPr>
          <a:xfrm>
            <a:off x="0" y="2401808"/>
            <a:ext cx="1631406" cy="5307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A0D9AF01-FDB2-1734-443E-46DFC86A4664}"/>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背景与意义</a:t>
            </a:r>
          </a:p>
        </p:txBody>
      </p:sp>
      <p:sp>
        <p:nvSpPr>
          <p:cNvPr id="6" name="文本占位符 4">
            <a:extLst>
              <a:ext uri="{FF2B5EF4-FFF2-40B4-BE49-F238E27FC236}">
                <a16:creationId xmlns:a16="http://schemas.microsoft.com/office/drawing/2014/main" id="{53920CE7-922C-C1C1-A9CB-C0C1468559D4}"/>
              </a:ext>
            </a:extLst>
          </p:cNvPr>
          <p:cNvSpPr txBox="1">
            <a:spLocks/>
          </p:cNvSpPr>
          <p:nvPr>
            <p:custDataLst>
              <p:tags r:id="rId1"/>
            </p:custDataLst>
          </p:nvPr>
        </p:nvSpPr>
        <p:spPr>
          <a:xfrm>
            <a:off x="2135878" y="1595797"/>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spc="100" dirty="0">
                <a:solidFill>
                  <a:schemeClr val="accent1"/>
                </a:solidFill>
                <a:latin typeface="+mj-ea"/>
                <a:ea typeface="+mj-ea"/>
              </a:rPr>
              <a:t>成本问题</a:t>
            </a:r>
          </a:p>
        </p:txBody>
      </p:sp>
      <p:sp>
        <p:nvSpPr>
          <p:cNvPr id="12" name="文本占位符 5">
            <a:extLst>
              <a:ext uri="{FF2B5EF4-FFF2-40B4-BE49-F238E27FC236}">
                <a16:creationId xmlns:a16="http://schemas.microsoft.com/office/drawing/2014/main" id="{5A5D59EF-4DB2-9749-9B55-68235AB4E96F}"/>
              </a:ext>
            </a:extLst>
          </p:cNvPr>
          <p:cNvSpPr txBox="1">
            <a:spLocks/>
          </p:cNvSpPr>
          <p:nvPr>
            <p:custDataLst>
              <p:tags r:id="rId2"/>
            </p:custDataLst>
          </p:nvPr>
        </p:nvSpPr>
        <p:spPr>
          <a:xfrm>
            <a:off x="2215832" y="2190480"/>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300"/>
              </a:spcAft>
              <a:buNone/>
            </a:pPr>
            <a:r>
              <a:rPr lang="zh-CN" altLang="en-US" sz="2100" dirty="0">
                <a:solidFill>
                  <a:srgbClr val="000000"/>
                </a:solidFill>
                <a:latin typeface="微软雅黑" panose="020B0503020204020204" charset="-122"/>
                <a:ea typeface="微软雅黑" panose="020B0503020204020204" charset="-122"/>
                <a:sym typeface="+mn-ea"/>
              </a:rPr>
              <a:t>传统检测方法</a:t>
            </a:r>
            <a:r>
              <a:rPr lang="zh-CN" altLang="en-US" sz="2100" dirty="0">
                <a:solidFill>
                  <a:srgbClr val="C00000"/>
                </a:solidFill>
                <a:latin typeface="微软雅黑" panose="020B0503020204020204" charset="-122"/>
                <a:ea typeface="微软雅黑" panose="020B0503020204020204" charset="-122"/>
                <a:sym typeface="+mn-ea"/>
              </a:rPr>
              <a:t>成本高、耗时长</a:t>
            </a:r>
            <a:r>
              <a:rPr lang="zh-CN" altLang="en-US" sz="2100" dirty="0">
                <a:solidFill>
                  <a:srgbClr val="000000"/>
                </a:solidFill>
                <a:latin typeface="微软雅黑" panose="020B0503020204020204" charset="-122"/>
                <a:ea typeface="微软雅黑" panose="020B0503020204020204" charset="-122"/>
                <a:sym typeface="+mn-ea"/>
              </a:rPr>
              <a:t>，难以普及。</a:t>
            </a:r>
          </a:p>
        </p:txBody>
      </p:sp>
      <p:sp>
        <p:nvSpPr>
          <p:cNvPr id="16" name="文本占位符 7">
            <a:extLst>
              <a:ext uri="{FF2B5EF4-FFF2-40B4-BE49-F238E27FC236}">
                <a16:creationId xmlns:a16="http://schemas.microsoft.com/office/drawing/2014/main" id="{C01D5CB8-A060-6E17-B8A9-CF8B13098E5F}"/>
              </a:ext>
            </a:extLst>
          </p:cNvPr>
          <p:cNvSpPr txBox="1">
            <a:spLocks/>
          </p:cNvSpPr>
          <p:nvPr>
            <p:custDataLst>
              <p:tags r:id="rId3"/>
            </p:custDataLst>
          </p:nvPr>
        </p:nvSpPr>
        <p:spPr>
          <a:xfrm>
            <a:off x="2135878" y="2884874"/>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spc="100" dirty="0">
                <a:solidFill>
                  <a:schemeClr val="accent1"/>
                </a:solidFill>
                <a:latin typeface="+mj-ea"/>
                <a:ea typeface="+mj-ea"/>
              </a:rPr>
              <a:t>便捷问题</a:t>
            </a:r>
          </a:p>
        </p:txBody>
      </p:sp>
      <p:sp>
        <p:nvSpPr>
          <p:cNvPr id="19" name="文本占位符 8">
            <a:extLst>
              <a:ext uri="{FF2B5EF4-FFF2-40B4-BE49-F238E27FC236}">
                <a16:creationId xmlns:a16="http://schemas.microsoft.com/office/drawing/2014/main" id="{0251EB69-3E25-D2ED-E559-3B7E18A72448}"/>
              </a:ext>
            </a:extLst>
          </p:cNvPr>
          <p:cNvSpPr txBox="1">
            <a:spLocks/>
          </p:cNvSpPr>
          <p:nvPr>
            <p:custDataLst>
              <p:tags r:id="rId4"/>
            </p:custDataLst>
          </p:nvPr>
        </p:nvSpPr>
        <p:spPr>
          <a:xfrm>
            <a:off x="2215830" y="3402867"/>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000"/>
              </a:lnSpc>
              <a:spcBef>
                <a:spcPct val="0"/>
              </a:spcBef>
              <a:spcAft>
                <a:spcPts val="300"/>
              </a:spcAft>
              <a:buNone/>
            </a:pPr>
            <a:r>
              <a:rPr lang="zh-CN" altLang="en-US" sz="2100" dirty="0">
                <a:solidFill>
                  <a:srgbClr val="000000"/>
                </a:solidFill>
                <a:latin typeface="微软雅黑" panose="020B0503020204020204" charset="-122"/>
                <a:ea typeface="微软雅黑" panose="020B0503020204020204" charset="-122"/>
                <a:sym typeface="+mn-ea"/>
              </a:rPr>
              <a:t>消费者对食品安全日益关注，但缺乏便捷、可靠、智能的检测手段。</a:t>
            </a:r>
          </a:p>
        </p:txBody>
      </p:sp>
      <p:sp>
        <p:nvSpPr>
          <p:cNvPr id="22" name="文本占位符 10">
            <a:extLst>
              <a:ext uri="{FF2B5EF4-FFF2-40B4-BE49-F238E27FC236}">
                <a16:creationId xmlns:a16="http://schemas.microsoft.com/office/drawing/2014/main" id="{5D4A8F38-7F6F-A7F2-499B-C878B49C3D7B}"/>
              </a:ext>
            </a:extLst>
          </p:cNvPr>
          <p:cNvSpPr txBox="1">
            <a:spLocks/>
          </p:cNvSpPr>
          <p:nvPr>
            <p:custDataLst>
              <p:tags r:id="rId5"/>
            </p:custDataLst>
          </p:nvPr>
        </p:nvSpPr>
        <p:spPr>
          <a:xfrm>
            <a:off x="2135878" y="4327176"/>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spc="100" dirty="0">
                <a:solidFill>
                  <a:schemeClr val="accent1"/>
                </a:solidFill>
                <a:latin typeface="+mj-ea"/>
                <a:ea typeface="+mj-ea"/>
              </a:rPr>
              <a:t>AI</a:t>
            </a:r>
            <a:r>
              <a:rPr lang="zh-CN" altLang="en-US" b="1" spc="100" dirty="0">
                <a:solidFill>
                  <a:schemeClr val="accent1"/>
                </a:solidFill>
                <a:latin typeface="+mj-ea"/>
                <a:ea typeface="+mj-ea"/>
              </a:rPr>
              <a:t>需求</a:t>
            </a:r>
          </a:p>
        </p:txBody>
      </p:sp>
      <p:sp>
        <p:nvSpPr>
          <p:cNvPr id="23" name="文本占位符 11">
            <a:extLst>
              <a:ext uri="{FF2B5EF4-FFF2-40B4-BE49-F238E27FC236}">
                <a16:creationId xmlns:a16="http://schemas.microsoft.com/office/drawing/2014/main" id="{380FD618-FE2A-3586-AC07-229E18DE7DBB}"/>
              </a:ext>
            </a:extLst>
          </p:cNvPr>
          <p:cNvSpPr txBox="1">
            <a:spLocks/>
          </p:cNvSpPr>
          <p:nvPr>
            <p:custDataLst>
              <p:tags r:id="rId6"/>
            </p:custDataLst>
          </p:nvPr>
        </p:nvSpPr>
        <p:spPr>
          <a:xfrm>
            <a:off x="2215831" y="5002831"/>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300"/>
              </a:spcAft>
              <a:buNone/>
            </a:pPr>
            <a:r>
              <a:rPr lang="zh-CN" altLang="en-US" sz="2100" dirty="0">
                <a:solidFill>
                  <a:srgbClr val="000000"/>
                </a:solidFill>
                <a:latin typeface="微软雅黑" panose="020B0503020204020204" charset="-122"/>
                <a:ea typeface="微软雅黑" panose="020B0503020204020204" charset="-122"/>
                <a:sym typeface="+mn-ea"/>
              </a:rPr>
              <a:t>现有便携设备</a:t>
            </a:r>
            <a:r>
              <a:rPr lang="zh-CN" altLang="en-US" sz="2100" dirty="0">
                <a:solidFill>
                  <a:srgbClr val="C00000"/>
                </a:solidFill>
                <a:latin typeface="微软雅黑" panose="020B0503020204020204" charset="-122"/>
                <a:ea typeface="微软雅黑" panose="020B0503020204020204" charset="-122"/>
                <a:sym typeface="+mn-ea"/>
              </a:rPr>
              <a:t>智能化程度低</a:t>
            </a:r>
            <a:r>
              <a:rPr lang="zh-CN" altLang="en-US" sz="2100" dirty="0">
                <a:solidFill>
                  <a:srgbClr val="000000"/>
                </a:solidFill>
                <a:latin typeface="微软雅黑" panose="020B0503020204020204" charset="-122"/>
                <a:ea typeface="微软雅黑" panose="020B0503020204020204" charset="-122"/>
                <a:sym typeface="+mn-ea"/>
              </a:rPr>
              <a:t>，缺乏</a:t>
            </a:r>
            <a:r>
              <a:rPr lang="en-US" altLang="zh-CN" sz="2100" dirty="0">
                <a:solidFill>
                  <a:srgbClr val="000000"/>
                </a:solidFill>
                <a:latin typeface="微软雅黑" panose="020B0503020204020204" charset="-122"/>
                <a:ea typeface="微软雅黑" panose="020B0503020204020204" charset="-122"/>
                <a:sym typeface="+mn-ea"/>
              </a:rPr>
              <a:t>AI</a:t>
            </a:r>
            <a:r>
              <a:rPr lang="zh-CN" altLang="en-US" sz="2100" dirty="0">
                <a:solidFill>
                  <a:srgbClr val="000000"/>
                </a:solidFill>
                <a:latin typeface="微软雅黑" panose="020B0503020204020204" charset="-122"/>
                <a:ea typeface="微软雅黑" panose="020B0503020204020204" charset="-122"/>
                <a:sym typeface="+mn-ea"/>
              </a:rPr>
              <a:t>数据分析能力。</a:t>
            </a:r>
          </a:p>
        </p:txBody>
      </p:sp>
      <p:pic>
        <p:nvPicPr>
          <p:cNvPr id="11" name="图片 10">
            <a:extLst>
              <a:ext uri="{FF2B5EF4-FFF2-40B4-BE49-F238E27FC236}">
                <a16:creationId xmlns:a16="http://schemas.microsoft.com/office/drawing/2014/main" id="{14A1B79F-5734-952B-3A32-4B511DC3447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391538" y="1855169"/>
            <a:ext cx="3329168" cy="324049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05625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9">
            <a:lum/>
          </a:blip>
          <a:srcRect/>
          <a:stretch>
            <a:fillRect/>
          </a:stretch>
        </a:blipFill>
        <a:effectLst/>
      </p:bgPr>
    </p:bg>
    <p:spTree>
      <p:nvGrpSpPr>
        <p:cNvPr id="1" name="">
          <a:extLst>
            <a:ext uri="{FF2B5EF4-FFF2-40B4-BE49-F238E27FC236}">
              <a16:creationId xmlns:a16="http://schemas.microsoft.com/office/drawing/2014/main" id="{D6A4F9B2-872E-DEAA-720D-BDA705D5C6D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4FC42519-5241-58CB-D8F5-A0E4D7817273}"/>
              </a:ext>
            </a:extLst>
          </p:cNvPr>
          <p:cNvSpPr txBox="1"/>
          <p:nvPr/>
        </p:nvSpPr>
        <p:spPr>
          <a:xfrm>
            <a:off x="2307393" y="166826"/>
            <a:ext cx="3070071" cy="461665"/>
          </a:xfrm>
          <a:prstGeom prst="rect">
            <a:avLst/>
          </a:prstGeom>
          <a:noFill/>
        </p:spPr>
        <p:txBody>
          <a:bodyPr wrap="none" rtlCol="0">
            <a:spAutoFit/>
          </a:bodyPr>
          <a:lstStyle/>
          <a:p>
            <a:r>
              <a:rPr lang="zh-CN" altLang="en-US" sz="2400" b="1" spc="100" dirty="0">
                <a:solidFill>
                  <a:schemeClr val="accent1"/>
                </a:solidFill>
                <a:latin typeface="+mj-ea"/>
                <a:ea typeface="+mj-ea"/>
              </a:rPr>
              <a:t>智能检测技术的优势</a:t>
            </a:r>
          </a:p>
        </p:txBody>
      </p:sp>
      <p:grpSp>
        <p:nvGrpSpPr>
          <p:cNvPr id="8" name="组合 7">
            <a:extLst>
              <a:ext uri="{FF2B5EF4-FFF2-40B4-BE49-F238E27FC236}">
                <a16:creationId xmlns:a16="http://schemas.microsoft.com/office/drawing/2014/main" id="{B48E22F6-5AEF-AC15-2D68-1C1C9C14658C}"/>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5B31C02A-665B-BAF0-5386-4CCBB2061237}"/>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370A8FAD-B794-D57F-03FC-4AA473A46E97}"/>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91537D90-49FD-4FD1-1315-B268464EA4B8}"/>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5085C4B0-0857-590A-0C7E-603C070AB2E4}"/>
              </a:ext>
            </a:extLst>
          </p:cNvPr>
          <p:cNvSpPr/>
          <p:nvPr/>
        </p:nvSpPr>
        <p:spPr>
          <a:xfrm>
            <a:off x="0" y="2401808"/>
            <a:ext cx="1631406" cy="5307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2F76B9D9-F871-1D4D-E966-BFA48A008941}"/>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背景与意义</a:t>
            </a:r>
          </a:p>
        </p:txBody>
      </p:sp>
      <p:sp>
        <p:nvSpPr>
          <p:cNvPr id="6" name="文本占位符 4">
            <a:extLst>
              <a:ext uri="{FF2B5EF4-FFF2-40B4-BE49-F238E27FC236}">
                <a16:creationId xmlns:a16="http://schemas.microsoft.com/office/drawing/2014/main" id="{2915CB5D-12DD-B73D-FF24-33C9D23844CC}"/>
              </a:ext>
            </a:extLst>
          </p:cNvPr>
          <p:cNvSpPr txBox="1">
            <a:spLocks/>
          </p:cNvSpPr>
          <p:nvPr>
            <p:custDataLst>
              <p:tags r:id="rId1"/>
            </p:custDataLst>
          </p:nvPr>
        </p:nvSpPr>
        <p:spPr>
          <a:xfrm>
            <a:off x="2135878" y="1595797"/>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spc="100" dirty="0">
                <a:solidFill>
                  <a:schemeClr val="accent1"/>
                </a:solidFill>
                <a:latin typeface="+mj-ea"/>
                <a:ea typeface="+mj-ea"/>
              </a:rPr>
              <a:t>成本优势</a:t>
            </a:r>
          </a:p>
        </p:txBody>
      </p:sp>
      <p:sp>
        <p:nvSpPr>
          <p:cNvPr id="12" name="文本占位符 5">
            <a:extLst>
              <a:ext uri="{FF2B5EF4-FFF2-40B4-BE49-F238E27FC236}">
                <a16:creationId xmlns:a16="http://schemas.microsoft.com/office/drawing/2014/main" id="{FADDB736-4740-0269-2C38-9DC2C0A7EEC7}"/>
              </a:ext>
            </a:extLst>
          </p:cNvPr>
          <p:cNvSpPr txBox="1">
            <a:spLocks/>
          </p:cNvSpPr>
          <p:nvPr>
            <p:custDataLst>
              <p:tags r:id="rId2"/>
            </p:custDataLst>
          </p:nvPr>
        </p:nvSpPr>
        <p:spPr>
          <a:xfrm>
            <a:off x="2215831" y="2217628"/>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300"/>
              </a:spcAft>
              <a:buNone/>
            </a:pPr>
            <a:r>
              <a:rPr lang="zh-CN" altLang="en-US" sz="2100" dirty="0">
                <a:solidFill>
                  <a:srgbClr val="000000"/>
                </a:solidFill>
                <a:latin typeface="微软雅黑" panose="020B0503020204020204" charset="-122"/>
                <a:ea typeface="微软雅黑" panose="020B0503020204020204" charset="-122"/>
              </a:rPr>
              <a:t>检测</a:t>
            </a:r>
            <a:r>
              <a:rPr lang="zh-CN" altLang="en-US" sz="2100" dirty="0">
                <a:solidFill>
                  <a:srgbClr val="C00000"/>
                </a:solidFill>
                <a:latin typeface="微软雅黑" panose="020B0503020204020204" charset="-122"/>
                <a:ea typeface="微软雅黑" panose="020B0503020204020204" charset="-122"/>
              </a:rPr>
              <a:t>成本</a:t>
            </a:r>
            <a:r>
              <a:rPr lang="zh-CN" altLang="zh-CN" sz="2100" dirty="0">
                <a:solidFill>
                  <a:srgbClr val="C00000"/>
                </a:solidFill>
                <a:latin typeface="微软雅黑" panose="020B0503020204020204" charset="-122"/>
                <a:ea typeface="微软雅黑" panose="020B0503020204020204" charset="-122"/>
              </a:rPr>
              <a:t>降低</a:t>
            </a:r>
            <a:r>
              <a:rPr lang="zh-CN" altLang="en-US" sz="2100" dirty="0">
                <a:solidFill>
                  <a:srgbClr val="000000"/>
                </a:solidFill>
                <a:latin typeface="微软雅黑" panose="020B0503020204020204" charset="-122"/>
                <a:ea typeface="微软雅黑" panose="020B0503020204020204" charset="-122"/>
              </a:rPr>
              <a:t>。</a:t>
            </a:r>
          </a:p>
        </p:txBody>
      </p:sp>
      <p:sp>
        <p:nvSpPr>
          <p:cNvPr id="16" name="文本占位符 7">
            <a:extLst>
              <a:ext uri="{FF2B5EF4-FFF2-40B4-BE49-F238E27FC236}">
                <a16:creationId xmlns:a16="http://schemas.microsoft.com/office/drawing/2014/main" id="{72B715B6-E1C2-FC4C-E4BA-2F428B043520}"/>
              </a:ext>
            </a:extLst>
          </p:cNvPr>
          <p:cNvSpPr txBox="1">
            <a:spLocks/>
          </p:cNvSpPr>
          <p:nvPr>
            <p:custDataLst>
              <p:tags r:id="rId3"/>
            </p:custDataLst>
          </p:nvPr>
        </p:nvSpPr>
        <p:spPr>
          <a:xfrm>
            <a:off x="2135878" y="2884874"/>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spc="100" dirty="0">
                <a:solidFill>
                  <a:schemeClr val="accent1"/>
                </a:solidFill>
                <a:latin typeface="+mj-ea"/>
                <a:ea typeface="+mj-ea"/>
              </a:rPr>
              <a:t>便捷优势</a:t>
            </a:r>
          </a:p>
        </p:txBody>
      </p:sp>
      <p:sp>
        <p:nvSpPr>
          <p:cNvPr id="19" name="文本占位符 8">
            <a:extLst>
              <a:ext uri="{FF2B5EF4-FFF2-40B4-BE49-F238E27FC236}">
                <a16:creationId xmlns:a16="http://schemas.microsoft.com/office/drawing/2014/main" id="{AAC72156-E89D-4C66-690C-FF5B265CF460}"/>
              </a:ext>
            </a:extLst>
          </p:cNvPr>
          <p:cNvSpPr txBox="1">
            <a:spLocks/>
          </p:cNvSpPr>
          <p:nvPr>
            <p:custDataLst>
              <p:tags r:id="rId4"/>
            </p:custDataLst>
          </p:nvPr>
        </p:nvSpPr>
        <p:spPr>
          <a:xfrm>
            <a:off x="2215831" y="3668339"/>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300"/>
              </a:spcAft>
              <a:buNone/>
            </a:pPr>
            <a:r>
              <a:rPr lang="zh-CN" altLang="en-US" sz="2100" dirty="0">
                <a:solidFill>
                  <a:srgbClr val="000000"/>
                </a:solidFill>
                <a:latin typeface="微软雅黑" panose="020B0503020204020204" charset="-122"/>
                <a:ea typeface="微软雅黑" panose="020B0503020204020204" charset="-122"/>
              </a:rPr>
              <a:t>手机即测即得，</a:t>
            </a:r>
            <a:r>
              <a:rPr lang="zh-CN" altLang="en-US" sz="2100" dirty="0">
                <a:solidFill>
                  <a:srgbClr val="C00000"/>
                </a:solidFill>
                <a:latin typeface="微软雅黑" panose="020B0503020204020204" charset="-122"/>
                <a:ea typeface="微软雅黑" panose="020B0503020204020204" charset="-122"/>
              </a:rPr>
              <a:t>快速完成</a:t>
            </a:r>
            <a:r>
              <a:rPr lang="zh-CN" altLang="en-US" sz="2100" dirty="0">
                <a:solidFill>
                  <a:srgbClr val="000000"/>
                </a:solidFill>
                <a:latin typeface="微软雅黑" panose="020B0503020204020204" charset="-122"/>
                <a:ea typeface="微软雅黑" panose="020B0503020204020204" charset="-122"/>
              </a:rPr>
              <a:t>，无需专业实验室。</a:t>
            </a:r>
          </a:p>
        </p:txBody>
      </p:sp>
      <p:sp>
        <p:nvSpPr>
          <p:cNvPr id="22" name="文本占位符 10">
            <a:extLst>
              <a:ext uri="{FF2B5EF4-FFF2-40B4-BE49-F238E27FC236}">
                <a16:creationId xmlns:a16="http://schemas.microsoft.com/office/drawing/2014/main" id="{411D2F5F-B152-0605-C012-B5B640C66B5D}"/>
              </a:ext>
            </a:extLst>
          </p:cNvPr>
          <p:cNvSpPr txBox="1">
            <a:spLocks/>
          </p:cNvSpPr>
          <p:nvPr>
            <p:custDataLst>
              <p:tags r:id="rId5"/>
            </p:custDataLst>
          </p:nvPr>
        </p:nvSpPr>
        <p:spPr>
          <a:xfrm>
            <a:off x="2135878" y="4327176"/>
            <a:ext cx="4724400" cy="4064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spc="100" dirty="0">
                <a:solidFill>
                  <a:schemeClr val="accent1"/>
                </a:solidFill>
                <a:latin typeface="+mj-ea"/>
                <a:ea typeface="+mj-ea"/>
              </a:rPr>
              <a:t>未来需求</a:t>
            </a:r>
          </a:p>
        </p:txBody>
      </p:sp>
      <p:sp>
        <p:nvSpPr>
          <p:cNvPr id="23" name="文本占位符 11">
            <a:extLst>
              <a:ext uri="{FF2B5EF4-FFF2-40B4-BE49-F238E27FC236}">
                <a16:creationId xmlns:a16="http://schemas.microsoft.com/office/drawing/2014/main" id="{36552224-6C63-0777-0239-9F4F840736B0}"/>
              </a:ext>
            </a:extLst>
          </p:cNvPr>
          <p:cNvSpPr txBox="1">
            <a:spLocks/>
          </p:cNvSpPr>
          <p:nvPr>
            <p:custDataLst>
              <p:tags r:id="rId6"/>
            </p:custDataLst>
          </p:nvPr>
        </p:nvSpPr>
        <p:spPr>
          <a:xfrm>
            <a:off x="2215831" y="5002831"/>
            <a:ext cx="6218555" cy="609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300"/>
              </a:spcAft>
              <a:buNone/>
            </a:pPr>
            <a:r>
              <a:rPr lang="zh-CN" altLang="en-US" sz="2100" dirty="0">
                <a:solidFill>
                  <a:srgbClr val="C00000"/>
                </a:solidFill>
                <a:latin typeface="微软雅黑" panose="020B0503020204020204" charset="-122"/>
                <a:ea typeface="微软雅黑" panose="020B0503020204020204" charset="-122"/>
              </a:rPr>
              <a:t>自主学习</a:t>
            </a:r>
            <a:r>
              <a:rPr lang="zh-CN" altLang="en-US" sz="2100" dirty="0">
                <a:solidFill>
                  <a:srgbClr val="000000"/>
                </a:solidFill>
                <a:latin typeface="微软雅黑" panose="020B0503020204020204" charset="-122"/>
                <a:ea typeface="微软雅黑" panose="020B0503020204020204" charset="-122"/>
              </a:rPr>
              <a:t>优化，精准预警，构建食品风险图谱。</a:t>
            </a:r>
          </a:p>
        </p:txBody>
      </p:sp>
      <p:pic>
        <p:nvPicPr>
          <p:cNvPr id="5" name="图片 4">
            <a:extLst>
              <a:ext uri="{FF2B5EF4-FFF2-40B4-BE49-F238E27FC236}">
                <a16:creationId xmlns:a16="http://schemas.microsoft.com/office/drawing/2014/main" id="{CDF2ADC8-0B15-862A-C2B9-376DF2C5D46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946727" y="1655003"/>
            <a:ext cx="3894423" cy="380953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204038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werpoint template design by DAJU_PPT正版来源小红书大橘PPT微信DAJU_PPT请勿抄袭搬运！盗版必究！"/>
          <p:cNvSpPr/>
          <p:nvPr/>
        </p:nvSpPr>
        <p:spPr>
          <a:xfrm>
            <a:off x="351099" y="312517"/>
            <a:ext cx="11489802" cy="6302416"/>
          </a:xfrm>
          <a:prstGeom prst="rect">
            <a:avLst/>
          </a:prstGeom>
          <a:noFill/>
          <a:ln w="190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owerpoint template design by DAJU_PPT正版来源小红书大橘PPT微信DAJU_PPT请勿抄袭搬运！盗版必究！"/>
          <p:cNvSpPr txBox="1"/>
          <p:nvPr/>
        </p:nvSpPr>
        <p:spPr>
          <a:xfrm>
            <a:off x="2407920" y="6249873"/>
            <a:ext cx="7376160" cy="307777"/>
          </a:xfrm>
          <a:prstGeom prst="rect">
            <a:avLst/>
          </a:prstGeom>
          <a:noFill/>
        </p:spPr>
        <p:txBody>
          <a:bodyPr wrap="square">
            <a:spAutoFit/>
          </a:bodyPr>
          <a:lstStyle/>
          <a:p>
            <a:pPr algn="ctr"/>
            <a:r>
              <a:rPr lang="en-US" altLang="zh-CN" sz="1400" dirty="0">
                <a:solidFill>
                  <a:schemeClr val="bg1"/>
                </a:solidFill>
                <a:cs typeface="+mn-ea"/>
                <a:sym typeface="+mn-lt"/>
              </a:rPr>
              <a:t>——</a:t>
            </a:r>
            <a:r>
              <a:rPr lang="en-US" altLang="zh-CN" sz="1400" spc="300" dirty="0">
                <a:solidFill>
                  <a:schemeClr val="bg1"/>
                </a:solidFill>
                <a:cs typeface="+mn-ea"/>
                <a:sym typeface="+mn-lt"/>
              </a:rPr>
              <a:t> </a:t>
            </a:r>
            <a:r>
              <a:rPr lang="zh-CN" altLang="en-US" sz="1400" spc="300" dirty="0">
                <a:solidFill>
                  <a:schemeClr val="bg1"/>
                </a:solidFill>
                <a:cs typeface="+mn-ea"/>
                <a:sym typeface="+mn-lt"/>
              </a:rPr>
              <a:t>艰苦朴素 </a:t>
            </a:r>
            <a:r>
              <a:rPr lang="en-US" altLang="zh-CN" sz="1400" spc="300" dirty="0">
                <a:solidFill>
                  <a:schemeClr val="bg1"/>
                </a:solidFill>
                <a:cs typeface="+mn-ea"/>
                <a:sym typeface="+mn-lt"/>
              </a:rPr>
              <a:t>· </a:t>
            </a:r>
            <a:r>
              <a:rPr lang="zh-CN" altLang="en-US" sz="1400" spc="300" dirty="0">
                <a:solidFill>
                  <a:schemeClr val="bg1"/>
                </a:solidFill>
                <a:cs typeface="+mn-ea"/>
                <a:sym typeface="+mn-lt"/>
              </a:rPr>
              <a:t>实事求是 </a:t>
            </a:r>
            <a:r>
              <a:rPr lang="en-US" altLang="zh-CN" sz="1400" spc="300" dirty="0">
                <a:solidFill>
                  <a:schemeClr val="bg1"/>
                </a:solidFill>
                <a:cs typeface="+mn-ea"/>
                <a:sym typeface="+mn-lt"/>
              </a:rPr>
              <a:t>· </a:t>
            </a:r>
            <a:r>
              <a:rPr lang="zh-CN" altLang="en-US" sz="1400" spc="300" dirty="0">
                <a:solidFill>
                  <a:schemeClr val="bg1"/>
                </a:solidFill>
                <a:cs typeface="+mn-ea"/>
                <a:sym typeface="+mn-lt"/>
              </a:rPr>
              <a:t>严格要求 </a:t>
            </a:r>
            <a:r>
              <a:rPr lang="en-US" altLang="zh-CN" sz="1400" spc="300" dirty="0">
                <a:solidFill>
                  <a:schemeClr val="bg1"/>
                </a:solidFill>
                <a:cs typeface="+mn-ea"/>
                <a:sym typeface="+mn-lt"/>
              </a:rPr>
              <a:t>· </a:t>
            </a:r>
            <a:r>
              <a:rPr lang="zh-CN" altLang="en-US" sz="1400" spc="300" dirty="0">
                <a:solidFill>
                  <a:schemeClr val="bg1"/>
                </a:solidFill>
                <a:cs typeface="+mn-ea"/>
                <a:sym typeface="+mn-lt"/>
              </a:rPr>
              <a:t>勇于探索 </a:t>
            </a:r>
            <a:r>
              <a:rPr lang="en-US" altLang="zh-CN" sz="1400" spc="-150" dirty="0">
                <a:solidFill>
                  <a:schemeClr val="bg1"/>
                </a:solidFill>
                <a:cs typeface="+mn-ea"/>
                <a:sym typeface="+mn-lt"/>
              </a:rPr>
              <a:t>——</a:t>
            </a:r>
          </a:p>
        </p:txBody>
      </p:sp>
      <p:sp>
        <p:nvSpPr>
          <p:cNvPr id="79" name="powerpoint template design by DAJU_PPT正版来源小红书大橘PPT微信DAJU_PPT请勿抄袭搬运！盗版必究！"/>
          <p:cNvSpPr/>
          <p:nvPr/>
        </p:nvSpPr>
        <p:spPr>
          <a:xfrm>
            <a:off x="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5421777" y="1112345"/>
            <a:ext cx="1348447" cy="1200329"/>
          </a:xfrm>
          <a:prstGeom prst="rect">
            <a:avLst/>
          </a:prstGeom>
          <a:noFill/>
        </p:spPr>
        <p:txBody>
          <a:bodyPr wrap="none" rtlCol="0">
            <a:spAutoFit/>
          </a:bodyPr>
          <a:lstStyle/>
          <a:p>
            <a:pPr algn="ctr"/>
            <a:r>
              <a:rPr lang="en-US" altLang="zh-CN" sz="7200" b="1" spc="100" dirty="0">
                <a:solidFill>
                  <a:schemeClr val="accent1"/>
                </a:solidFill>
                <a:latin typeface="+mj-lt"/>
                <a:ea typeface="+mj-ea"/>
              </a:rPr>
              <a:t>02</a:t>
            </a:r>
            <a:endParaRPr lang="zh-CN" altLang="en-US" sz="7200" b="1" spc="100" dirty="0">
              <a:solidFill>
                <a:schemeClr val="accent1"/>
              </a:solidFill>
              <a:latin typeface="+mj-lt"/>
              <a:ea typeface="+mj-ea"/>
            </a:endParaRPr>
          </a:p>
        </p:txBody>
      </p:sp>
      <p:sp>
        <p:nvSpPr>
          <p:cNvPr id="81" name="文本框 80"/>
          <p:cNvSpPr txBox="1"/>
          <p:nvPr/>
        </p:nvSpPr>
        <p:spPr>
          <a:xfrm>
            <a:off x="3579925" y="3350579"/>
            <a:ext cx="5032147" cy="923330"/>
          </a:xfrm>
          <a:prstGeom prst="rect">
            <a:avLst/>
          </a:prstGeom>
          <a:noFill/>
        </p:spPr>
        <p:txBody>
          <a:bodyPr wrap="none" rtlCol="0">
            <a:spAutoFit/>
          </a:bodyPr>
          <a:lstStyle/>
          <a:p>
            <a:r>
              <a:rPr lang="zh-CN" altLang="en-US" sz="5400" b="1" dirty="0">
                <a:latin typeface="+mj-ea"/>
              </a:rPr>
              <a:t>国内外研究现状</a:t>
            </a:r>
          </a:p>
        </p:txBody>
      </p:sp>
      <p:grpSp>
        <p:nvGrpSpPr>
          <p:cNvPr id="82" name="组合 81"/>
          <p:cNvGrpSpPr/>
          <p:nvPr/>
        </p:nvGrpSpPr>
        <p:grpSpPr>
          <a:xfrm flipH="1">
            <a:off x="7195174" y="2893284"/>
            <a:ext cx="1427668" cy="98842"/>
            <a:chOff x="3582899" y="2893284"/>
            <a:chExt cx="1427668" cy="98842"/>
          </a:xfrm>
        </p:grpSpPr>
        <p:cxnSp>
          <p:nvCxnSpPr>
            <p:cNvPr id="83" name="直接连接符 82"/>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文本框 84"/>
          <p:cNvSpPr txBox="1"/>
          <p:nvPr/>
        </p:nvSpPr>
        <p:spPr>
          <a:xfrm>
            <a:off x="5300525" y="2742650"/>
            <a:ext cx="1590949" cy="400110"/>
          </a:xfrm>
          <a:prstGeom prst="rect">
            <a:avLst/>
          </a:prstGeom>
          <a:noFill/>
        </p:spPr>
        <p:txBody>
          <a:bodyPr wrap="none" rtlCol="0">
            <a:spAutoFit/>
          </a:bodyPr>
          <a:lstStyle/>
          <a:p>
            <a:pPr algn="ctr"/>
            <a:r>
              <a:rPr lang="en-US" altLang="zh-CN" sz="2000" b="1" dirty="0">
                <a:solidFill>
                  <a:schemeClr val="tx1">
                    <a:lumMod val="75000"/>
                    <a:lumOff val="25000"/>
                  </a:schemeClr>
                </a:solidFill>
                <a:latin typeface="+mj-ea"/>
                <a:ea typeface="+mj-ea"/>
              </a:rPr>
              <a:t>PART TWO</a:t>
            </a:r>
            <a:endParaRPr lang="zh-CN" altLang="en-US" sz="2000" b="1" dirty="0">
              <a:solidFill>
                <a:schemeClr val="tx1">
                  <a:lumMod val="75000"/>
                  <a:lumOff val="25000"/>
                </a:schemeClr>
              </a:solidFill>
              <a:latin typeface="+mj-ea"/>
              <a:ea typeface="+mj-ea"/>
            </a:endParaRPr>
          </a:p>
        </p:txBody>
      </p:sp>
      <p:grpSp>
        <p:nvGrpSpPr>
          <p:cNvPr id="86" name="组合 85"/>
          <p:cNvGrpSpPr/>
          <p:nvPr/>
        </p:nvGrpSpPr>
        <p:grpSpPr>
          <a:xfrm>
            <a:off x="3569158" y="2893284"/>
            <a:ext cx="1427668" cy="98842"/>
            <a:chOff x="3582899" y="2893284"/>
            <a:chExt cx="1427668" cy="98842"/>
          </a:xfrm>
        </p:grpSpPr>
        <p:cxnSp>
          <p:nvCxnSpPr>
            <p:cNvPr id="87" name="直接连接符 86"/>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8" name="椭圆 87"/>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A83F385-C003-3D9C-44C6-526ADA9E742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B939F357-FC68-8072-A4EF-462D03F4F716}"/>
              </a:ext>
            </a:extLst>
          </p:cNvPr>
          <p:cNvSpPr txBox="1"/>
          <p:nvPr/>
        </p:nvSpPr>
        <p:spPr>
          <a:xfrm>
            <a:off x="2307393" y="166826"/>
            <a:ext cx="2937022" cy="461665"/>
          </a:xfrm>
          <a:prstGeom prst="rect">
            <a:avLst/>
          </a:prstGeom>
          <a:noFill/>
        </p:spPr>
        <p:txBody>
          <a:bodyPr wrap="none" rtlCol="0">
            <a:spAutoFit/>
          </a:bodyPr>
          <a:lstStyle/>
          <a:p>
            <a:r>
              <a:rPr lang="en-US" altLang="zh-CN" sz="2400" b="1" spc="100" dirty="0">
                <a:solidFill>
                  <a:schemeClr val="accent1"/>
                </a:solidFill>
                <a:latin typeface="+mj-ea"/>
                <a:ea typeface="+mj-ea"/>
              </a:rPr>
              <a:t>02 </a:t>
            </a:r>
            <a:r>
              <a:rPr lang="zh-CN" altLang="en-US" sz="2400" b="1" spc="100" dirty="0">
                <a:solidFill>
                  <a:schemeClr val="accent1"/>
                </a:solidFill>
                <a:latin typeface="+mj-ea"/>
                <a:ea typeface="+mj-ea"/>
              </a:rPr>
              <a:t>国内外研究现状</a:t>
            </a:r>
          </a:p>
        </p:txBody>
      </p:sp>
      <p:grpSp>
        <p:nvGrpSpPr>
          <p:cNvPr id="8" name="组合 7">
            <a:extLst>
              <a:ext uri="{FF2B5EF4-FFF2-40B4-BE49-F238E27FC236}">
                <a16:creationId xmlns:a16="http://schemas.microsoft.com/office/drawing/2014/main" id="{0BDF5CF2-9074-FFCC-8ADB-C724AF9051C1}"/>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868E3CD8-F629-4D4D-2898-BF4EC5A15DF1}"/>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011795C5-AC5E-62B4-FF4E-B7CBB32CC155}"/>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92BFED4C-DB53-0B9D-C18D-12BAA329A3BD}"/>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E7F8EFEF-6526-9A0E-2842-F7B6CC967592}"/>
              </a:ext>
            </a:extLst>
          </p:cNvPr>
          <p:cNvSpPr/>
          <p:nvPr/>
        </p:nvSpPr>
        <p:spPr>
          <a:xfrm>
            <a:off x="0" y="2401808"/>
            <a:ext cx="1631406" cy="7860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56F60A92-7A8C-B6AD-EB5A-2513B9FC3FFF}"/>
              </a:ext>
            </a:extLst>
          </p:cNvPr>
          <p:cNvSpPr txBox="1"/>
          <p:nvPr/>
        </p:nvSpPr>
        <p:spPr>
          <a:xfrm>
            <a:off x="18051" y="2449165"/>
            <a:ext cx="1613355" cy="738664"/>
          </a:xfrm>
          <a:prstGeom prst="rect">
            <a:avLst/>
          </a:prstGeom>
          <a:noFill/>
        </p:spPr>
        <p:txBody>
          <a:bodyPr wrap="square" rtlCol="0">
            <a:spAutoFit/>
          </a:bodyPr>
          <a:lstStyle/>
          <a:p>
            <a:pPr algn="ctr"/>
            <a:r>
              <a:rPr lang="zh-CN" altLang="en-US" sz="2100" b="1" spc="100" dirty="0">
                <a:solidFill>
                  <a:schemeClr val="bg1"/>
                </a:solidFill>
                <a:latin typeface="+mj-ea"/>
                <a:ea typeface="+mj-ea"/>
              </a:rPr>
              <a:t>国内外研究现状</a:t>
            </a:r>
          </a:p>
        </p:txBody>
      </p:sp>
      <p:sp>
        <p:nvSpPr>
          <p:cNvPr id="4" name="文本框 3">
            <a:extLst>
              <a:ext uri="{FF2B5EF4-FFF2-40B4-BE49-F238E27FC236}">
                <a16:creationId xmlns:a16="http://schemas.microsoft.com/office/drawing/2014/main" id="{185EFE3E-0104-7850-61C4-FD89CD28DEE7}"/>
              </a:ext>
            </a:extLst>
          </p:cNvPr>
          <p:cNvSpPr txBox="1"/>
          <p:nvPr/>
        </p:nvSpPr>
        <p:spPr>
          <a:xfrm>
            <a:off x="2146269" y="613662"/>
            <a:ext cx="2567740" cy="2354491"/>
          </a:xfrm>
          <a:prstGeom prst="rect">
            <a:avLst/>
          </a:prstGeom>
        </p:spPr>
        <p:txBody>
          <a:bodyPr wrap="square">
            <a:spAutoFit/>
          </a:bodyPr>
          <a:lstStyle/>
          <a:p>
            <a:pPr>
              <a:spcBef>
                <a:spcPct val="0"/>
              </a:spcBef>
              <a:spcAft>
                <a:spcPct val="0"/>
              </a:spcAft>
            </a:pPr>
            <a:endParaRPr lang="en-US" altLang="zh-CN" sz="2100" dirty="0">
              <a:solidFill>
                <a:srgbClr val="000000"/>
              </a:solidFill>
              <a:latin typeface="微软雅黑" panose="020B0503020204020204" charset="-122"/>
              <a:ea typeface="微软雅黑" panose="020B0503020204020204" charset="-122"/>
            </a:endParaRPr>
          </a:p>
          <a:p>
            <a:pPr>
              <a:spcBef>
                <a:spcPct val="0"/>
              </a:spcBef>
              <a:spcAft>
                <a:spcPct val="0"/>
              </a:spcAft>
            </a:pPr>
            <a:r>
              <a:rPr lang="en-US" altLang="zh-CN" sz="2100" dirty="0">
                <a:solidFill>
                  <a:srgbClr val="000000"/>
                </a:solidFill>
                <a:latin typeface="微软雅黑" panose="020B0503020204020204" charset="-122"/>
                <a:ea typeface="微软雅黑" panose="020B0503020204020204" charset="-122"/>
              </a:rPr>
              <a:t>Wei</a:t>
            </a:r>
            <a:r>
              <a:rPr lang="zh-CN" altLang="en-US" sz="2100" dirty="0">
                <a:solidFill>
                  <a:srgbClr val="000000"/>
                </a:solidFill>
                <a:latin typeface="微软雅黑" panose="020B0503020204020204" charset="-122"/>
                <a:ea typeface="微软雅黑" panose="020B0503020204020204" charset="-122"/>
              </a:rPr>
              <a:t>等结合机器学习与分光光度法，构建红茶中胭脂红检测模型，定性准确率</a:t>
            </a:r>
            <a:r>
              <a:rPr lang="en-US" altLang="zh-CN" sz="2100" dirty="0">
                <a:solidFill>
                  <a:srgbClr val="000000"/>
                </a:solidFill>
                <a:latin typeface="微软雅黑" panose="020B0503020204020204" charset="-122"/>
                <a:ea typeface="微软雅黑" panose="020B0503020204020204" charset="-122"/>
              </a:rPr>
              <a:t>100%</a:t>
            </a:r>
            <a:r>
              <a:rPr lang="zh-CN" altLang="en-US" sz="2100" dirty="0">
                <a:solidFill>
                  <a:srgbClr val="000000"/>
                </a:solidFill>
                <a:latin typeface="微软雅黑" panose="020B0503020204020204" charset="-122"/>
                <a:ea typeface="微软雅黑" panose="020B0503020204020204" charset="-122"/>
              </a:rPr>
              <a:t>，可快速鉴别掺假行为。</a:t>
            </a:r>
            <a:endParaRPr lang="en-US" altLang="zh-CN" sz="2100" dirty="0">
              <a:solidFill>
                <a:srgbClr val="000000"/>
              </a:solidFill>
              <a:latin typeface="微软雅黑" panose="020B0503020204020204" charset="-122"/>
              <a:ea typeface="微软雅黑" panose="020B0503020204020204" charset="-122"/>
            </a:endParaRPr>
          </a:p>
        </p:txBody>
      </p:sp>
      <p:pic>
        <p:nvPicPr>
          <p:cNvPr id="15" name="图片 14">
            <a:extLst>
              <a:ext uri="{FF2B5EF4-FFF2-40B4-BE49-F238E27FC236}">
                <a16:creationId xmlns:a16="http://schemas.microsoft.com/office/drawing/2014/main" id="{C7796ABE-3C14-2C1B-B765-AB1149D5E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8896" y="2937411"/>
            <a:ext cx="2782486" cy="3653270"/>
          </a:xfrm>
          <a:prstGeom prst="rect">
            <a:avLst/>
          </a:prstGeom>
        </p:spPr>
      </p:pic>
      <p:sp>
        <p:nvSpPr>
          <p:cNvPr id="16" name="文本框 15">
            <a:extLst>
              <a:ext uri="{FF2B5EF4-FFF2-40B4-BE49-F238E27FC236}">
                <a16:creationId xmlns:a16="http://schemas.microsoft.com/office/drawing/2014/main" id="{92BC0D82-EF7F-BCA8-5609-31C90737C068}"/>
              </a:ext>
            </a:extLst>
          </p:cNvPr>
          <p:cNvSpPr txBox="1"/>
          <p:nvPr/>
        </p:nvSpPr>
        <p:spPr>
          <a:xfrm>
            <a:off x="5336244" y="3821229"/>
            <a:ext cx="3440437" cy="2862322"/>
          </a:xfrm>
          <a:prstGeom prst="rect">
            <a:avLst/>
          </a:prstGeom>
        </p:spPr>
        <p:txBody>
          <a:bodyPr wrap="square">
            <a:spAutoFit/>
          </a:bodyPr>
          <a:lstStyle/>
          <a:p>
            <a:pPr>
              <a:spcBef>
                <a:spcPct val="0"/>
              </a:spcBef>
              <a:spcAft>
                <a:spcPct val="0"/>
              </a:spcAft>
            </a:pPr>
            <a:endParaRPr lang="en-US" altLang="zh-CN" b="0" i="0" dirty="0">
              <a:solidFill>
                <a:srgbClr val="000000"/>
              </a:solidFill>
              <a:latin typeface="微软雅黑" panose="020B0503020204020204" charset="-122"/>
              <a:ea typeface="微软雅黑" panose="020B0503020204020204" charset="-122"/>
              <a:cs typeface="微软雅黑" panose="020B0503020204020204" charset="-122"/>
            </a:endParaRPr>
          </a:p>
          <a:p>
            <a:pPr>
              <a:spcBef>
                <a:spcPct val="0"/>
              </a:spcBef>
              <a:spcAft>
                <a:spcPct val="0"/>
              </a:spcAft>
            </a:pPr>
            <a:r>
              <a:rPr lang="zh-CN" altLang="en-US" dirty="0">
                <a:latin typeface="微软雅黑" panose="020B0503020204020204" charset="-122"/>
                <a:ea typeface="微软雅黑" panose="020B0503020204020204" charset="-122"/>
                <a:cs typeface="微软雅黑" panose="020B0503020204020204" charset="-122"/>
              </a:rPr>
              <a:t>哈尔滨工业大学：方国强、哈斯乌力吉教授、林翔副教授等研究团队，创新性地将薄层色谱</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表面增强拉曼光谱技术与机器学习结合，开发出能自动识别农药混合物的方法，执行时间少于</a:t>
            </a:r>
            <a:r>
              <a:rPr lang="en-US" altLang="zh-CN" dirty="0">
                <a:latin typeface="微软雅黑" panose="020B0503020204020204" charset="-122"/>
                <a:ea typeface="微软雅黑" panose="020B0503020204020204" charset="-122"/>
                <a:cs typeface="微软雅黑" panose="020B0503020204020204" charset="-122"/>
              </a:rPr>
              <a:t>5</a:t>
            </a:r>
            <a:r>
              <a:rPr lang="zh-CN" altLang="en-US" dirty="0">
                <a:latin typeface="微软雅黑" panose="020B0503020204020204" charset="-122"/>
                <a:ea typeface="微软雅黑" panose="020B0503020204020204" charset="-122"/>
                <a:cs typeface="微软雅黑" panose="020B0503020204020204" charset="-122"/>
              </a:rPr>
              <a:t>分钟，相关成果发表于顶刊</a:t>
            </a:r>
            <a:r>
              <a:rPr lang="en-US" altLang="zh-CN" dirty="0">
                <a:latin typeface="微软雅黑" panose="020B0503020204020204" charset="-122"/>
                <a:ea typeface="微软雅黑" panose="020B0503020204020204" charset="-122"/>
                <a:cs typeface="微软雅黑" panose="020B0503020204020204" charset="-122"/>
              </a:rPr>
              <a:t>《Journal of Hazardous Materials》</a:t>
            </a:r>
            <a:r>
              <a:rPr lang="zh-CN" altLang="en-US" dirty="0">
                <a:latin typeface="微软雅黑" panose="020B0503020204020204" charset="-122"/>
                <a:ea typeface="微软雅黑" panose="020B0503020204020204" charset="-122"/>
                <a:cs typeface="微软雅黑" panose="020B0503020204020204" charset="-122"/>
              </a:rPr>
              <a:t>。</a:t>
            </a:r>
          </a:p>
        </p:txBody>
      </p:sp>
      <p:pic>
        <p:nvPicPr>
          <p:cNvPr id="19" name="图片 18">
            <a:extLst>
              <a:ext uri="{FF2B5EF4-FFF2-40B4-BE49-F238E27FC236}">
                <a16:creationId xmlns:a16="http://schemas.microsoft.com/office/drawing/2014/main" id="{E2ACDB17-284D-9674-04ED-6269FCCA76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4415" y="915358"/>
            <a:ext cx="3440437" cy="2797421"/>
          </a:xfrm>
          <a:prstGeom prst="rect">
            <a:avLst/>
          </a:prstGeom>
        </p:spPr>
      </p:pic>
      <p:sp>
        <p:nvSpPr>
          <p:cNvPr id="20" name="文本框 19">
            <a:extLst>
              <a:ext uri="{FF2B5EF4-FFF2-40B4-BE49-F238E27FC236}">
                <a16:creationId xmlns:a16="http://schemas.microsoft.com/office/drawing/2014/main" id="{35E71F2C-6F89-8AFB-E824-B2B03198EA04}"/>
              </a:ext>
            </a:extLst>
          </p:cNvPr>
          <p:cNvSpPr txBox="1"/>
          <p:nvPr/>
        </p:nvSpPr>
        <p:spPr>
          <a:xfrm>
            <a:off x="9215259" y="998485"/>
            <a:ext cx="2686006" cy="2031325"/>
          </a:xfrm>
          <a:prstGeom prst="rect">
            <a:avLst/>
          </a:prstGeom>
          <a:noFill/>
        </p:spPr>
        <p:txBody>
          <a:bodyPr wrap="square" rtlCol="0">
            <a:spAutoFit/>
          </a:bodyPr>
          <a:lstStyle/>
          <a:p>
            <a:r>
              <a:rPr lang="zh-CN" altLang="en-US" dirty="0"/>
              <a:t>北京工商大学农产品质量安全追溯技术及应用国家工程研究中心等机构通过人工智能完成食品安全检测、食品安全监管、食品掺假识别、食品追溯等功能</a:t>
            </a:r>
          </a:p>
        </p:txBody>
      </p:sp>
      <p:pic>
        <p:nvPicPr>
          <p:cNvPr id="22" name="图片 21">
            <a:extLst>
              <a:ext uri="{FF2B5EF4-FFF2-40B4-BE49-F238E27FC236}">
                <a16:creationId xmlns:a16="http://schemas.microsoft.com/office/drawing/2014/main" id="{32AC749C-6EA5-9332-F3BC-6F5C7F385A81}"/>
              </a:ext>
            </a:extLst>
          </p:cNvPr>
          <p:cNvPicPr>
            <a:picLocks noChangeAspect="1"/>
          </p:cNvPicPr>
          <p:nvPr/>
        </p:nvPicPr>
        <p:blipFill>
          <a:blip r:embed="rId6" cstate="print">
            <a:extLst>
              <a:ext uri="{28A0092B-C50C-407E-A947-70E740481C1C}">
                <a14:useLocalDpi xmlns:a14="http://schemas.microsoft.com/office/drawing/2010/main" val="0"/>
              </a:ext>
            </a:extLst>
          </a:blip>
          <a:srcRect l="15770" t="39071" r="24624" b="19192"/>
          <a:stretch>
            <a:fillRect/>
          </a:stretch>
        </p:blipFill>
        <p:spPr>
          <a:xfrm>
            <a:off x="9130145" y="3712779"/>
            <a:ext cx="2888882" cy="2553538"/>
          </a:xfrm>
          <a:prstGeom prst="rect">
            <a:avLst/>
          </a:prstGeom>
        </p:spPr>
      </p:pic>
      <p:cxnSp>
        <p:nvCxnSpPr>
          <p:cNvPr id="24" name="直接连接符 23">
            <a:extLst>
              <a:ext uri="{FF2B5EF4-FFF2-40B4-BE49-F238E27FC236}">
                <a16:creationId xmlns:a16="http://schemas.microsoft.com/office/drawing/2014/main" id="{141CAC09-470F-D2BB-FD5E-84C21A42E455}"/>
              </a:ext>
            </a:extLst>
          </p:cNvPr>
          <p:cNvCxnSpPr>
            <a:cxnSpLocks/>
          </p:cNvCxnSpPr>
          <p:nvPr/>
        </p:nvCxnSpPr>
        <p:spPr>
          <a:xfrm>
            <a:off x="4987636" y="1156855"/>
            <a:ext cx="0" cy="5320145"/>
          </a:xfrm>
          <a:prstGeom prst="line">
            <a:avLst/>
          </a:prstGeom>
          <a:ln>
            <a:solidFill>
              <a:srgbClr val="5B73A8"/>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FBB3431-0AB4-9512-272D-5EB190468404}"/>
              </a:ext>
            </a:extLst>
          </p:cNvPr>
          <p:cNvCxnSpPr>
            <a:cxnSpLocks/>
          </p:cNvCxnSpPr>
          <p:nvPr/>
        </p:nvCxnSpPr>
        <p:spPr>
          <a:xfrm>
            <a:off x="8922327" y="1101436"/>
            <a:ext cx="0" cy="5327073"/>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7179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werpoint template design by DAJU_PPT正版来源小红书大橘PPT微信DAJU_PPT请勿抄袭搬运！盗版必究！"/>
          <p:cNvSpPr/>
          <p:nvPr/>
        </p:nvSpPr>
        <p:spPr>
          <a:xfrm>
            <a:off x="351099" y="312517"/>
            <a:ext cx="11489802" cy="6302416"/>
          </a:xfrm>
          <a:prstGeom prst="rect">
            <a:avLst/>
          </a:prstGeom>
          <a:noFill/>
          <a:ln w="190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owerpoint template design by DAJU_PPT正版来源小红书大橘PPT微信DAJU_PPT请勿抄袭搬运！盗版必究！"/>
          <p:cNvSpPr txBox="1"/>
          <p:nvPr/>
        </p:nvSpPr>
        <p:spPr>
          <a:xfrm>
            <a:off x="2407920" y="6249873"/>
            <a:ext cx="7376160" cy="307777"/>
          </a:xfrm>
          <a:prstGeom prst="rect">
            <a:avLst/>
          </a:prstGeom>
          <a:noFill/>
        </p:spPr>
        <p:txBody>
          <a:bodyPr wrap="square">
            <a:spAutoFit/>
          </a:bodyPr>
          <a:lstStyle/>
          <a:p>
            <a:pPr algn="ctr"/>
            <a:r>
              <a:rPr lang="en-US" altLang="zh-CN" sz="1400" dirty="0">
                <a:solidFill>
                  <a:schemeClr val="bg1"/>
                </a:solidFill>
                <a:cs typeface="+mn-ea"/>
                <a:sym typeface="+mn-lt"/>
              </a:rPr>
              <a:t>——</a:t>
            </a:r>
            <a:r>
              <a:rPr lang="en-US" altLang="zh-CN" sz="1400" spc="300" dirty="0">
                <a:solidFill>
                  <a:schemeClr val="bg1"/>
                </a:solidFill>
                <a:cs typeface="+mn-ea"/>
                <a:sym typeface="+mn-lt"/>
              </a:rPr>
              <a:t> </a:t>
            </a:r>
            <a:r>
              <a:rPr lang="zh-CN" altLang="en-US" sz="1400" spc="300" dirty="0">
                <a:solidFill>
                  <a:schemeClr val="bg1"/>
                </a:solidFill>
                <a:cs typeface="+mn-ea"/>
                <a:sym typeface="+mn-lt"/>
              </a:rPr>
              <a:t>艰苦朴素 </a:t>
            </a:r>
            <a:r>
              <a:rPr lang="en-US" altLang="zh-CN" sz="1400" spc="300" dirty="0">
                <a:solidFill>
                  <a:schemeClr val="bg1"/>
                </a:solidFill>
                <a:cs typeface="+mn-ea"/>
                <a:sym typeface="+mn-lt"/>
              </a:rPr>
              <a:t>· </a:t>
            </a:r>
            <a:r>
              <a:rPr lang="zh-CN" altLang="en-US" sz="1400" spc="300" dirty="0">
                <a:solidFill>
                  <a:schemeClr val="bg1"/>
                </a:solidFill>
                <a:cs typeface="+mn-ea"/>
                <a:sym typeface="+mn-lt"/>
              </a:rPr>
              <a:t>实事求是 </a:t>
            </a:r>
            <a:r>
              <a:rPr lang="en-US" altLang="zh-CN" sz="1400" spc="300" dirty="0">
                <a:solidFill>
                  <a:schemeClr val="bg1"/>
                </a:solidFill>
                <a:cs typeface="+mn-ea"/>
                <a:sym typeface="+mn-lt"/>
              </a:rPr>
              <a:t>· </a:t>
            </a:r>
            <a:r>
              <a:rPr lang="zh-CN" altLang="en-US" sz="1400" spc="300" dirty="0">
                <a:solidFill>
                  <a:schemeClr val="bg1"/>
                </a:solidFill>
                <a:cs typeface="+mn-ea"/>
                <a:sym typeface="+mn-lt"/>
              </a:rPr>
              <a:t>严格要求 </a:t>
            </a:r>
            <a:r>
              <a:rPr lang="en-US" altLang="zh-CN" sz="1400" spc="300" dirty="0">
                <a:solidFill>
                  <a:schemeClr val="bg1"/>
                </a:solidFill>
                <a:cs typeface="+mn-ea"/>
                <a:sym typeface="+mn-lt"/>
              </a:rPr>
              <a:t>· </a:t>
            </a:r>
            <a:r>
              <a:rPr lang="zh-CN" altLang="en-US" sz="1400" spc="300" dirty="0">
                <a:solidFill>
                  <a:schemeClr val="bg1"/>
                </a:solidFill>
                <a:cs typeface="+mn-ea"/>
                <a:sym typeface="+mn-lt"/>
              </a:rPr>
              <a:t>勇于探索 </a:t>
            </a:r>
            <a:r>
              <a:rPr lang="en-US" altLang="zh-CN" sz="1400" spc="-150" dirty="0">
                <a:solidFill>
                  <a:schemeClr val="bg1"/>
                </a:solidFill>
                <a:cs typeface="+mn-ea"/>
                <a:sym typeface="+mn-lt"/>
              </a:rPr>
              <a:t>——</a:t>
            </a:r>
          </a:p>
        </p:txBody>
      </p:sp>
      <p:sp>
        <p:nvSpPr>
          <p:cNvPr id="79" name="powerpoint template design by DAJU_PPT正版来源小红书大橘PPT微信DAJU_PPT请勿抄袭搬运！盗版必究！"/>
          <p:cNvSpPr/>
          <p:nvPr/>
        </p:nvSpPr>
        <p:spPr>
          <a:xfrm>
            <a:off x="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5421777" y="1112345"/>
            <a:ext cx="1348447" cy="1200329"/>
          </a:xfrm>
          <a:prstGeom prst="rect">
            <a:avLst/>
          </a:prstGeom>
          <a:noFill/>
        </p:spPr>
        <p:txBody>
          <a:bodyPr wrap="none" rtlCol="0">
            <a:spAutoFit/>
          </a:bodyPr>
          <a:lstStyle/>
          <a:p>
            <a:pPr algn="ctr"/>
            <a:r>
              <a:rPr lang="en-US" altLang="zh-CN" sz="7200" b="1" spc="100" dirty="0">
                <a:solidFill>
                  <a:schemeClr val="accent1"/>
                </a:solidFill>
                <a:latin typeface="+mj-lt"/>
                <a:ea typeface="+mj-ea"/>
              </a:rPr>
              <a:t>03</a:t>
            </a:r>
            <a:endParaRPr lang="zh-CN" altLang="en-US" sz="7200" b="1" spc="100" dirty="0">
              <a:solidFill>
                <a:schemeClr val="accent1"/>
              </a:solidFill>
              <a:latin typeface="+mj-lt"/>
              <a:ea typeface="+mj-ea"/>
            </a:endParaRPr>
          </a:p>
        </p:txBody>
      </p:sp>
      <p:sp>
        <p:nvSpPr>
          <p:cNvPr id="81" name="文本框 80"/>
          <p:cNvSpPr txBox="1"/>
          <p:nvPr/>
        </p:nvSpPr>
        <p:spPr>
          <a:xfrm>
            <a:off x="4618672" y="3404210"/>
            <a:ext cx="2954655" cy="923330"/>
          </a:xfrm>
          <a:prstGeom prst="rect">
            <a:avLst/>
          </a:prstGeom>
          <a:noFill/>
        </p:spPr>
        <p:txBody>
          <a:bodyPr wrap="none" rtlCol="0">
            <a:spAutoFit/>
          </a:bodyPr>
          <a:lstStyle/>
          <a:p>
            <a:r>
              <a:rPr lang="zh-CN" altLang="en-US" sz="5400" b="1" dirty="0">
                <a:latin typeface="+mj-ea"/>
              </a:rPr>
              <a:t>研究内容</a:t>
            </a:r>
          </a:p>
        </p:txBody>
      </p:sp>
      <p:grpSp>
        <p:nvGrpSpPr>
          <p:cNvPr id="82" name="组合 81"/>
          <p:cNvGrpSpPr/>
          <p:nvPr/>
        </p:nvGrpSpPr>
        <p:grpSpPr>
          <a:xfrm flipH="1">
            <a:off x="7195174" y="2893284"/>
            <a:ext cx="1427668" cy="98842"/>
            <a:chOff x="3582899" y="2893284"/>
            <a:chExt cx="1427668" cy="98842"/>
          </a:xfrm>
        </p:grpSpPr>
        <p:cxnSp>
          <p:nvCxnSpPr>
            <p:cNvPr id="83" name="直接连接符 82"/>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文本框 84"/>
          <p:cNvSpPr txBox="1"/>
          <p:nvPr/>
        </p:nvSpPr>
        <p:spPr>
          <a:xfrm>
            <a:off x="5205436" y="2742650"/>
            <a:ext cx="1781129" cy="400110"/>
          </a:xfrm>
          <a:prstGeom prst="rect">
            <a:avLst/>
          </a:prstGeom>
          <a:noFill/>
        </p:spPr>
        <p:txBody>
          <a:bodyPr wrap="none" rtlCol="0">
            <a:spAutoFit/>
          </a:bodyPr>
          <a:lstStyle/>
          <a:p>
            <a:pPr algn="ctr"/>
            <a:r>
              <a:rPr lang="en-US" altLang="zh-CN" sz="2000" b="1" dirty="0">
                <a:solidFill>
                  <a:schemeClr val="tx1">
                    <a:lumMod val="75000"/>
                    <a:lumOff val="25000"/>
                  </a:schemeClr>
                </a:solidFill>
                <a:latin typeface="+mj-ea"/>
                <a:ea typeface="+mj-ea"/>
              </a:rPr>
              <a:t>PART THREE</a:t>
            </a:r>
            <a:endParaRPr lang="zh-CN" altLang="en-US" sz="2000" b="1" dirty="0">
              <a:solidFill>
                <a:schemeClr val="tx1">
                  <a:lumMod val="75000"/>
                  <a:lumOff val="25000"/>
                </a:schemeClr>
              </a:solidFill>
              <a:latin typeface="+mj-ea"/>
              <a:ea typeface="+mj-ea"/>
            </a:endParaRPr>
          </a:p>
        </p:txBody>
      </p:sp>
      <p:grpSp>
        <p:nvGrpSpPr>
          <p:cNvPr id="86" name="组合 85"/>
          <p:cNvGrpSpPr/>
          <p:nvPr/>
        </p:nvGrpSpPr>
        <p:grpSpPr>
          <a:xfrm>
            <a:off x="3569158" y="2893284"/>
            <a:ext cx="1427668" cy="98842"/>
            <a:chOff x="3582899" y="2893284"/>
            <a:chExt cx="1427668" cy="98842"/>
          </a:xfrm>
        </p:grpSpPr>
        <p:cxnSp>
          <p:nvCxnSpPr>
            <p:cNvPr id="87" name="直接连接符 86"/>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8" name="椭圆 87"/>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AB7CE68-DD6D-E18E-AD86-AB11A968A35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ADDF2656-DB2B-BD7C-9EDE-6D4058B0E26C}"/>
              </a:ext>
            </a:extLst>
          </p:cNvPr>
          <p:cNvSpPr txBox="1"/>
          <p:nvPr/>
        </p:nvSpPr>
        <p:spPr>
          <a:xfrm>
            <a:off x="2307393" y="166826"/>
            <a:ext cx="1571264" cy="461665"/>
          </a:xfrm>
          <a:prstGeom prst="rect">
            <a:avLst/>
          </a:prstGeom>
          <a:noFill/>
        </p:spPr>
        <p:txBody>
          <a:bodyPr wrap="none" rtlCol="0">
            <a:spAutoFit/>
          </a:bodyPr>
          <a:lstStyle/>
          <a:p>
            <a:r>
              <a:rPr lang="en-US" altLang="zh-CN" sz="2400" b="1" spc="100" dirty="0">
                <a:solidFill>
                  <a:schemeClr val="accent1"/>
                </a:solidFill>
                <a:latin typeface="+mj-ea"/>
                <a:ea typeface="+mj-ea"/>
              </a:rPr>
              <a:t> </a:t>
            </a:r>
            <a:r>
              <a:rPr lang="zh-CN" altLang="en-US" sz="2400" b="1" spc="100" dirty="0">
                <a:solidFill>
                  <a:schemeClr val="accent1"/>
                </a:solidFill>
                <a:latin typeface="+mj-ea"/>
                <a:ea typeface="+mj-ea"/>
              </a:rPr>
              <a:t>研究内容</a:t>
            </a:r>
          </a:p>
        </p:txBody>
      </p:sp>
      <p:grpSp>
        <p:nvGrpSpPr>
          <p:cNvPr id="8" name="组合 7">
            <a:extLst>
              <a:ext uri="{FF2B5EF4-FFF2-40B4-BE49-F238E27FC236}">
                <a16:creationId xmlns:a16="http://schemas.microsoft.com/office/drawing/2014/main" id="{E0E78032-AA27-E1AC-2090-974C1367CB61}"/>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08F47ED5-726F-4563-A570-90F1C3A64FDB}"/>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F920D659-0013-D167-8795-2A939F1B3C0A}"/>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矩形 51">
            <a:extLst>
              <a:ext uri="{FF2B5EF4-FFF2-40B4-BE49-F238E27FC236}">
                <a16:creationId xmlns:a16="http://schemas.microsoft.com/office/drawing/2014/main" id="{F3D6A110-06AF-1F47-4B70-36243D482D4C}"/>
              </a:ext>
            </a:extLst>
          </p:cNvPr>
          <p:cNvSpPr/>
          <p:nvPr/>
        </p:nvSpPr>
        <p:spPr>
          <a:xfrm>
            <a:off x="0" y="2401808"/>
            <a:ext cx="1631406" cy="5322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5D629AFB-1171-8F56-C21D-29CD14B941F6}"/>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研究内容</a:t>
            </a:r>
          </a:p>
        </p:txBody>
      </p:sp>
      <p:sp>
        <p:nvSpPr>
          <p:cNvPr id="19" name="矩形 18">
            <a:extLst>
              <a:ext uri="{FF2B5EF4-FFF2-40B4-BE49-F238E27FC236}">
                <a16:creationId xmlns:a16="http://schemas.microsoft.com/office/drawing/2014/main" id="{FA703694-45AD-838B-F3E0-89F771799EE9}"/>
              </a:ext>
            </a:extLst>
          </p:cNvPr>
          <p:cNvSpPr/>
          <p:nvPr/>
        </p:nvSpPr>
        <p:spPr>
          <a:xfrm>
            <a:off x="18051" y="2401809"/>
            <a:ext cx="1631406" cy="46285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4D4C56A-471C-6505-9022-4CA21D0C1ED1}"/>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研究内容</a:t>
            </a:r>
          </a:p>
        </p:txBody>
      </p:sp>
      <p:sp>
        <p:nvSpPr>
          <p:cNvPr id="21" name="文本框 20">
            <a:extLst>
              <a:ext uri="{FF2B5EF4-FFF2-40B4-BE49-F238E27FC236}">
                <a16:creationId xmlns:a16="http://schemas.microsoft.com/office/drawing/2014/main" id="{2BF6BF96-FAA6-156C-3A22-BF8FCD134306}"/>
              </a:ext>
            </a:extLst>
          </p:cNvPr>
          <p:cNvSpPr txBox="1"/>
          <p:nvPr/>
        </p:nvSpPr>
        <p:spPr>
          <a:xfrm>
            <a:off x="1813763" y="785365"/>
            <a:ext cx="11013692" cy="969496"/>
          </a:xfrm>
          <a:prstGeom prst="rect">
            <a:avLst/>
          </a:prstGeom>
        </p:spPr>
        <p:txBody>
          <a:bodyPr wrap="square">
            <a:spAutoFit/>
          </a:bodyPr>
          <a:lstStyle/>
          <a:p>
            <a:pPr marL="1143000" lvl="2" algn="just" defTabSz="266700">
              <a:lnSpc>
                <a:spcPct val="150000"/>
              </a:lnSpc>
              <a:spcAft>
                <a:spcPts val="600"/>
              </a:spcAft>
              <a:defRPr/>
            </a:pPr>
            <a:r>
              <a:rPr lang="zh-CN" altLang="en-US" sz="2400" b="1" spc="100" dirty="0">
                <a:solidFill>
                  <a:schemeClr val="tx1">
                    <a:lumMod val="95000"/>
                    <a:lumOff val="5000"/>
                  </a:schemeClr>
                </a:solidFill>
                <a:latin typeface="+mj-ea"/>
                <a:ea typeface="+mj-ea"/>
              </a:rPr>
              <a:t>利用智能手机普及性 </a:t>
            </a:r>
            <a:r>
              <a:rPr lang="en-US" altLang="zh-CN" sz="2400" b="1" spc="100" dirty="0">
                <a:solidFill>
                  <a:schemeClr val="tx1">
                    <a:lumMod val="95000"/>
                    <a:lumOff val="5000"/>
                  </a:schemeClr>
                </a:solidFill>
                <a:latin typeface="+mj-ea"/>
                <a:ea typeface="+mj-ea"/>
              </a:rPr>
              <a:t>+ AI</a:t>
            </a:r>
            <a:r>
              <a:rPr lang="zh-CN" altLang="en-US" sz="2400" b="1" spc="100" dirty="0">
                <a:solidFill>
                  <a:schemeClr val="tx1">
                    <a:lumMod val="95000"/>
                    <a:lumOff val="5000"/>
                  </a:schemeClr>
                </a:solidFill>
                <a:latin typeface="+mj-ea"/>
                <a:ea typeface="+mj-ea"/>
              </a:rPr>
              <a:t>算法，实现智能光谱分析</a:t>
            </a:r>
          </a:p>
          <a:p>
            <a:endParaRPr lang="zh-CN" altLang="en-US" sz="1600" b="1" dirty="0">
              <a:solidFill>
                <a:srgbClr val="003596"/>
              </a:solidFill>
              <a:latin typeface="微软雅黑" panose="020B0503020204020204" charset="-122"/>
              <a:ea typeface="微软雅黑" panose="020B0503020204020204" charset="-122"/>
            </a:endParaRPr>
          </a:p>
        </p:txBody>
      </p:sp>
      <p:grpSp>
        <p:nvGrpSpPr>
          <p:cNvPr id="22" name="组合 21">
            <a:extLst>
              <a:ext uri="{FF2B5EF4-FFF2-40B4-BE49-F238E27FC236}">
                <a16:creationId xmlns:a16="http://schemas.microsoft.com/office/drawing/2014/main" id="{A2F74A13-0935-687F-CBE8-FBD944CE7189}"/>
              </a:ext>
            </a:extLst>
          </p:cNvPr>
          <p:cNvGrpSpPr/>
          <p:nvPr/>
        </p:nvGrpSpPr>
        <p:grpSpPr>
          <a:xfrm>
            <a:off x="6584174" y="3523509"/>
            <a:ext cx="5956168" cy="1755045"/>
            <a:chOff x="5562732" y="3492771"/>
            <a:chExt cx="5956168" cy="1755045"/>
          </a:xfrm>
        </p:grpSpPr>
        <p:sp>
          <p:nvSpPr>
            <p:cNvPr id="23" name="任意多边形 4">
              <a:extLst>
                <a:ext uri="{FF2B5EF4-FFF2-40B4-BE49-F238E27FC236}">
                  <a16:creationId xmlns:a16="http://schemas.microsoft.com/office/drawing/2014/main" id="{D6E6D8C0-660F-8B26-DCF8-E290E35085CE}"/>
                </a:ext>
              </a:extLst>
            </p:cNvPr>
            <p:cNvSpPr/>
            <p:nvPr/>
          </p:nvSpPr>
          <p:spPr bwMode="auto">
            <a:xfrm rot="8579122">
              <a:off x="5562732" y="3492771"/>
              <a:ext cx="1730288" cy="1755045"/>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3778"/>
            </a:solidFill>
            <a:ln>
              <a:noFill/>
            </a:ln>
            <a:effectLst/>
          </p:spPr>
          <p:txBody>
            <a:bodyPr wrap="square" lIns="91440" tIns="45720" rIns="91440" bIns="4572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Segoe UI Light" panose="020B0502040204020203"/>
                <a:ea typeface="微软雅黑 Light" panose="020B0502040204020203" charset="-122"/>
              </a:endParaRPr>
            </a:p>
          </p:txBody>
        </p:sp>
        <p:sp>
          <p:nvSpPr>
            <p:cNvPr id="24" name="文本框 23">
              <a:extLst>
                <a:ext uri="{FF2B5EF4-FFF2-40B4-BE49-F238E27FC236}">
                  <a16:creationId xmlns:a16="http://schemas.microsoft.com/office/drawing/2014/main" id="{322E0F7B-3281-9BD0-3B06-D432A75E87C6}"/>
                </a:ext>
              </a:extLst>
            </p:cNvPr>
            <p:cNvSpPr txBox="1"/>
            <p:nvPr/>
          </p:nvSpPr>
          <p:spPr>
            <a:xfrm>
              <a:off x="5867974" y="3907150"/>
              <a:ext cx="1094015" cy="1014730"/>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id-ID" sz="6000" b="1" i="0" u="none" strike="noStrike" kern="0" cap="none" spc="0" normalizeH="0" baseline="0" noProof="0" dirty="0">
                  <a:ln>
                    <a:noFill/>
                  </a:ln>
                  <a:solidFill>
                    <a:srgbClr val="FFFFFF"/>
                  </a:solidFill>
                  <a:effectLst/>
                  <a:uLnTx/>
                  <a:uFillTx/>
                  <a:latin typeface="Segoe UI Light" panose="020B0502040204020203"/>
                  <a:ea typeface="微软雅黑 Light" panose="020B0502040204020203" charset="-122"/>
                </a:rPr>
                <a:t>4</a:t>
              </a:r>
            </a:p>
          </p:txBody>
        </p:sp>
        <p:grpSp>
          <p:nvGrpSpPr>
            <p:cNvPr id="25" name="组合 24">
              <a:extLst>
                <a:ext uri="{FF2B5EF4-FFF2-40B4-BE49-F238E27FC236}">
                  <a16:creationId xmlns:a16="http://schemas.microsoft.com/office/drawing/2014/main" id="{49C61357-DE20-B2B0-7AE7-731CCA9AC80E}"/>
                </a:ext>
              </a:extLst>
            </p:cNvPr>
            <p:cNvGrpSpPr/>
            <p:nvPr/>
          </p:nvGrpSpPr>
          <p:grpSpPr>
            <a:xfrm flipV="1">
              <a:off x="6776924" y="4272839"/>
              <a:ext cx="1532965" cy="336176"/>
              <a:chOff x="6508376" y="1129553"/>
              <a:chExt cx="1532965" cy="336176"/>
            </a:xfrm>
          </p:grpSpPr>
          <p:cxnSp>
            <p:nvCxnSpPr>
              <p:cNvPr id="28" name="直接连接符 27">
                <a:extLst>
                  <a:ext uri="{FF2B5EF4-FFF2-40B4-BE49-F238E27FC236}">
                    <a16:creationId xmlns:a16="http://schemas.microsoft.com/office/drawing/2014/main" id="{89812852-C95B-45B8-24BD-88E553C81188}"/>
                  </a:ext>
                </a:extLst>
              </p:cNvPr>
              <p:cNvCxnSpPr/>
              <p:nvPr/>
            </p:nvCxnSpPr>
            <p:spPr>
              <a:xfrm flipV="1">
                <a:off x="6508376" y="1129553"/>
                <a:ext cx="336177" cy="336176"/>
              </a:xfrm>
              <a:prstGeom prst="line">
                <a:avLst/>
              </a:prstGeom>
              <a:noFill/>
              <a:ln w="6350" cap="flat" cmpd="sng" algn="ctr">
                <a:solidFill>
                  <a:srgbClr val="FFFFFF">
                    <a:lumMod val="50000"/>
                  </a:srgbClr>
                </a:solidFill>
                <a:prstDash val="solid"/>
                <a:miter lim="800000"/>
              </a:ln>
              <a:effectLst/>
            </p:spPr>
          </p:cxnSp>
          <p:cxnSp>
            <p:nvCxnSpPr>
              <p:cNvPr id="29" name="直接连接符 28">
                <a:extLst>
                  <a:ext uri="{FF2B5EF4-FFF2-40B4-BE49-F238E27FC236}">
                    <a16:creationId xmlns:a16="http://schemas.microsoft.com/office/drawing/2014/main" id="{85D99C90-59A7-3203-F147-A80F6913AB17}"/>
                  </a:ext>
                </a:extLst>
              </p:cNvPr>
              <p:cNvCxnSpPr/>
              <p:nvPr/>
            </p:nvCxnSpPr>
            <p:spPr>
              <a:xfrm>
                <a:off x="6844553" y="1129553"/>
                <a:ext cx="1196788" cy="0"/>
              </a:xfrm>
              <a:prstGeom prst="line">
                <a:avLst/>
              </a:prstGeom>
              <a:noFill/>
              <a:ln w="6350" cap="flat" cmpd="sng" algn="ctr">
                <a:solidFill>
                  <a:srgbClr val="FFFFFF">
                    <a:lumMod val="50000"/>
                  </a:srgbClr>
                </a:solidFill>
                <a:prstDash val="solid"/>
                <a:miter lim="800000"/>
              </a:ln>
              <a:effectLst/>
            </p:spPr>
          </p:cxnSp>
        </p:grpSp>
        <p:sp>
          <p:nvSpPr>
            <p:cNvPr id="26" name="文本框 25">
              <a:extLst>
                <a:ext uri="{FF2B5EF4-FFF2-40B4-BE49-F238E27FC236}">
                  <a16:creationId xmlns:a16="http://schemas.microsoft.com/office/drawing/2014/main" id="{1E9425E4-5402-FE96-EE81-BE1A134EE782}"/>
                </a:ext>
              </a:extLst>
            </p:cNvPr>
            <p:cNvSpPr txBox="1"/>
            <p:nvPr/>
          </p:nvSpPr>
          <p:spPr>
            <a:xfrm>
              <a:off x="8386003" y="4433423"/>
              <a:ext cx="3132897" cy="417358"/>
            </a:xfrm>
            <a:prstGeom prst="rect">
              <a:avLst/>
            </a:prstGeom>
          </p:spPr>
          <p:txBody>
            <a:bodyPr vert="horz" wrap="square" lIns="91440" tIns="45720" rIns="91440" bIns="45720">
              <a:spAutoFit/>
            </a:bodyPr>
            <a:lstStyle/>
            <a:p>
              <a:pPr marL="0" marR="0" lvl="0" indent="0" defTabSz="914400" eaLnBrk="1" fontAlgn="auto" latinLnBrk="0" hangingPunct="1">
                <a:lnSpc>
                  <a:spcPct val="130000"/>
                </a:lnSpc>
                <a:spcBef>
                  <a:spcPts val="0"/>
                </a:spcBef>
                <a:spcAft>
                  <a:spcPts val="0"/>
                </a:spcAft>
                <a:buClrTx/>
                <a:buSzTx/>
                <a:buFontTx/>
                <a:buNone/>
                <a:defRPr/>
              </a:pPr>
              <a:r>
                <a:rPr lang="zh-CN" altLang="en-US" dirty="0">
                  <a:solidFill>
                    <a:srgbClr val="000000"/>
                  </a:solidFill>
                  <a:latin typeface="微软雅黑" panose="020B0503020204020204" charset="-122"/>
                  <a:ea typeface="微软雅黑" panose="020B0503020204020204" charset="-122"/>
                  <a:sym typeface="+mn-ea"/>
                </a:rPr>
                <a:t>系统集成与</a:t>
              </a:r>
              <a:r>
                <a:rPr lang="en-US" altLang="zh-CN" dirty="0">
                  <a:solidFill>
                    <a:srgbClr val="000000"/>
                  </a:solidFill>
                  <a:latin typeface="微软雅黑" panose="020B0503020204020204" charset="-122"/>
                  <a:ea typeface="微软雅黑" panose="020B0503020204020204" charset="-122"/>
                  <a:sym typeface="+mn-ea"/>
                </a:rPr>
                <a:t>AI</a:t>
              </a:r>
              <a:r>
                <a:rPr lang="zh-CN" altLang="en-US" dirty="0">
                  <a:solidFill>
                    <a:srgbClr val="000000"/>
                  </a:solidFill>
                  <a:latin typeface="微软雅黑" panose="020B0503020204020204" charset="-122"/>
                  <a:ea typeface="微软雅黑" panose="020B0503020204020204" charset="-122"/>
                  <a:sym typeface="+mn-ea"/>
                </a:rPr>
                <a:t>性能优化</a:t>
              </a:r>
              <a:endParaRPr lang="zh-CN" altLang="en-US" dirty="0">
                <a:solidFill>
                  <a:srgbClr val="000000"/>
                </a:solidFill>
                <a:latin typeface="微软雅黑" panose="020B0503020204020204" charset="-122"/>
                <a:ea typeface="微软雅黑" panose="020B0503020204020204" charset="-122"/>
              </a:endParaRPr>
            </a:p>
          </p:txBody>
        </p:sp>
        <p:sp>
          <p:nvSpPr>
            <p:cNvPr id="27" name="文本框 26">
              <a:extLst>
                <a:ext uri="{FF2B5EF4-FFF2-40B4-BE49-F238E27FC236}">
                  <a16:creationId xmlns:a16="http://schemas.microsoft.com/office/drawing/2014/main" id="{7D185623-840C-4DC7-2A4C-84CBF3DDCD9B}"/>
                </a:ext>
              </a:extLst>
            </p:cNvPr>
            <p:cNvSpPr txBox="1"/>
            <p:nvPr/>
          </p:nvSpPr>
          <p:spPr>
            <a:xfrm>
              <a:off x="8412969" y="3800549"/>
              <a:ext cx="1712328" cy="581057"/>
            </a:xfrm>
            <a:prstGeom prst="rect">
              <a:avLst/>
            </a:prstGeom>
            <a:noFill/>
          </p:spPr>
          <p:txBody>
            <a:bodyPr wrap="none">
              <a:spAutoFit/>
            </a:bodyPr>
            <a:lstStyle>
              <a:defPPr>
                <a:defRPr lang="zh-CN"/>
              </a:defPPr>
              <a:lvl1pPr algn="r">
                <a:defRPr sz="2400" b="1">
                  <a:solidFill>
                    <a:schemeClr val="tx1">
                      <a:lumMod val="95000"/>
                      <a:lumOff val="5000"/>
                    </a:schemeClr>
                  </a:solidFill>
                  <a:latin typeface="+mj-lt"/>
                  <a:ea typeface="+mj-ea"/>
                </a:defRPr>
              </a:lvl1pPr>
            </a:lstStyle>
            <a:p>
              <a:pPr marL="171450" marR="0" lvl="0" indent="-171450" algn="just" defTabSz="266700" fontAlgn="auto">
                <a:lnSpc>
                  <a:spcPct val="150000"/>
                </a:lnSpc>
                <a:spcBef>
                  <a:spcPct val="0"/>
                </a:spcBef>
                <a:spcAft>
                  <a:spcPct val="0"/>
                </a:spcAft>
                <a:buClrTx/>
                <a:buSzTx/>
                <a:buFont typeface="Wingdings" panose="05000000000000000000" charset="0"/>
                <a:buChar char="Ø"/>
                <a:defRPr/>
              </a:pPr>
              <a:r>
                <a:rPr lang="zh-CN" altLang="en-US" spc="100" dirty="0">
                  <a:solidFill>
                    <a:schemeClr val="accent1"/>
                  </a:solidFill>
                  <a:latin typeface="+mj-ea"/>
                  <a:sym typeface="+mn-ea"/>
                </a:rPr>
                <a:t>全面测试</a:t>
              </a:r>
            </a:p>
          </p:txBody>
        </p:sp>
      </p:grpSp>
      <p:grpSp>
        <p:nvGrpSpPr>
          <p:cNvPr id="30" name="组合 29">
            <a:extLst>
              <a:ext uri="{FF2B5EF4-FFF2-40B4-BE49-F238E27FC236}">
                <a16:creationId xmlns:a16="http://schemas.microsoft.com/office/drawing/2014/main" id="{EFFC2900-9A5B-11C5-E6B7-F7D65ACC5AF3}"/>
              </a:ext>
            </a:extLst>
          </p:cNvPr>
          <p:cNvGrpSpPr/>
          <p:nvPr/>
        </p:nvGrpSpPr>
        <p:grpSpPr>
          <a:xfrm>
            <a:off x="1702630" y="1526129"/>
            <a:ext cx="5802447" cy="2120512"/>
            <a:chOff x="681188" y="1495391"/>
            <a:chExt cx="5802447" cy="2120512"/>
          </a:xfrm>
        </p:grpSpPr>
        <p:sp>
          <p:nvSpPr>
            <p:cNvPr id="31" name="任意多边形 13">
              <a:extLst>
                <a:ext uri="{FF2B5EF4-FFF2-40B4-BE49-F238E27FC236}">
                  <a16:creationId xmlns:a16="http://schemas.microsoft.com/office/drawing/2014/main" id="{D9800DC6-B947-6721-F0DB-6D584F59E3B9}"/>
                </a:ext>
              </a:extLst>
            </p:cNvPr>
            <p:cNvSpPr/>
            <p:nvPr/>
          </p:nvSpPr>
          <p:spPr bwMode="auto">
            <a:xfrm rot="19397468">
              <a:off x="4753347" y="1860858"/>
              <a:ext cx="1730288" cy="1755045"/>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3778"/>
            </a:solidFill>
            <a:ln>
              <a:noFill/>
            </a:ln>
            <a:effectLst/>
          </p:spPr>
          <p:txBody>
            <a:bodyPr wrap="square" lIns="91440" tIns="45720" rIns="91440" bIns="4572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Segoe UI Light" panose="020B0502040204020203"/>
                <a:ea typeface="微软雅黑 Light" panose="020B0502040204020203" charset="-122"/>
              </a:endParaRPr>
            </a:p>
          </p:txBody>
        </p:sp>
        <p:sp>
          <p:nvSpPr>
            <p:cNvPr id="32" name="文本框 31">
              <a:extLst>
                <a:ext uri="{FF2B5EF4-FFF2-40B4-BE49-F238E27FC236}">
                  <a16:creationId xmlns:a16="http://schemas.microsoft.com/office/drawing/2014/main" id="{20DF04CF-8CA1-6554-BF52-61763785A9BA}"/>
                </a:ext>
              </a:extLst>
            </p:cNvPr>
            <p:cNvSpPr txBox="1"/>
            <p:nvPr/>
          </p:nvSpPr>
          <p:spPr>
            <a:xfrm>
              <a:off x="5039189" y="2096112"/>
              <a:ext cx="1094015" cy="1014730"/>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6000" b="1" i="0" u="none" strike="noStrike" kern="0" cap="none" spc="0" normalizeH="0" baseline="0" noProof="0" dirty="0">
                  <a:ln>
                    <a:noFill/>
                  </a:ln>
                  <a:solidFill>
                    <a:srgbClr val="FFFFFF"/>
                  </a:solidFill>
                  <a:effectLst/>
                  <a:uLnTx/>
                  <a:uFillTx/>
                  <a:latin typeface="Segoe UI Light" panose="020B0502040204020203"/>
                  <a:ea typeface="微软雅黑 Light" panose="020B0502040204020203" charset="-122"/>
                </a:rPr>
                <a:t>1</a:t>
              </a:r>
            </a:p>
          </p:txBody>
        </p:sp>
        <p:grpSp>
          <p:nvGrpSpPr>
            <p:cNvPr id="33" name="组合 32">
              <a:extLst>
                <a:ext uri="{FF2B5EF4-FFF2-40B4-BE49-F238E27FC236}">
                  <a16:creationId xmlns:a16="http://schemas.microsoft.com/office/drawing/2014/main" id="{F19D645A-8DD1-228A-1517-999CCFF20D85}"/>
                </a:ext>
              </a:extLst>
            </p:cNvPr>
            <p:cNvGrpSpPr/>
            <p:nvPr/>
          </p:nvGrpSpPr>
          <p:grpSpPr>
            <a:xfrm flipH="1">
              <a:off x="3740855" y="2215687"/>
              <a:ext cx="1532965" cy="336176"/>
              <a:chOff x="6508376" y="1129553"/>
              <a:chExt cx="1532965" cy="336176"/>
            </a:xfrm>
          </p:grpSpPr>
          <p:cxnSp>
            <p:nvCxnSpPr>
              <p:cNvPr id="36" name="直接连接符 35">
                <a:extLst>
                  <a:ext uri="{FF2B5EF4-FFF2-40B4-BE49-F238E27FC236}">
                    <a16:creationId xmlns:a16="http://schemas.microsoft.com/office/drawing/2014/main" id="{E5ED89AD-0C7C-4DB9-8707-5408DA08AC68}"/>
                  </a:ext>
                </a:extLst>
              </p:cNvPr>
              <p:cNvCxnSpPr/>
              <p:nvPr/>
            </p:nvCxnSpPr>
            <p:spPr>
              <a:xfrm flipV="1">
                <a:off x="6508376" y="1129553"/>
                <a:ext cx="336177" cy="336176"/>
              </a:xfrm>
              <a:prstGeom prst="line">
                <a:avLst/>
              </a:prstGeom>
              <a:noFill/>
              <a:ln w="6350" cap="flat" cmpd="sng" algn="ctr">
                <a:solidFill>
                  <a:srgbClr val="FFFFFF">
                    <a:lumMod val="50000"/>
                  </a:srgbClr>
                </a:solidFill>
                <a:prstDash val="solid"/>
                <a:miter lim="800000"/>
              </a:ln>
              <a:effectLst/>
            </p:spPr>
          </p:cxnSp>
          <p:cxnSp>
            <p:nvCxnSpPr>
              <p:cNvPr id="37" name="直接连接符 36">
                <a:extLst>
                  <a:ext uri="{FF2B5EF4-FFF2-40B4-BE49-F238E27FC236}">
                    <a16:creationId xmlns:a16="http://schemas.microsoft.com/office/drawing/2014/main" id="{B2301718-F558-2FAA-AA7B-C610F5A4D601}"/>
                  </a:ext>
                </a:extLst>
              </p:cNvPr>
              <p:cNvCxnSpPr/>
              <p:nvPr/>
            </p:nvCxnSpPr>
            <p:spPr>
              <a:xfrm>
                <a:off x="6844553" y="1129553"/>
                <a:ext cx="1196788" cy="0"/>
              </a:xfrm>
              <a:prstGeom prst="line">
                <a:avLst/>
              </a:prstGeom>
              <a:noFill/>
              <a:ln w="6350" cap="flat" cmpd="sng" algn="ctr">
                <a:solidFill>
                  <a:srgbClr val="FFFFFF">
                    <a:lumMod val="50000"/>
                  </a:srgbClr>
                </a:solidFill>
                <a:prstDash val="solid"/>
                <a:miter lim="800000"/>
              </a:ln>
              <a:effectLst/>
            </p:spPr>
          </p:cxnSp>
        </p:grpSp>
        <p:sp>
          <p:nvSpPr>
            <p:cNvPr id="34" name="文本框 33">
              <a:extLst>
                <a:ext uri="{FF2B5EF4-FFF2-40B4-BE49-F238E27FC236}">
                  <a16:creationId xmlns:a16="http://schemas.microsoft.com/office/drawing/2014/main" id="{8A9FA93F-8C3F-53F0-F782-1A7918C25953}"/>
                </a:ext>
              </a:extLst>
            </p:cNvPr>
            <p:cNvSpPr txBox="1"/>
            <p:nvPr/>
          </p:nvSpPr>
          <p:spPr>
            <a:xfrm>
              <a:off x="896832" y="2101502"/>
              <a:ext cx="3054270" cy="777457"/>
            </a:xfrm>
            <a:prstGeom prst="rect">
              <a:avLst/>
            </a:prstGeom>
          </p:spPr>
          <p:txBody>
            <a:bodyPr vert="horz" wrap="square" lIns="91440" tIns="45720" rIns="91440" bIns="45720">
              <a:spAutoFit/>
            </a:bodyPr>
            <a:lstStyle/>
            <a:p>
              <a:pPr marL="0" marR="0" lvl="0" indent="0" algn="l" defTabSz="914400" eaLnBrk="1" fontAlgn="auto" latinLnBrk="0" hangingPunct="1">
                <a:lnSpc>
                  <a:spcPct val="130000"/>
                </a:lnSpc>
                <a:spcBef>
                  <a:spcPts val="0"/>
                </a:spcBef>
                <a:spcAft>
                  <a:spcPts val="0"/>
                </a:spcAft>
                <a:buClrTx/>
                <a:buSzTx/>
                <a:buFontTx/>
                <a:buNone/>
                <a:defRPr/>
              </a:pPr>
              <a:r>
                <a:rPr lang="zh-CN" altLang="en-US" dirty="0">
                  <a:solidFill>
                    <a:srgbClr val="000000"/>
                  </a:solidFill>
                  <a:latin typeface="微软雅黑" panose="020B0503020204020204" charset="-122"/>
                  <a:ea typeface="微软雅黑" panose="020B0503020204020204" charset="-122"/>
                  <a:sym typeface="+mn-ea"/>
                </a:rPr>
                <a:t>结合多光谱成像技术，采集果蔬表面光谱信号</a:t>
              </a:r>
              <a:endParaRPr lang="zh-CN" altLang="en-US" dirty="0">
                <a:solidFill>
                  <a:srgbClr val="000000"/>
                </a:solidFill>
                <a:latin typeface="微软雅黑" panose="020B0503020204020204" charset="-122"/>
                <a:ea typeface="微软雅黑" panose="020B0503020204020204" charset="-122"/>
              </a:endParaRPr>
            </a:p>
          </p:txBody>
        </p:sp>
        <p:sp>
          <p:nvSpPr>
            <p:cNvPr id="35" name="文本框 34">
              <a:extLst>
                <a:ext uri="{FF2B5EF4-FFF2-40B4-BE49-F238E27FC236}">
                  <a16:creationId xmlns:a16="http://schemas.microsoft.com/office/drawing/2014/main" id="{B7D2062A-1EFF-C386-1955-CDB599107ADA}"/>
                </a:ext>
              </a:extLst>
            </p:cNvPr>
            <p:cNvSpPr txBox="1"/>
            <p:nvPr/>
          </p:nvSpPr>
          <p:spPr>
            <a:xfrm>
              <a:off x="681188" y="1495391"/>
              <a:ext cx="2994731" cy="581057"/>
            </a:xfrm>
            <a:prstGeom prst="rect">
              <a:avLst/>
            </a:prstGeom>
            <a:noFill/>
          </p:spPr>
          <p:txBody>
            <a:bodyPr wrap="square">
              <a:spAutoFit/>
            </a:bodyPr>
            <a:lstStyle/>
            <a:p>
              <a:pPr marL="171450" indent="-171450" algn="just" defTabSz="266700">
                <a:lnSpc>
                  <a:spcPct val="150000"/>
                </a:lnSpc>
                <a:spcBef>
                  <a:spcPct val="0"/>
                </a:spcBef>
                <a:spcAft>
                  <a:spcPct val="0"/>
                </a:spcAft>
                <a:buFont typeface="Wingdings" panose="05000000000000000000" charset="0"/>
                <a:buChar char="Ø"/>
                <a:defRPr/>
              </a:pPr>
              <a:r>
                <a:rPr lang="zh-CN" altLang="en-US" sz="2400" b="1" spc="100" dirty="0">
                  <a:solidFill>
                    <a:schemeClr val="accent1"/>
                  </a:solidFill>
                  <a:latin typeface="+mj-ea"/>
                  <a:ea typeface="+mj-ea"/>
                  <a:sym typeface="+mn-ea"/>
                </a:rPr>
                <a:t>外接光源附件</a:t>
              </a:r>
            </a:p>
          </p:txBody>
        </p:sp>
      </p:grpSp>
      <p:grpSp>
        <p:nvGrpSpPr>
          <p:cNvPr id="38" name="组合 37">
            <a:extLst>
              <a:ext uri="{FF2B5EF4-FFF2-40B4-BE49-F238E27FC236}">
                <a16:creationId xmlns:a16="http://schemas.microsoft.com/office/drawing/2014/main" id="{5709DB61-F77B-A787-A6EC-7CDBCC171907}"/>
              </a:ext>
            </a:extLst>
          </p:cNvPr>
          <p:cNvGrpSpPr/>
          <p:nvPr/>
        </p:nvGrpSpPr>
        <p:grpSpPr>
          <a:xfrm>
            <a:off x="1681843" y="3135652"/>
            <a:ext cx="5424584" cy="2649036"/>
            <a:chOff x="660401" y="3104914"/>
            <a:chExt cx="5424584" cy="2649036"/>
          </a:xfrm>
        </p:grpSpPr>
        <p:sp>
          <p:nvSpPr>
            <p:cNvPr id="39" name="任意多边形 23">
              <a:extLst>
                <a:ext uri="{FF2B5EF4-FFF2-40B4-BE49-F238E27FC236}">
                  <a16:creationId xmlns:a16="http://schemas.microsoft.com/office/drawing/2014/main" id="{097808D3-461D-ED5C-3C95-B63DE78F3A2F}"/>
                </a:ext>
              </a:extLst>
            </p:cNvPr>
            <p:cNvSpPr/>
            <p:nvPr/>
          </p:nvSpPr>
          <p:spPr bwMode="auto">
            <a:xfrm rot="13978264">
              <a:off x="4342317" y="3092309"/>
              <a:ext cx="1730063"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C87354"/>
            </a:solidFill>
            <a:ln>
              <a:noFill/>
            </a:ln>
            <a:effectLst/>
          </p:spPr>
          <p:txBody>
            <a:bodyPr wrap="square" lIns="91440" tIns="45720" rIns="91440" bIns="4572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Segoe UI Light" panose="020B0502040204020203"/>
                <a:ea typeface="微软雅黑 Light" panose="020B0502040204020203" charset="-122"/>
              </a:endParaRPr>
            </a:p>
          </p:txBody>
        </p:sp>
        <p:sp>
          <p:nvSpPr>
            <p:cNvPr id="40" name="文本框 39">
              <a:extLst>
                <a:ext uri="{FF2B5EF4-FFF2-40B4-BE49-F238E27FC236}">
                  <a16:creationId xmlns:a16="http://schemas.microsoft.com/office/drawing/2014/main" id="{1A10872D-88AB-1F09-519E-45543EB48A92}"/>
                </a:ext>
              </a:extLst>
            </p:cNvPr>
            <p:cNvSpPr txBox="1"/>
            <p:nvPr/>
          </p:nvSpPr>
          <p:spPr>
            <a:xfrm>
              <a:off x="4623122" y="3413720"/>
              <a:ext cx="1094015" cy="1014730"/>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id-ID" sz="6000" b="1" i="0" u="none" strike="noStrike" kern="0" cap="none" spc="0" normalizeH="0" baseline="0" noProof="0" dirty="0">
                  <a:ln>
                    <a:noFill/>
                  </a:ln>
                  <a:solidFill>
                    <a:srgbClr val="FFFFFF"/>
                  </a:solidFill>
                  <a:effectLst/>
                  <a:uLnTx/>
                  <a:uFillTx/>
                  <a:latin typeface="Segoe UI Light" panose="020B0502040204020203"/>
                  <a:ea typeface="微软雅黑 Light" panose="020B0502040204020203" charset="-122"/>
                </a:rPr>
                <a:t>3</a:t>
              </a:r>
            </a:p>
          </p:txBody>
        </p:sp>
        <p:grpSp>
          <p:nvGrpSpPr>
            <p:cNvPr id="41" name="组合 40">
              <a:extLst>
                <a:ext uri="{FF2B5EF4-FFF2-40B4-BE49-F238E27FC236}">
                  <a16:creationId xmlns:a16="http://schemas.microsoft.com/office/drawing/2014/main" id="{DA7473EB-5C8C-948E-608B-BA7B288DDE6F}"/>
                </a:ext>
              </a:extLst>
            </p:cNvPr>
            <p:cNvGrpSpPr/>
            <p:nvPr/>
          </p:nvGrpSpPr>
          <p:grpSpPr>
            <a:xfrm flipH="1" flipV="1">
              <a:off x="3675919" y="4417191"/>
              <a:ext cx="1546413" cy="336176"/>
              <a:chOff x="6508375" y="1129553"/>
              <a:chExt cx="1546413" cy="336176"/>
            </a:xfrm>
          </p:grpSpPr>
          <p:cxnSp>
            <p:nvCxnSpPr>
              <p:cNvPr id="44" name="直接连接符 43">
                <a:extLst>
                  <a:ext uri="{FF2B5EF4-FFF2-40B4-BE49-F238E27FC236}">
                    <a16:creationId xmlns:a16="http://schemas.microsoft.com/office/drawing/2014/main" id="{BE8E10CA-DE71-C1A2-97FA-C7492BC5A917}"/>
                  </a:ext>
                </a:extLst>
              </p:cNvPr>
              <p:cNvCxnSpPr/>
              <p:nvPr/>
            </p:nvCxnSpPr>
            <p:spPr>
              <a:xfrm flipV="1">
                <a:off x="6508375" y="1129553"/>
                <a:ext cx="349625" cy="336176"/>
              </a:xfrm>
              <a:prstGeom prst="line">
                <a:avLst/>
              </a:prstGeom>
              <a:noFill/>
              <a:ln w="6350" cap="flat" cmpd="sng" algn="ctr">
                <a:solidFill>
                  <a:srgbClr val="003778"/>
                </a:solidFill>
                <a:prstDash val="solid"/>
                <a:miter lim="800000"/>
              </a:ln>
              <a:effectLst/>
            </p:spPr>
          </p:cxnSp>
          <p:cxnSp>
            <p:nvCxnSpPr>
              <p:cNvPr id="45" name="直接连接符 44">
                <a:extLst>
                  <a:ext uri="{FF2B5EF4-FFF2-40B4-BE49-F238E27FC236}">
                    <a16:creationId xmlns:a16="http://schemas.microsoft.com/office/drawing/2014/main" id="{824C9564-44C1-D7C7-48A3-3A874A645CFA}"/>
                  </a:ext>
                </a:extLst>
              </p:cNvPr>
              <p:cNvCxnSpPr/>
              <p:nvPr/>
            </p:nvCxnSpPr>
            <p:spPr>
              <a:xfrm>
                <a:off x="6858000" y="1129553"/>
                <a:ext cx="1196788" cy="0"/>
              </a:xfrm>
              <a:prstGeom prst="line">
                <a:avLst/>
              </a:prstGeom>
              <a:noFill/>
              <a:ln w="6350" cap="flat" cmpd="sng" algn="ctr">
                <a:solidFill>
                  <a:srgbClr val="003778"/>
                </a:solidFill>
                <a:prstDash val="solid"/>
                <a:miter lim="800000"/>
              </a:ln>
              <a:effectLst/>
            </p:spPr>
          </p:cxnSp>
        </p:grpSp>
        <p:sp>
          <p:nvSpPr>
            <p:cNvPr id="42" name="文本框 41">
              <a:extLst>
                <a:ext uri="{FF2B5EF4-FFF2-40B4-BE49-F238E27FC236}">
                  <a16:creationId xmlns:a16="http://schemas.microsoft.com/office/drawing/2014/main" id="{A4424B6B-4BD3-6900-42A5-A99877E41444}"/>
                </a:ext>
              </a:extLst>
            </p:cNvPr>
            <p:cNvSpPr txBox="1"/>
            <p:nvPr/>
          </p:nvSpPr>
          <p:spPr>
            <a:xfrm>
              <a:off x="660401" y="4616394"/>
              <a:ext cx="3054270" cy="1137556"/>
            </a:xfrm>
            <a:prstGeom prst="rect">
              <a:avLst/>
            </a:prstGeom>
          </p:spPr>
          <p:txBody>
            <a:bodyPr vert="horz" wrap="square" lIns="91440" tIns="45720" rIns="91440" bIns="45720">
              <a:spAutoFit/>
            </a:bodyPr>
            <a:lstStyle/>
            <a:p>
              <a:pPr marL="0" marR="0" lvl="0" indent="0" algn="r" defTabSz="914400" eaLnBrk="1" fontAlgn="auto" latinLnBrk="0" hangingPunct="1">
                <a:lnSpc>
                  <a:spcPct val="130000"/>
                </a:lnSpc>
                <a:spcBef>
                  <a:spcPts val="0"/>
                </a:spcBef>
                <a:spcAft>
                  <a:spcPts val="0"/>
                </a:spcAft>
                <a:buClrTx/>
                <a:buSzTx/>
                <a:buFontTx/>
                <a:buNone/>
                <a:defRPr/>
              </a:pPr>
              <a:r>
                <a:rPr lang="zh-CN" altLang="en-US" dirty="0">
                  <a:solidFill>
                    <a:srgbClr val="000000"/>
                  </a:solidFill>
                  <a:latin typeface="微软雅黑" panose="020B0503020204020204" charset="-122"/>
                  <a:ea typeface="微软雅黑" panose="020B0503020204020204" charset="-122"/>
                  <a:sym typeface="+mn-ea"/>
                </a:rPr>
                <a:t> </a:t>
              </a:r>
              <a:r>
                <a:rPr lang="zh-CN" altLang="en-US" dirty="0">
                  <a:solidFill>
                    <a:srgbClr val="C00000"/>
                  </a:solidFill>
                  <a:latin typeface="微软雅黑" panose="020B0503020204020204" charset="-122"/>
                  <a:ea typeface="微软雅黑" panose="020B0503020204020204" charset="-122"/>
                  <a:sym typeface="+mn-ea"/>
                </a:rPr>
                <a:t>开发</a:t>
              </a:r>
              <a:r>
                <a:rPr lang="en-US" altLang="zh-CN" dirty="0">
                  <a:solidFill>
                    <a:srgbClr val="C00000"/>
                  </a:solidFill>
                  <a:latin typeface="微软雅黑" panose="020B0503020204020204" charset="-122"/>
                  <a:ea typeface="微软雅黑" panose="020B0503020204020204" charset="-122"/>
                  <a:sym typeface="+mn-ea"/>
                </a:rPr>
                <a:t>APP</a:t>
              </a:r>
              <a:r>
                <a:rPr lang="en-US" altLang="zh-CN" dirty="0">
                  <a:solidFill>
                    <a:srgbClr val="000000"/>
                  </a:solidFill>
                  <a:latin typeface="微软雅黑" panose="020B0503020204020204" charset="-122"/>
                  <a:ea typeface="微软雅黑" panose="020B0503020204020204" charset="-122"/>
                  <a:sym typeface="+mn-ea"/>
                </a:rPr>
                <a:t>,</a:t>
              </a:r>
              <a:r>
                <a:rPr lang="zh-CN" altLang="en-US" dirty="0">
                  <a:solidFill>
                    <a:srgbClr val="000000"/>
                  </a:solidFill>
                  <a:latin typeface="微软雅黑" panose="020B0503020204020204" charset="-122"/>
                  <a:ea typeface="微软雅黑" panose="020B0503020204020204" charset="-122"/>
                  <a:sym typeface="+mn-ea"/>
                </a:rPr>
                <a:t>建立</a:t>
              </a:r>
              <a:r>
                <a:rPr lang="zh-CN" altLang="en-US" dirty="0">
                  <a:solidFill>
                    <a:srgbClr val="C00000"/>
                  </a:solidFill>
                  <a:latin typeface="微软雅黑" panose="020B0503020204020204" charset="-122"/>
                  <a:ea typeface="微软雅黑" panose="020B0503020204020204" charset="-122"/>
                  <a:sym typeface="+mn-ea"/>
                </a:rPr>
                <a:t>云端</a:t>
              </a:r>
              <a:r>
                <a:rPr lang="en-US" altLang="zh-CN" dirty="0">
                  <a:solidFill>
                    <a:srgbClr val="C00000"/>
                  </a:solidFill>
                  <a:latin typeface="微软雅黑" panose="020B0503020204020204" charset="-122"/>
                  <a:ea typeface="微软雅黑" panose="020B0503020204020204" charset="-122"/>
                  <a:sym typeface="+mn-ea"/>
                </a:rPr>
                <a:t>AI</a:t>
              </a:r>
              <a:r>
                <a:rPr lang="zh-CN" altLang="en-US" dirty="0">
                  <a:solidFill>
                    <a:srgbClr val="C00000"/>
                  </a:solidFill>
                  <a:latin typeface="微软雅黑" panose="020B0503020204020204" charset="-122"/>
                  <a:ea typeface="微软雅黑" panose="020B0503020204020204" charset="-122"/>
                  <a:sym typeface="+mn-ea"/>
                </a:rPr>
                <a:t>数据库</a:t>
              </a:r>
              <a:r>
                <a:rPr lang="zh-CN" altLang="en-US" dirty="0">
                  <a:solidFill>
                    <a:srgbClr val="000000"/>
                  </a:solidFill>
                  <a:latin typeface="微软雅黑" panose="020B0503020204020204" charset="-122"/>
                  <a:ea typeface="微软雅黑" panose="020B0503020204020204" charset="-122"/>
                  <a:sym typeface="+mn-ea"/>
                </a:rPr>
                <a:t>，实现检测结果实时比对与风险预警</a:t>
              </a:r>
              <a:endParaRPr lang="zh-CN" altLang="en-US" dirty="0">
                <a:solidFill>
                  <a:srgbClr val="000000"/>
                </a:solidFill>
                <a:latin typeface="微软雅黑" panose="020B0503020204020204" charset="-122"/>
                <a:ea typeface="微软雅黑" panose="020B0503020204020204" charset="-122"/>
              </a:endParaRPr>
            </a:p>
          </p:txBody>
        </p:sp>
        <p:sp>
          <p:nvSpPr>
            <p:cNvPr id="43" name="文本框 42">
              <a:extLst>
                <a:ext uri="{FF2B5EF4-FFF2-40B4-BE49-F238E27FC236}">
                  <a16:creationId xmlns:a16="http://schemas.microsoft.com/office/drawing/2014/main" id="{6349BB18-BE75-3562-D797-21885BE7D14F}"/>
                </a:ext>
              </a:extLst>
            </p:cNvPr>
            <p:cNvSpPr txBox="1"/>
            <p:nvPr/>
          </p:nvSpPr>
          <p:spPr>
            <a:xfrm>
              <a:off x="793390" y="3973485"/>
              <a:ext cx="2674130" cy="581057"/>
            </a:xfrm>
            <a:prstGeom prst="rect">
              <a:avLst/>
            </a:prstGeom>
            <a:noFill/>
          </p:spPr>
          <p:txBody>
            <a:bodyPr wrap="none">
              <a:spAutoFit/>
            </a:bodyPr>
            <a:lstStyle>
              <a:defPPr>
                <a:defRPr lang="zh-CN"/>
              </a:defPPr>
              <a:lvl1pPr algn="r">
                <a:defRPr sz="2400" b="1">
                  <a:solidFill>
                    <a:schemeClr val="tx1">
                      <a:lumMod val="95000"/>
                      <a:lumOff val="5000"/>
                    </a:schemeClr>
                  </a:solidFill>
                  <a:latin typeface="+mj-lt"/>
                  <a:ea typeface="+mj-ea"/>
                </a:defRPr>
              </a:lvl1pPr>
            </a:lstStyle>
            <a:p>
              <a:pPr marL="171450" marR="0" lvl="0" indent="-171450" algn="just" defTabSz="266700" fontAlgn="auto">
                <a:lnSpc>
                  <a:spcPct val="150000"/>
                </a:lnSpc>
                <a:spcBef>
                  <a:spcPct val="0"/>
                </a:spcBef>
                <a:spcAft>
                  <a:spcPct val="0"/>
                </a:spcAft>
                <a:buClrTx/>
                <a:buSzTx/>
                <a:buFont typeface="Wingdings" panose="05000000000000000000" charset="0"/>
                <a:buChar char="Ø"/>
                <a:defRPr/>
              </a:pPr>
              <a:r>
                <a:rPr lang="zh-CN" altLang="en-US" spc="100" dirty="0">
                  <a:solidFill>
                    <a:schemeClr val="accent1"/>
                  </a:solidFill>
                  <a:latin typeface="+mj-ea"/>
                  <a:sym typeface="+mn-ea"/>
                </a:rPr>
                <a:t>智能云服务平台</a:t>
              </a:r>
            </a:p>
          </p:txBody>
        </p:sp>
      </p:grpSp>
      <p:grpSp>
        <p:nvGrpSpPr>
          <p:cNvPr id="46" name="组合 45">
            <a:extLst>
              <a:ext uri="{FF2B5EF4-FFF2-40B4-BE49-F238E27FC236}">
                <a16:creationId xmlns:a16="http://schemas.microsoft.com/office/drawing/2014/main" id="{3CE224B0-37AD-7603-453B-77D55B90BEF8}"/>
              </a:ext>
            </a:extLst>
          </p:cNvPr>
          <p:cNvGrpSpPr/>
          <p:nvPr/>
        </p:nvGrpSpPr>
        <p:grpSpPr>
          <a:xfrm>
            <a:off x="6983468" y="1528783"/>
            <a:ext cx="5101064" cy="2514300"/>
            <a:chOff x="5962026" y="1498045"/>
            <a:chExt cx="5101064" cy="2514300"/>
          </a:xfrm>
        </p:grpSpPr>
        <p:sp>
          <p:nvSpPr>
            <p:cNvPr id="47" name="任意多边形 31">
              <a:extLst>
                <a:ext uri="{FF2B5EF4-FFF2-40B4-BE49-F238E27FC236}">
                  <a16:creationId xmlns:a16="http://schemas.microsoft.com/office/drawing/2014/main" id="{A6679460-0490-0C09-9E8B-3167B2C4F3DA}"/>
                </a:ext>
              </a:extLst>
            </p:cNvPr>
            <p:cNvSpPr/>
            <p:nvPr/>
          </p:nvSpPr>
          <p:spPr bwMode="auto">
            <a:xfrm rot="3202081">
              <a:off x="5974631" y="2269677"/>
              <a:ext cx="1730063"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C87354"/>
            </a:solidFill>
            <a:ln>
              <a:noFill/>
            </a:ln>
            <a:effectLst/>
          </p:spPr>
          <p:txBody>
            <a:bodyPr wrap="square" lIns="91440" tIns="45720" rIns="91440" bIns="4572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Segoe UI Light" panose="020B0502040204020203"/>
                <a:ea typeface="微软雅黑 Light" panose="020B0502040204020203" charset="-122"/>
              </a:endParaRPr>
            </a:p>
          </p:txBody>
        </p:sp>
        <p:sp>
          <p:nvSpPr>
            <p:cNvPr id="48" name="文本框 47">
              <a:extLst>
                <a:ext uri="{FF2B5EF4-FFF2-40B4-BE49-F238E27FC236}">
                  <a16:creationId xmlns:a16="http://schemas.microsoft.com/office/drawing/2014/main" id="{B069BE90-967B-97F4-547F-C16D5E7D3776}"/>
                </a:ext>
              </a:extLst>
            </p:cNvPr>
            <p:cNvSpPr txBox="1"/>
            <p:nvPr/>
          </p:nvSpPr>
          <p:spPr>
            <a:xfrm>
              <a:off x="6402113" y="2564905"/>
              <a:ext cx="1094015" cy="1014730"/>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6000" b="1" i="0" u="none" strike="noStrike" kern="0" cap="none" spc="0" normalizeH="0" baseline="0" noProof="0" dirty="0">
                  <a:ln>
                    <a:noFill/>
                  </a:ln>
                  <a:solidFill>
                    <a:srgbClr val="FFFFFF"/>
                  </a:solidFill>
                  <a:effectLst/>
                  <a:uLnTx/>
                  <a:uFillTx/>
                  <a:latin typeface="Segoe UI Light" panose="020B0502040204020203"/>
                  <a:ea typeface="微软雅黑 Light" panose="020B0502040204020203" charset="-122"/>
                </a:rPr>
                <a:t>2</a:t>
              </a:r>
            </a:p>
          </p:txBody>
        </p:sp>
        <p:sp>
          <p:nvSpPr>
            <p:cNvPr id="49" name="文本框 48">
              <a:extLst>
                <a:ext uri="{FF2B5EF4-FFF2-40B4-BE49-F238E27FC236}">
                  <a16:creationId xmlns:a16="http://schemas.microsoft.com/office/drawing/2014/main" id="{A595E963-2D2C-A1AC-388D-A9D1D5516AF1}"/>
                </a:ext>
              </a:extLst>
            </p:cNvPr>
            <p:cNvSpPr txBox="1"/>
            <p:nvPr/>
          </p:nvSpPr>
          <p:spPr>
            <a:xfrm>
              <a:off x="8350488" y="2070725"/>
              <a:ext cx="2712602" cy="1137556"/>
            </a:xfrm>
            <a:prstGeom prst="rect">
              <a:avLst/>
            </a:prstGeom>
          </p:spPr>
          <p:txBody>
            <a:bodyPr vert="horz" wrap="square" lIns="91440" tIns="45720" rIns="91440" bIns="45720">
              <a:spAutoFit/>
            </a:bodyPr>
            <a:lstStyle/>
            <a:p>
              <a:pPr marL="0" marR="0" lvl="0" indent="0" defTabSz="914400" eaLnBrk="1" fontAlgn="auto" latinLnBrk="0" hangingPunct="1">
                <a:lnSpc>
                  <a:spcPct val="130000"/>
                </a:lnSpc>
                <a:spcBef>
                  <a:spcPts val="0"/>
                </a:spcBef>
                <a:spcAft>
                  <a:spcPts val="0"/>
                </a:spcAft>
                <a:buClrTx/>
                <a:buSzTx/>
                <a:buFontTx/>
                <a:buNone/>
                <a:defRPr/>
              </a:pPr>
              <a:r>
                <a:rPr lang="zh-CN" altLang="en-US" dirty="0">
                  <a:solidFill>
                    <a:srgbClr val="000000"/>
                  </a:solidFill>
                  <a:latin typeface="微软雅黑" panose="020B0503020204020204" charset="-122"/>
                  <a:ea typeface="微软雅黑" panose="020B0503020204020204" charset="-122"/>
                  <a:sym typeface="+mn-ea"/>
                </a:rPr>
                <a:t>通过深度学习模型，实现农药残留的智能识别与定量分析</a:t>
              </a:r>
              <a:endParaRPr lang="zh-CN" altLang="en-US" dirty="0">
                <a:solidFill>
                  <a:srgbClr val="000000"/>
                </a:solidFill>
                <a:latin typeface="微软雅黑" panose="020B0503020204020204" charset="-122"/>
                <a:ea typeface="微软雅黑" panose="020B0503020204020204" charset="-122"/>
              </a:endParaRPr>
            </a:p>
          </p:txBody>
        </p:sp>
        <p:sp>
          <p:nvSpPr>
            <p:cNvPr id="50" name="文本框 49">
              <a:extLst>
                <a:ext uri="{FF2B5EF4-FFF2-40B4-BE49-F238E27FC236}">
                  <a16:creationId xmlns:a16="http://schemas.microsoft.com/office/drawing/2014/main" id="{27190B0A-4563-98C5-CFF6-A3270A7116EC}"/>
                </a:ext>
              </a:extLst>
            </p:cNvPr>
            <p:cNvSpPr txBox="1"/>
            <p:nvPr/>
          </p:nvSpPr>
          <p:spPr>
            <a:xfrm>
              <a:off x="8214829" y="1498045"/>
              <a:ext cx="2712602" cy="581057"/>
            </a:xfrm>
            <a:prstGeom prst="rect">
              <a:avLst/>
            </a:prstGeom>
            <a:noFill/>
          </p:spPr>
          <p:txBody>
            <a:bodyPr wrap="none">
              <a:spAutoFit/>
            </a:bodyPr>
            <a:lstStyle>
              <a:defPPr>
                <a:defRPr lang="zh-CN"/>
              </a:defPPr>
              <a:lvl1pPr algn="r">
                <a:defRPr sz="2400" b="1">
                  <a:solidFill>
                    <a:schemeClr val="tx1">
                      <a:lumMod val="95000"/>
                      <a:lumOff val="5000"/>
                    </a:schemeClr>
                  </a:solidFill>
                  <a:latin typeface="+mj-lt"/>
                  <a:ea typeface="+mj-ea"/>
                </a:defRPr>
              </a:lvl1pPr>
            </a:lstStyle>
            <a:p>
              <a:pPr marL="171450" marR="0" lvl="0" indent="-171450" algn="just" defTabSz="266700" fontAlgn="auto">
                <a:lnSpc>
                  <a:spcPct val="150000"/>
                </a:lnSpc>
                <a:spcBef>
                  <a:spcPct val="0"/>
                </a:spcBef>
                <a:spcAft>
                  <a:spcPct val="0"/>
                </a:spcAft>
                <a:buClrTx/>
                <a:buSzTx/>
                <a:buFont typeface="Wingdings" panose="05000000000000000000" charset="0"/>
                <a:buChar char="Ø"/>
                <a:defRPr/>
              </a:pPr>
              <a:r>
                <a:rPr lang="en-US" altLang="zh-CN" spc="100" dirty="0">
                  <a:solidFill>
                    <a:schemeClr val="accent1"/>
                  </a:solidFill>
                  <a:latin typeface="+mj-ea"/>
                  <a:sym typeface="+mn-ea"/>
                </a:rPr>
                <a:t>AI</a:t>
              </a:r>
              <a:r>
                <a:rPr lang="zh-CN" altLang="en-US" spc="100" dirty="0">
                  <a:solidFill>
                    <a:schemeClr val="accent1"/>
                  </a:solidFill>
                  <a:latin typeface="+mj-ea"/>
                  <a:sym typeface="+mn-ea"/>
                </a:rPr>
                <a:t>软件系统开发</a:t>
              </a:r>
            </a:p>
          </p:txBody>
        </p:sp>
        <p:grpSp>
          <p:nvGrpSpPr>
            <p:cNvPr id="51" name="组合 50">
              <a:extLst>
                <a:ext uri="{FF2B5EF4-FFF2-40B4-BE49-F238E27FC236}">
                  <a16:creationId xmlns:a16="http://schemas.microsoft.com/office/drawing/2014/main" id="{85D8062E-0D4D-C909-91C2-7447DEC15ADF}"/>
                </a:ext>
              </a:extLst>
            </p:cNvPr>
            <p:cNvGrpSpPr/>
            <p:nvPr/>
          </p:nvGrpSpPr>
          <p:grpSpPr>
            <a:xfrm>
              <a:off x="6681864" y="2228727"/>
              <a:ext cx="1532965" cy="336176"/>
              <a:chOff x="6508376" y="1129553"/>
              <a:chExt cx="1532965" cy="336176"/>
            </a:xfrm>
          </p:grpSpPr>
          <p:cxnSp>
            <p:nvCxnSpPr>
              <p:cNvPr id="54" name="直接连接符 53">
                <a:extLst>
                  <a:ext uri="{FF2B5EF4-FFF2-40B4-BE49-F238E27FC236}">
                    <a16:creationId xmlns:a16="http://schemas.microsoft.com/office/drawing/2014/main" id="{4A313E95-777C-B7F0-90D5-F34F2DA07FEC}"/>
                  </a:ext>
                </a:extLst>
              </p:cNvPr>
              <p:cNvCxnSpPr/>
              <p:nvPr/>
            </p:nvCxnSpPr>
            <p:spPr>
              <a:xfrm flipV="1">
                <a:off x="6508376" y="1129553"/>
                <a:ext cx="336177" cy="336176"/>
              </a:xfrm>
              <a:prstGeom prst="line">
                <a:avLst/>
              </a:prstGeom>
              <a:noFill/>
              <a:ln w="6350" cap="flat" cmpd="sng" algn="ctr">
                <a:solidFill>
                  <a:srgbClr val="003778"/>
                </a:solidFill>
                <a:prstDash val="solid"/>
                <a:miter lim="800000"/>
              </a:ln>
              <a:effectLst/>
            </p:spPr>
          </p:cxnSp>
          <p:cxnSp>
            <p:nvCxnSpPr>
              <p:cNvPr id="55" name="直接连接符 54">
                <a:extLst>
                  <a:ext uri="{FF2B5EF4-FFF2-40B4-BE49-F238E27FC236}">
                    <a16:creationId xmlns:a16="http://schemas.microsoft.com/office/drawing/2014/main" id="{439F5F73-7BCB-3C22-FBD6-E0224ABB14D4}"/>
                  </a:ext>
                </a:extLst>
              </p:cNvPr>
              <p:cNvCxnSpPr/>
              <p:nvPr/>
            </p:nvCxnSpPr>
            <p:spPr>
              <a:xfrm>
                <a:off x="6844553" y="1129553"/>
                <a:ext cx="1196788" cy="0"/>
              </a:xfrm>
              <a:prstGeom prst="line">
                <a:avLst/>
              </a:prstGeom>
              <a:noFill/>
              <a:ln w="6350" cap="flat" cmpd="sng" algn="ctr">
                <a:solidFill>
                  <a:srgbClr val="003778"/>
                </a:solidFill>
                <a:prstDash val="solid"/>
                <a:miter lim="800000"/>
              </a:ln>
              <a:effectLst/>
            </p:spPr>
          </p:cxnSp>
        </p:grpSp>
      </p:grpSp>
      <p:sp>
        <p:nvSpPr>
          <p:cNvPr id="56" name="文本框 55">
            <a:extLst>
              <a:ext uri="{FF2B5EF4-FFF2-40B4-BE49-F238E27FC236}">
                <a16:creationId xmlns:a16="http://schemas.microsoft.com/office/drawing/2014/main" id="{321A6C6F-C338-A7DA-E60D-2D5DFA5DB59A}"/>
              </a:ext>
            </a:extLst>
          </p:cNvPr>
          <p:cNvSpPr txBox="1"/>
          <p:nvPr/>
        </p:nvSpPr>
        <p:spPr>
          <a:xfrm>
            <a:off x="1339928" y="5897129"/>
            <a:ext cx="10608945" cy="662554"/>
          </a:xfrm>
          <a:prstGeom prst="rect">
            <a:avLst/>
          </a:prstGeom>
          <a:noFill/>
        </p:spPr>
        <p:txBody>
          <a:bodyPr wrap="square" rtlCol="0" anchor="t">
            <a:spAutoFit/>
          </a:bodyPr>
          <a:lstStyle/>
          <a:p>
            <a:pPr marL="1143000" lvl="2" indent="0" algn="just" defTabSz="266700">
              <a:lnSpc>
                <a:spcPct val="150000"/>
              </a:lnSpc>
              <a:spcBef>
                <a:spcPct val="0"/>
              </a:spcBef>
              <a:spcAft>
                <a:spcPts val="600"/>
              </a:spcAft>
              <a:defRPr/>
            </a:pPr>
            <a:r>
              <a:rPr lang="zh-CN" altLang="en-US" sz="2400" b="1" spc="100" dirty="0">
                <a:solidFill>
                  <a:schemeClr val="tx1">
                    <a:lumMod val="95000"/>
                    <a:lumOff val="5000"/>
                  </a:schemeClr>
                </a:solidFill>
                <a:latin typeface="+mj-ea"/>
                <a:ea typeface="+mj-ea"/>
                <a:sym typeface="+mn-ea"/>
              </a:rPr>
              <a:t>构建</a:t>
            </a:r>
            <a:r>
              <a:rPr lang="en-US" altLang="zh-CN" sz="2800" b="1" spc="100" dirty="0">
                <a:solidFill>
                  <a:srgbClr val="C00000"/>
                </a:solidFill>
                <a:latin typeface="+mj-ea"/>
                <a:ea typeface="+mj-ea"/>
                <a:sym typeface="+mn-ea"/>
              </a:rPr>
              <a:t>"</a:t>
            </a:r>
            <a:r>
              <a:rPr lang="zh-CN" altLang="en-US" sz="2800" b="1" spc="100" dirty="0">
                <a:solidFill>
                  <a:srgbClr val="C00000"/>
                </a:solidFill>
                <a:latin typeface="+mj-ea"/>
                <a:ea typeface="+mj-ea"/>
                <a:sym typeface="+mn-ea"/>
              </a:rPr>
              <a:t>硬件</a:t>
            </a:r>
            <a:r>
              <a:rPr lang="en-US" altLang="zh-CN" sz="2800" b="1" spc="100" dirty="0">
                <a:solidFill>
                  <a:srgbClr val="C00000"/>
                </a:solidFill>
                <a:latin typeface="+mj-ea"/>
                <a:ea typeface="+mj-ea"/>
                <a:sym typeface="+mn-ea"/>
              </a:rPr>
              <a:t>+APP+AI+</a:t>
            </a:r>
            <a:r>
              <a:rPr lang="zh-CN" altLang="en-US" sz="2800" b="1" spc="100" dirty="0">
                <a:solidFill>
                  <a:srgbClr val="C00000"/>
                </a:solidFill>
                <a:latin typeface="+mj-ea"/>
                <a:ea typeface="+mj-ea"/>
                <a:sym typeface="+mn-ea"/>
              </a:rPr>
              <a:t>云平台</a:t>
            </a:r>
            <a:r>
              <a:rPr lang="en-US" altLang="zh-CN" sz="2800" b="1" spc="100" dirty="0">
                <a:solidFill>
                  <a:srgbClr val="C00000"/>
                </a:solidFill>
                <a:latin typeface="+mj-ea"/>
                <a:ea typeface="+mj-ea"/>
                <a:sym typeface="+mn-ea"/>
              </a:rPr>
              <a:t>"</a:t>
            </a:r>
            <a:r>
              <a:rPr lang="zh-CN" altLang="en-US" sz="2400" b="1" spc="100" dirty="0">
                <a:solidFill>
                  <a:schemeClr val="tx1">
                    <a:lumMod val="95000"/>
                    <a:lumOff val="5000"/>
                  </a:schemeClr>
                </a:solidFill>
                <a:latin typeface="+mj-ea"/>
                <a:ea typeface="+mj-ea"/>
                <a:sym typeface="+mn-ea"/>
              </a:rPr>
              <a:t>的一体化智能检测生态系统</a:t>
            </a:r>
          </a:p>
        </p:txBody>
      </p:sp>
    </p:spTree>
    <p:extLst>
      <p:ext uri="{BB962C8B-B14F-4D97-AF65-F5344CB8AC3E}">
        <p14:creationId xmlns:p14="http://schemas.microsoft.com/office/powerpoint/2010/main" val="37459544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DDC6EA9-F0F3-20D1-B8AE-ADD29FE80DA4}"/>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C97177A4-A220-D2D9-CE8E-55ABE6FC5C5A}"/>
              </a:ext>
            </a:extLst>
          </p:cNvPr>
          <p:cNvSpPr txBox="1"/>
          <p:nvPr/>
        </p:nvSpPr>
        <p:spPr>
          <a:xfrm>
            <a:off x="2328175" y="177654"/>
            <a:ext cx="3070071" cy="461665"/>
          </a:xfrm>
          <a:prstGeom prst="rect">
            <a:avLst/>
          </a:prstGeom>
          <a:noFill/>
        </p:spPr>
        <p:txBody>
          <a:bodyPr wrap="none" rtlCol="0">
            <a:spAutoFit/>
          </a:bodyPr>
          <a:lstStyle/>
          <a:p>
            <a:r>
              <a:rPr lang="zh-CN" altLang="en-US" sz="2400" b="1" spc="100" dirty="0">
                <a:solidFill>
                  <a:schemeClr val="accent1"/>
                </a:solidFill>
                <a:latin typeface="+mj-ea"/>
                <a:ea typeface="+mj-ea"/>
                <a:sym typeface="+mn-ea"/>
              </a:rPr>
              <a:t>研究方法及技术路线</a:t>
            </a:r>
            <a:endParaRPr lang="zh-CN" altLang="en-US" sz="2400" b="1" spc="100" dirty="0">
              <a:solidFill>
                <a:schemeClr val="accent1"/>
              </a:solidFill>
              <a:latin typeface="+mj-ea"/>
              <a:ea typeface="+mj-ea"/>
            </a:endParaRPr>
          </a:p>
        </p:txBody>
      </p:sp>
      <p:grpSp>
        <p:nvGrpSpPr>
          <p:cNvPr id="8" name="组合 7">
            <a:extLst>
              <a:ext uri="{FF2B5EF4-FFF2-40B4-BE49-F238E27FC236}">
                <a16:creationId xmlns:a16="http://schemas.microsoft.com/office/drawing/2014/main" id="{A88AE314-D28A-F810-4D5B-35A97A84DC45}"/>
              </a:ext>
            </a:extLst>
          </p:cNvPr>
          <p:cNvGrpSpPr/>
          <p:nvPr/>
        </p:nvGrpSpPr>
        <p:grpSpPr>
          <a:xfrm>
            <a:off x="1978081" y="240353"/>
            <a:ext cx="355042" cy="353395"/>
            <a:chOff x="1957299" y="229525"/>
            <a:chExt cx="355042" cy="353395"/>
          </a:xfrm>
        </p:grpSpPr>
        <p:sp>
          <p:nvSpPr>
            <p:cNvPr id="9" name="矩形: 圆角 8">
              <a:extLst>
                <a:ext uri="{FF2B5EF4-FFF2-40B4-BE49-F238E27FC236}">
                  <a16:creationId xmlns:a16="http://schemas.microsoft.com/office/drawing/2014/main" id="{1A43EAF2-EAD3-9E97-1DA4-8EFDD8619D8C}"/>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32A7164C-9FDD-80FA-CD29-17433C6D82EB}"/>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矩形 51">
            <a:extLst>
              <a:ext uri="{FF2B5EF4-FFF2-40B4-BE49-F238E27FC236}">
                <a16:creationId xmlns:a16="http://schemas.microsoft.com/office/drawing/2014/main" id="{6962E5BF-99C7-2D0D-9831-170C1EE5BB74}"/>
              </a:ext>
            </a:extLst>
          </p:cNvPr>
          <p:cNvSpPr/>
          <p:nvPr/>
        </p:nvSpPr>
        <p:spPr>
          <a:xfrm>
            <a:off x="0" y="2401808"/>
            <a:ext cx="1631406" cy="50788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6259A3DF-75FF-F01A-86FA-E927ACD8D72D}"/>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研究内容</a:t>
            </a:r>
          </a:p>
        </p:txBody>
      </p:sp>
      <p:sp>
        <p:nvSpPr>
          <p:cNvPr id="2" name="文本框 1">
            <a:extLst>
              <a:ext uri="{FF2B5EF4-FFF2-40B4-BE49-F238E27FC236}">
                <a16:creationId xmlns:a16="http://schemas.microsoft.com/office/drawing/2014/main" id="{8E6F110D-E062-E69B-9F9C-7BB917140A10}"/>
              </a:ext>
            </a:extLst>
          </p:cNvPr>
          <p:cNvSpPr txBox="1"/>
          <p:nvPr/>
        </p:nvSpPr>
        <p:spPr>
          <a:xfrm>
            <a:off x="2424317" y="1281545"/>
            <a:ext cx="1100825" cy="369332"/>
          </a:xfrm>
          <a:prstGeom prst="rect">
            <a:avLst/>
          </a:prstGeom>
          <a:noFill/>
          <a:ln>
            <a:solidFill>
              <a:schemeClr val="accent1">
                <a:lumMod val="20000"/>
                <a:lumOff val="80000"/>
              </a:schemeClr>
            </a:solidFill>
          </a:ln>
        </p:spPr>
        <p:txBody>
          <a:bodyPr wrap="square" rtlCol="0">
            <a:spAutoFit/>
          </a:bodyPr>
          <a:lstStyle/>
          <a:p>
            <a:r>
              <a:rPr lang="zh-CN" altLang="en-US" dirty="0"/>
              <a:t>前期准备</a:t>
            </a:r>
          </a:p>
        </p:txBody>
      </p:sp>
      <p:sp>
        <p:nvSpPr>
          <p:cNvPr id="5" name="文本框 4">
            <a:extLst>
              <a:ext uri="{FF2B5EF4-FFF2-40B4-BE49-F238E27FC236}">
                <a16:creationId xmlns:a16="http://schemas.microsoft.com/office/drawing/2014/main" id="{3085A3E3-1473-A930-B920-BFF222A308E2}"/>
              </a:ext>
            </a:extLst>
          </p:cNvPr>
          <p:cNvSpPr txBox="1"/>
          <p:nvPr/>
        </p:nvSpPr>
        <p:spPr>
          <a:xfrm>
            <a:off x="2234800" y="2563018"/>
            <a:ext cx="461665" cy="3399336"/>
          </a:xfrm>
          <a:prstGeom prst="rect">
            <a:avLst/>
          </a:prstGeom>
          <a:noFill/>
          <a:ln>
            <a:solidFill>
              <a:schemeClr val="accent1">
                <a:lumMod val="20000"/>
                <a:lumOff val="80000"/>
              </a:schemeClr>
            </a:solidFill>
          </a:ln>
        </p:spPr>
        <p:txBody>
          <a:bodyPr vert="eaVert" wrap="square" rtlCol="0">
            <a:spAutoFit/>
          </a:bodyPr>
          <a:lstStyle/>
          <a:p>
            <a:r>
              <a:rPr lang="zh-CN" altLang="en-US" dirty="0"/>
              <a:t>阅读相关文献，确定研究方案</a:t>
            </a:r>
          </a:p>
        </p:txBody>
      </p:sp>
      <p:sp>
        <p:nvSpPr>
          <p:cNvPr id="23" name="文本框 22">
            <a:extLst>
              <a:ext uri="{FF2B5EF4-FFF2-40B4-BE49-F238E27FC236}">
                <a16:creationId xmlns:a16="http://schemas.microsoft.com/office/drawing/2014/main" id="{76CFB42F-A2CD-A2C6-CB44-8A83512BD24B}"/>
              </a:ext>
            </a:extLst>
          </p:cNvPr>
          <p:cNvSpPr txBox="1"/>
          <p:nvPr/>
        </p:nvSpPr>
        <p:spPr>
          <a:xfrm>
            <a:off x="3266254" y="2563018"/>
            <a:ext cx="461665" cy="3399336"/>
          </a:xfrm>
          <a:prstGeom prst="rect">
            <a:avLst/>
          </a:prstGeom>
          <a:noFill/>
          <a:ln>
            <a:solidFill>
              <a:schemeClr val="accent1">
                <a:lumMod val="40000"/>
                <a:lumOff val="60000"/>
              </a:schemeClr>
            </a:solidFill>
          </a:ln>
        </p:spPr>
        <p:txBody>
          <a:bodyPr vert="eaVert" wrap="square" rtlCol="0">
            <a:spAutoFit/>
          </a:bodyPr>
          <a:lstStyle/>
          <a:p>
            <a:r>
              <a:rPr lang="zh-CN" altLang="en-US" dirty="0"/>
              <a:t>收集常见样本，构建初始数据库</a:t>
            </a:r>
          </a:p>
        </p:txBody>
      </p:sp>
      <p:sp>
        <p:nvSpPr>
          <p:cNvPr id="25" name="文本框 24">
            <a:extLst>
              <a:ext uri="{FF2B5EF4-FFF2-40B4-BE49-F238E27FC236}">
                <a16:creationId xmlns:a16="http://schemas.microsoft.com/office/drawing/2014/main" id="{468D6506-7770-4873-F756-22567974C1D8}"/>
              </a:ext>
            </a:extLst>
          </p:cNvPr>
          <p:cNvSpPr txBox="1"/>
          <p:nvPr/>
        </p:nvSpPr>
        <p:spPr>
          <a:xfrm>
            <a:off x="6181479" y="1281545"/>
            <a:ext cx="1100825" cy="369332"/>
          </a:xfrm>
          <a:prstGeom prst="rect">
            <a:avLst/>
          </a:prstGeom>
          <a:noFill/>
          <a:ln>
            <a:solidFill>
              <a:schemeClr val="accent1">
                <a:lumMod val="60000"/>
                <a:lumOff val="40000"/>
              </a:schemeClr>
            </a:solidFill>
          </a:ln>
        </p:spPr>
        <p:txBody>
          <a:bodyPr wrap="square" rtlCol="0">
            <a:spAutoFit/>
          </a:bodyPr>
          <a:lstStyle/>
          <a:p>
            <a:r>
              <a:rPr lang="zh-CN" altLang="en-US" dirty="0"/>
              <a:t>实验部分</a:t>
            </a:r>
          </a:p>
        </p:txBody>
      </p:sp>
      <p:sp>
        <p:nvSpPr>
          <p:cNvPr id="26" name="文本框 25">
            <a:extLst>
              <a:ext uri="{FF2B5EF4-FFF2-40B4-BE49-F238E27FC236}">
                <a16:creationId xmlns:a16="http://schemas.microsoft.com/office/drawing/2014/main" id="{2D79F83C-EE72-8C16-0B6A-93386A18CDDC}"/>
              </a:ext>
            </a:extLst>
          </p:cNvPr>
          <p:cNvSpPr txBox="1"/>
          <p:nvPr/>
        </p:nvSpPr>
        <p:spPr>
          <a:xfrm>
            <a:off x="4556249" y="2563018"/>
            <a:ext cx="738664" cy="3345946"/>
          </a:xfrm>
          <a:prstGeom prst="rect">
            <a:avLst/>
          </a:prstGeom>
          <a:noFill/>
          <a:ln>
            <a:solidFill>
              <a:schemeClr val="accent1">
                <a:lumMod val="40000"/>
                <a:lumOff val="60000"/>
              </a:schemeClr>
            </a:solidFill>
          </a:ln>
        </p:spPr>
        <p:txBody>
          <a:bodyPr vert="eaVert" wrap="square" rtlCol="0">
            <a:spAutoFit/>
          </a:bodyPr>
          <a:lstStyle/>
          <a:p>
            <a:r>
              <a:rPr lang="zh-CN" altLang="en-US" dirty="0"/>
              <a:t>外界光源附件，结合光谱技术采集果蔬表面光谱信息</a:t>
            </a:r>
          </a:p>
        </p:txBody>
      </p:sp>
      <p:sp>
        <p:nvSpPr>
          <p:cNvPr id="27" name="文本框 26">
            <a:extLst>
              <a:ext uri="{FF2B5EF4-FFF2-40B4-BE49-F238E27FC236}">
                <a16:creationId xmlns:a16="http://schemas.microsoft.com/office/drawing/2014/main" id="{B22F3E1E-BF8B-E77A-7547-BE84E1454A8E}"/>
              </a:ext>
            </a:extLst>
          </p:cNvPr>
          <p:cNvSpPr txBox="1"/>
          <p:nvPr/>
        </p:nvSpPr>
        <p:spPr>
          <a:xfrm>
            <a:off x="5684839" y="2633424"/>
            <a:ext cx="461665" cy="3199340"/>
          </a:xfrm>
          <a:prstGeom prst="rect">
            <a:avLst/>
          </a:prstGeom>
          <a:noFill/>
          <a:ln>
            <a:solidFill>
              <a:schemeClr val="accent1">
                <a:lumMod val="40000"/>
                <a:lumOff val="60000"/>
              </a:schemeClr>
            </a:solidFill>
          </a:ln>
        </p:spPr>
        <p:txBody>
          <a:bodyPr vert="eaVert" wrap="square" rtlCol="0">
            <a:spAutoFit/>
          </a:bodyPr>
          <a:lstStyle/>
          <a:p>
            <a:r>
              <a:rPr lang="zh-CN" altLang="en-US" dirty="0"/>
              <a:t>整理分析数据，搭建数据模型</a:t>
            </a:r>
          </a:p>
        </p:txBody>
      </p:sp>
      <p:sp>
        <p:nvSpPr>
          <p:cNvPr id="29" name="文本框 28">
            <a:extLst>
              <a:ext uri="{FF2B5EF4-FFF2-40B4-BE49-F238E27FC236}">
                <a16:creationId xmlns:a16="http://schemas.microsoft.com/office/drawing/2014/main" id="{69222A9B-97DC-C300-A8DF-7FF02398BEED}"/>
              </a:ext>
            </a:extLst>
          </p:cNvPr>
          <p:cNvSpPr txBox="1"/>
          <p:nvPr/>
        </p:nvSpPr>
        <p:spPr>
          <a:xfrm flipH="1">
            <a:off x="6607225" y="2563018"/>
            <a:ext cx="461665" cy="3345946"/>
          </a:xfrm>
          <a:prstGeom prst="rect">
            <a:avLst/>
          </a:prstGeom>
          <a:noFill/>
          <a:ln>
            <a:solidFill>
              <a:schemeClr val="accent1">
                <a:lumMod val="60000"/>
                <a:lumOff val="40000"/>
              </a:schemeClr>
            </a:solidFill>
          </a:ln>
        </p:spPr>
        <p:txBody>
          <a:bodyPr vert="eaVert" wrap="square" rtlCol="0">
            <a:spAutoFit/>
          </a:bodyPr>
          <a:lstStyle/>
          <a:p>
            <a:r>
              <a:rPr lang="zh-CN" altLang="en-US" dirty="0"/>
              <a:t>开发</a:t>
            </a:r>
            <a:r>
              <a:rPr lang="en-US" altLang="zh-CN" dirty="0">
                <a:solidFill>
                  <a:srgbClr val="C00000"/>
                </a:solidFill>
              </a:rPr>
              <a:t>AI</a:t>
            </a:r>
            <a:r>
              <a:rPr lang="zh-CN" altLang="en-US" dirty="0">
                <a:solidFill>
                  <a:srgbClr val="C00000"/>
                </a:solidFill>
              </a:rPr>
              <a:t>算法</a:t>
            </a:r>
            <a:r>
              <a:rPr lang="zh-CN" altLang="en-US" dirty="0"/>
              <a:t>，并进行训练</a:t>
            </a:r>
          </a:p>
        </p:txBody>
      </p:sp>
      <p:sp>
        <p:nvSpPr>
          <p:cNvPr id="30" name="文本框 29">
            <a:extLst>
              <a:ext uri="{FF2B5EF4-FFF2-40B4-BE49-F238E27FC236}">
                <a16:creationId xmlns:a16="http://schemas.microsoft.com/office/drawing/2014/main" id="{98CEFE13-5D20-62D7-5B56-972A260D6355}"/>
              </a:ext>
            </a:extLst>
          </p:cNvPr>
          <p:cNvSpPr txBox="1"/>
          <p:nvPr/>
        </p:nvSpPr>
        <p:spPr>
          <a:xfrm>
            <a:off x="7556876" y="2559623"/>
            <a:ext cx="461665" cy="3560546"/>
          </a:xfrm>
          <a:prstGeom prst="rect">
            <a:avLst/>
          </a:prstGeom>
          <a:noFill/>
          <a:ln>
            <a:solidFill>
              <a:schemeClr val="accent1">
                <a:lumMod val="60000"/>
                <a:lumOff val="40000"/>
              </a:schemeClr>
            </a:solidFill>
          </a:ln>
        </p:spPr>
        <p:txBody>
          <a:bodyPr vert="eaVert" wrap="square" rtlCol="0">
            <a:spAutoFit/>
          </a:bodyPr>
          <a:lstStyle/>
          <a:p>
            <a:r>
              <a:rPr lang="zh-CN" altLang="en-US" dirty="0"/>
              <a:t>开发</a:t>
            </a:r>
            <a:r>
              <a:rPr lang="zh-CN" altLang="en-US" dirty="0">
                <a:solidFill>
                  <a:srgbClr val="C00000"/>
                </a:solidFill>
              </a:rPr>
              <a:t>手机</a:t>
            </a:r>
            <a:r>
              <a:rPr lang="en-US" altLang="zh-CN" dirty="0">
                <a:solidFill>
                  <a:srgbClr val="C00000"/>
                </a:solidFill>
              </a:rPr>
              <a:t>APP</a:t>
            </a:r>
            <a:r>
              <a:rPr lang="zh-CN" altLang="en-US" dirty="0"/>
              <a:t>，搭建云端数据平台</a:t>
            </a:r>
          </a:p>
        </p:txBody>
      </p:sp>
      <p:sp>
        <p:nvSpPr>
          <p:cNvPr id="31" name="文本框 30">
            <a:extLst>
              <a:ext uri="{FF2B5EF4-FFF2-40B4-BE49-F238E27FC236}">
                <a16:creationId xmlns:a16="http://schemas.microsoft.com/office/drawing/2014/main" id="{C7FEA040-6353-97E8-ADFA-4F509B78FE9E}"/>
              </a:ext>
            </a:extLst>
          </p:cNvPr>
          <p:cNvSpPr txBox="1"/>
          <p:nvPr/>
        </p:nvSpPr>
        <p:spPr>
          <a:xfrm>
            <a:off x="8543210" y="2449164"/>
            <a:ext cx="461665" cy="3619127"/>
          </a:xfrm>
          <a:prstGeom prst="rect">
            <a:avLst/>
          </a:prstGeom>
          <a:noFill/>
          <a:ln>
            <a:solidFill>
              <a:schemeClr val="accent1">
                <a:lumMod val="75000"/>
              </a:schemeClr>
            </a:solidFill>
          </a:ln>
        </p:spPr>
        <p:txBody>
          <a:bodyPr vert="eaVert" wrap="square" rtlCol="0">
            <a:spAutoFit/>
          </a:bodyPr>
          <a:lstStyle/>
          <a:p>
            <a:r>
              <a:rPr lang="zh-CN" altLang="zh-CN" dirty="0"/>
              <a:t>完成硬件、</a:t>
            </a:r>
            <a:r>
              <a:rPr lang="en-US" altLang="zh-CN" dirty="0"/>
              <a:t>APP</a:t>
            </a:r>
            <a:r>
              <a:rPr lang="zh-CN" altLang="zh-CN" dirty="0"/>
              <a:t>与</a:t>
            </a:r>
            <a:r>
              <a:rPr lang="zh-CN" altLang="zh-CN" dirty="0">
                <a:solidFill>
                  <a:srgbClr val="C00000"/>
                </a:solidFill>
              </a:rPr>
              <a:t>云平台</a:t>
            </a:r>
            <a:r>
              <a:rPr lang="zh-CN" altLang="zh-CN" dirty="0"/>
              <a:t>的全系</a:t>
            </a:r>
            <a:endParaRPr lang="zh-CN" altLang="en-US" dirty="0"/>
          </a:p>
        </p:txBody>
      </p:sp>
      <p:sp>
        <p:nvSpPr>
          <p:cNvPr id="32" name="文本框 31">
            <a:extLst>
              <a:ext uri="{FF2B5EF4-FFF2-40B4-BE49-F238E27FC236}">
                <a16:creationId xmlns:a16="http://schemas.microsoft.com/office/drawing/2014/main" id="{08C0ADD0-9AF1-4FC8-9495-DB7E961CFE35}"/>
              </a:ext>
            </a:extLst>
          </p:cNvPr>
          <p:cNvSpPr txBox="1"/>
          <p:nvPr/>
        </p:nvSpPr>
        <p:spPr>
          <a:xfrm>
            <a:off x="9967540" y="1281545"/>
            <a:ext cx="1100825" cy="369332"/>
          </a:xfrm>
          <a:prstGeom prst="rect">
            <a:avLst/>
          </a:prstGeom>
          <a:noFill/>
          <a:ln>
            <a:solidFill>
              <a:srgbClr val="32497B"/>
            </a:solidFill>
          </a:ln>
        </p:spPr>
        <p:txBody>
          <a:bodyPr wrap="square" rtlCol="0">
            <a:spAutoFit/>
          </a:bodyPr>
          <a:lstStyle/>
          <a:p>
            <a:r>
              <a:rPr lang="zh-CN" altLang="en-US" dirty="0"/>
              <a:t>检验优化</a:t>
            </a:r>
          </a:p>
        </p:txBody>
      </p:sp>
      <p:sp>
        <p:nvSpPr>
          <p:cNvPr id="33" name="文本框 32">
            <a:extLst>
              <a:ext uri="{FF2B5EF4-FFF2-40B4-BE49-F238E27FC236}">
                <a16:creationId xmlns:a16="http://schemas.microsoft.com/office/drawing/2014/main" id="{92795434-E9F3-1B51-33EA-3C6B17AD4338}"/>
              </a:ext>
            </a:extLst>
          </p:cNvPr>
          <p:cNvSpPr txBox="1"/>
          <p:nvPr/>
        </p:nvSpPr>
        <p:spPr>
          <a:xfrm>
            <a:off x="9778858" y="2633424"/>
            <a:ext cx="461665" cy="2517690"/>
          </a:xfrm>
          <a:prstGeom prst="rect">
            <a:avLst/>
          </a:prstGeom>
          <a:noFill/>
          <a:ln>
            <a:solidFill>
              <a:srgbClr val="32497B"/>
            </a:solidFill>
          </a:ln>
        </p:spPr>
        <p:txBody>
          <a:bodyPr vert="eaVert" wrap="square" rtlCol="0">
            <a:spAutoFit/>
          </a:bodyPr>
          <a:lstStyle/>
          <a:p>
            <a:r>
              <a:rPr lang="zh-CN" altLang="en-US" dirty="0"/>
              <a:t>选多样化样本进行测试</a:t>
            </a:r>
          </a:p>
        </p:txBody>
      </p:sp>
      <p:sp>
        <p:nvSpPr>
          <p:cNvPr id="34" name="文本框 33">
            <a:extLst>
              <a:ext uri="{FF2B5EF4-FFF2-40B4-BE49-F238E27FC236}">
                <a16:creationId xmlns:a16="http://schemas.microsoft.com/office/drawing/2014/main" id="{561B6196-982A-AA20-2788-43CAEBB6FA72}"/>
              </a:ext>
            </a:extLst>
          </p:cNvPr>
          <p:cNvSpPr txBox="1"/>
          <p:nvPr/>
        </p:nvSpPr>
        <p:spPr>
          <a:xfrm>
            <a:off x="10867905" y="2590726"/>
            <a:ext cx="461665" cy="3619127"/>
          </a:xfrm>
          <a:prstGeom prst="rect">
            <a:avLst/>
          </a:prstGeom>
          <a:noFill/>
          <a:ln>
            <a:solidFill>
              <a:srgbClr val="32497B"/>
            </a:solidFill>
          </a:ln>
        </p:spPr>
        <p:txBody>
          <a:bodyPr vert="eaVert" wrap="square" rtlCol="0">
            <a:spAutoFit/>
          </a:bodyPr>
          <a:lstStyle/>
          <a:p>
            <a:r>
              <a:rPr lang="zh-CN" altLang="en-US" dirty="0"/>
              <a:t>优化各个模块，形成最终产品模型</a:t>
            </a:r>
          </a:p>
        </p:txBody>
      </p:sp>
      <p:cxnSp>
        <p:nvCxnSpPr>
          <p:cNvPr id="36" name="直接箭头连接符 35">
            <a:extLst>
              <a:ext uri="{FF2B5EF4-FFF2-40B4-BE49-F238E27FC236}">
                <a16:creationId xmlns:a16="http://schemas.microsoft.com/office/drawing/2014/main" id="{951A4628-397F-8704-6F9D-AFC9E30CAC99}"/>
              </a:ext>
            </a:extLst>
          </p:cNvPr>
          <p:cNvCxnSpPr>
            <a:cxnSpLocks/>
            <a:stCxn id="2" idx="3"/>
            <a:endCxn id="25" idx="1"/>
          </p:cNvCxnSpPr>
          <p:nvPr/>
        </p:nvCxnSpPr>
        <p:spPr>
          <a:xfrm>
            <a:off x="3525142" y="1466211"/>
            <a:ext cx="2656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D1E38990-3803-6290-73C7-FEF09BF38722}"/>
              </a:ext>
            </a:extLst>
          </p:cNvPr>
          <p:cNvCxnSpPr>
            <a:cxnSpLocks/>
            <a:stCxn id="25" idx="3"/>
            <a:endCxn id="32" idx="1"/>
          </p:cNvCxnSpPr>
          <p:nvPr/>
        </p:nvCxnSpPr>
        <p:spPr>
          <a:xfrm>
            <a:off x="7282304" y="1466211"/>
            <a:ext cx="2685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9ADE4D6E-6A20-70D2-7AC7-CE0CCBDE5460}"/>
              </a:ext>
            </a:extLst>
          </p:cNvPr>
          <p:cNvCxnSpPr>
            <a:cxnSpLocks/>
            <a:stCxn id="2" idx="2"/>
          </p:cNvCxnSpPr>
          <p:nvPr/>
        </p:nvCxnSpPr>
        <p:spPr>
          <a:xfrm>
            <a:off x="2974730" y="1650877"/>
            <a:ext cx="6927" cy="381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DC459A8-6833-AD03-5EFA-F09F4935A545}"/>
              </a:ext>
            </a:extLst>
          </p:cNvPr>
          <p:cNvCxnSpPr>
            <a:cxnSpLocks/>
            <a:stCxn id="25" idx="2"/>
          </p:cNvCxnSpPr>
          <p:nvPr/>
        </p:nvCxnSpPr>
        <p:spPr>
          <a:xfrm flipH="1">
            <a:off x="6731891" y="1650877"/>
            <a:ext cx="1" cy="3068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6FBD490-DB3A-7B0F-0C8B-B6634EE87EE0}"/>
              </a:ext>
            </a:extLst>
          </p:cNvPr>
          <p:cNvCxnSpPr>
            <a:cxnSpLocks/>
            <a:stCxn id="32" idx="2"/>
          </p:cNvCxnSpPr>
          <p:nvPr/>
        </p:nvCxnSpPr>
        <p:spPr>
          <a:xfrm>
            <a:off x="10517953" y="1650877"/>
            <a:ext cx="0" cy="33797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1927A6F3-03DE-1C99-C5D1-7CFCC9FA47D5}"/>
              </a:ext>
            </a:extLst>
          </p:cNvPr>
          <p:cNvCxnSpPr>
            <a:cxnSpLocks/>
            <a:endCxn id="31" idx="0"/>
          </p:cNvCxnSpPr>
          <p:nvPr/>
        </p:nvCxnSpPr>
        <p:spPr>
          <a:xfrm>
            <a:off x="6731891" y="1951844"/>
            <a:ext cx="2042152" cy="49732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2" name="连接符: 肘形 71">
            <a:extLst>
              <a:ext uri="{FF2B5EF4-FFF2-40B4-BE49-F238E27FC236}">
                <a16:creationId xmlns:a16="http://schemas.microsoft.com/office/drawing/2014/main" id="{8C14509B-EC98-15EE-528D-7078FAE3DC8D}"/>
              </a:ext>
            </a:extLst>
          </p:cNvPr>
          <p:cNvCxnSpPr>
            <a:cxnSpLocks/>
            <a:endCxn id="23" idx="0"/>
          </p:cNvCxnSpPr>
          <p:nvPr/>
        </p:nvCxnSpPr>
        <p:spPr>
          <a:xfrm rot="16200000" flipH="1">
            <a:off x="2970637" y="2036568"/>
            <a:ext cx="530542" cy="522358"/>
          </a:xfrm>
          <a:prstGeom prst="bentConnector3">
            <a:avLst>
              <a:gd name="adj1" fmla="val -922"/>
            </a:avLst>
          </a:prstGeom>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0AE44FE7-395A-0A80-436D-AE3925972206}"/>
              </a:ext>
            </a:extLst>
          </p:cNvPr>
          <p:cNvCxnSpPr>
            <a:cxnSpLocks/>
            <a:endCxn id="5" idx="0"/>
          </p:cNvCxnSpPr>
          <p:nvPr/>
        </p:nvCxnSpPr>
        <p:spPr>
          <a:xfrm rot="5400000">
            <a:off x="2454912" y="2043196"/>
            <a:ext cx="530543" cy="509100"/>
          </a:xfrm>
          <a:prstGeom prst="bentConnector3">
            <a:avLst>
              <a:gd name="adj1" fmla="val -922"/>
            </a:avLst>
          </a:prstGeom>
        </p:spPr>
        <p:style>
          <a:lnRef idx="1">
            <a:schemeClr val="accent1"/>
          </a:lnRef>
          <a:fillRef idx="0">
            <a:schemeClr val="accent1"/>
          </a:fillRef>
          <a:effectRef idx="0">
            <a:schemeClr val="accent1"/>
          </a:effectRef>
          <a:fontRef idx="minor">
            <a:schemeClr val="tx1"/>
          </a:fontRef>
        </p:style>
      </p:cxnSp>
      <p:cxnSp>
        <p:nvCxnSpPr>
          <p:cNvPr id="80" name="连接符: 肘形 79">
            <a:extLst>
              <a:ext uri="{FF2B5EF4-FFF2-40B4-BE49-F238E27FC236}">
                <a16:creationId xmlns:a16="http://schemas.microsoft.com/office/drawing/2014/main" id="{2C897830-EC7A-E883-9D60-C2D9E84ED034}"/>
              </a:ext>
            </a:extLst>
          </p:cNvPr>
          <p:cNvCxnSpPr>
            <a:cxnSpLocks/>
            <a:endCxn id="26" idx="0"/>
          </p:cNvCxnSpPr>
          <p:nvPr/>
        </p:nvCxnSpPr>
        <p:spPr>
          <a:xfrm rot="10800000" flipV="1">
            <a:off x="4925581" y="1951844"/>
            <a:ext cx="1829350" cy="61117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4" name="连接符: 肘形 103">
            <a:extLst>
              <a:ext uri="{FF2B5EF4-FFF2-40B4-BE49-F238E27FC236}">
                <a16:creationId xmlns:a16="http://schemas.microsoft.com/office/drawing/2014/main" id="{CEBB4125-FE90-D6ED-1B1E-9E218282BB68}"/>
              </a:ext>
            </a:extLst>
          </p:cNvPr>
          <p:cNvCxnSpPr>
            <a:cxnSpLocks/>
            <a:endCxn id="30" idx="0"/>
          </p:cNvCxnSpPr>
          <p:nvPr/>
        </p:nvCxnSpPr>
        <p:spPr>
          <a:xfrm>
            <a:off x="6861172" y="1951840"/>
            <a:ext cx="926537" cy="60778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7" name="连接符: 肘形 106">
            <a:extLst>
              <a:ext uri="{FF2B5EF4-FFF2-40B4-BE49-F238E27FC236}">
                <a16:creationId xmlns:a16="http://schemas.microsoft.com/office/drawing/2014/main" id="{78CC5998-54EA-9CE0-D3A1-881C3B94BB8D}"/>
              </a:ext>
            </a:extLst>
          </p:cNvPr>
          <p:cNvCxnSpPr>
            <a:cxnSpLocks/>
            <a:endCxn id="33" idx="0"/>
          </p:cNvCxnSpPr>
          <p:nvPr/>
        </p:nvCxnSpPr>
        <p:spPr>
          <a:xfrm rot="5400000">
            <a:off x="9923031" y="2038501"/>
            <a:ext cx="681583" cy="508262"/>
          </a:xfrm>
          <a:prstGeom prst="bentConnector3">
            <a:avLst>
              <a:gd name="adj1" fmla="val 4264"/>
            </a:avLst>
          </a:prstGeom>
        </p:spPr>
        <p:style>
          <a:lnRef idx="1">
            <a:schemeClr val="accent1"/>
          </a:lnRef>
          <a:fillRef idx="0">
            <a:schemeClr val="accent1"/>
          </a:fillRef>
          <a:effectRef idx="0">
            <a:schemeClr val="accent1"/>
          </a:effectRef>
          <a:fontRef idx="minor">
            <a:schemeClr val="tx1"/>
          </a:fontRef>
        </p:style>
      </p:cxnSp>
      <p:cxnSp>
        <p:nvCxnSpPr>
          <p:cNvPr id="111" name="连接符: 肘形 110">
            <a:extLst>
              <a:ext uri="{FF2B5EF4-FFF2-40B4-BE49-F238E27FC236}">
                <a16:creationId xmlns:a16="http://schemas.microsoft.com/office/drawing/2014/main" id="{E50E72CE-591D-1DA6-9F9E-8441BE874374}"/>
              </a:ext>
            </a:extLst>
          </p:cNvPr>
          <p:cNvCxnSpPr>
            <a:cxnSpLocks/>
            <a:endCxn id="34" idx="0"/>
          </p:cNvCxnSpPr>
          <p:nvPr/>
        </p:nvCxnSpPr>
        <p:spPr>
          <a:xfrm rot="16200000" flipH="1">
            <a:off x="10507405" y="1999393"/>
            <a:ext cx="601880" cy="580786"/>
          </a:xfrm>
          <a:prstGeom prst="bentConnector3">
            <a:avLst>
              <a:gd name="adj1" fmla="val -641"/>
            </a:avLst>
          </a:prstGeom>
        </p:spPr>
        <p:style>
          <a:lnRef idx="1">
            <a:schemeClr val="accent1"/>
          </a:lnRef>
          <a:fillRef idx="0">
            <a:schemeClr val="accent1"/>
          </a:fillRef>
          <a:effectRef idx="0">
            <a:schemeClr val="accent1"/>
          </a:effectRef>
          <a:fontRef idx="minor">
            <a:schemeClr val="tx1"/>
          </a:fontRef>
        </p:style>
      </p:cxnSp>
      <p:cxnSp>
        <p:nvCxnSpPr>
          <p:cNvPr id="144" name="连接符: 肘形 143">
            <a:extLst>
              <a:ext uri="{FF2B5EF4-FFF2-40B4-BE49-F238E27FC236}">
                <a16:creationId xmlns:a16="http://schemas.microsoft.com/office/drawing/2014/main" id="{71D8F06B-AB0C-0B9B-2082-BA1C4309AB27}"/>
              </a:ext>
            </a:extLst>
          </p:cNvPr>
          <p:cNvCxnSpPr>
            <a:endCxn id="27" idx="0"/>
          </p:cNvCxnSpPr>
          <p:nvPr/>
        </p:nvCxnSpPr>
        <p:spPr>
          <a:xfrm rot="10800000" flipV="1">
            <a:off x="5915673" y="1951840"/>
            <a:ext cx="839291" cy="6815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51" name="连接符: 肘形 150">
            <a:extLst>
              <a:ext uri="{FF2B5EF4-FFF2-40B4-BE49-F238E27FC236}">
                <a16:creationId xmlns:a16="http://schemas.microsoft.com/office/drawing/2014/main" id="{1952AA17-F698-F559-E8C4-3A0E1D3F27FD}"/>
              </a:ext>
            </a:extLst>
          </p:cNvPr>
          <p:cNvCxnSpPr>
            <a:endCxn id="29" idx="0"/>
          </p:cNvCxnSpPr>
          <p:nvPr/>
        </p:nvCxnSpPr>
        <p:spPr>
          <a:xfrm rot="16200000" flipH="1">
            <a:off x="6490905" y="2215866"/>
            <a:ext cx="611178" cy="83126"/>
          </a:xfrm>
          <a:prstGeom prst="bentConnector3">
            <a:avLst>
              <a:gd name="adj1" fmla="val 129"/>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285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2">
            <a:lum/>
          </a:blip>
          <a:srcRect/>
          <a:stretch>
            <a:fillRect/>
          </a:stretch>
        </a:blipFill>
        <a:effectLst/>
      </p:bgPr>
    </p:bg>
    <p:spTree>
      <p:nvGrpSpPr>
        <p:cNvPr id="1" name="">
          <a:extLst>
            <a:ext uri="{FF2B5EF4-FFF2-40B4-BE49-F238E27FC236}">
              <a16:creationId xmlns:a16="http://schemas.microsoft.com/office/drawing/2014/main" id="{6D8EC066-DF10-F916-B82F-DF5E6B794D18}"/>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38E376D3-A772-58D6-D92B-70C9B70521B2}"/>
              </a:ext>
            </a:extLst>
          </p:cNvPr>
          <p:cNvSpPr txBox="1"/>
          <p:nvPr/>
        </p:nvSpPr>
        <p:spPr>
          <a:xfrm>
            <a:off x="2307393" y="166826"/>
            <a:ext cx="1146468" cy="461665"/>
          </a:xfrm>
          <a:prstGeom prst="rect">
            <a:avLst/>
          </a:prstGeom>
          <a:noFill/>
        </p:spPr>
        <p:txBody>
          <a:bodyPr wrap="none" rtlCol="0">
            <a:spAutoFit/>
          </a:bodyPr>
          <a:lstStyle/>
          <a:p>
            <a:r>
              <a:rPr lang="zh-CN" altLang="en-US" sz="2400" b="1" spc="100" dirty="0">
                <a:solidFill>
                  <a:schemeClr val="accent1"/>
                </a:solidFill>
                <a:latin typeface="+mj-ea"/>
                <a:ea typeface="+mj-ea"/>
              </a:rPr>
              <a:t>创新点</a:t>
            </a:r>
          </a:p>
        </p:txBody>
      </p:sp>
      <p:grpSp>
        <p:nvGrpSpPr>
          <p:cNvPr id="8" name="组合 7">
            <a:extLst>
              <a:ext uri="{FF2B5EF4-FFF2-40B4-BE49-F238E27FC236}">
                <a16:creationId xmlns:a16="http://schemas.microsoft.com/office/drawing/2014/main" id="{1CEB6D34-B6EB-FABC-CDAC-1B4658DBF528}"/>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57AE2955-6453-7053-EB5A-6005FD521DEA}"/>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253F5E32-8DE3-AA83-A7C3-C81FAF067939}"/>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A7CB482E-879F-E045-346C-48A41E78CBD1}"/>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C057D991-AA1B-2D50-494B-5CF8B5C939A8}"/>
              </a:ext>
            </a:extLst>
          </p:cNvPr>
          <p:cNvSpPr/>
          <p:nvPr/>
        </p:nvSpPr>
        <p:spPr>
          <a:xfrm>
            <a:off x="0" y="2401808"/>
            <a:ext cx="1631406" cy="4628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9AEE5744-C38B-2222-CBEA-B86420B72AC6}"/>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研究内容</a:t>
            </a:r>
          </a:p>
        </p:txBody>
      </p:sp>
      <p:sp>
        <p:nvSpPr>
          <p:cNvPr id="72" name="装饰  1">
            <a:extLst>
              <a:ext uri="{FF2B5EF4-FFF2-40B4-BE49-F238E27FC236}">
                <a16:creationId xmlns:a16="http://schemas.microsoft.com/office/drawing/2014/main" id="{94808D17-444E-5AC2-A3B9-8D80361CE3C3}"/>
              </a:ext>
            </a:extLst>
          </p:cNvPr>
          <p:cNvSpPr txBox="1">
            <a:spLocks/>
          </p:cNvSpPr>
          <p:nvPr>
            <p:custDataLst>
              <p:tags r:id="rId1"/>
            </p:custDataLst>
          </p:nvPr>
        </p:nvSpPr>
        <p:spPr>
          <a:xfrm>
            <a:off x="7473950" y="3660140"/>
            <a:ext cx="5334000" cy="2387600"/>
          </a:xfrm>
          <a:custGeom>
            <a:avLst/>
            <a:gdLst>
              <a:gd name="connisteX0" fmla="*/ 0 w 5334000"/>
              <a:gd name="connsiteY0" fmla="*/ 0 h 2387600"/>
              <a:gd name="connisteX1" fmla="*/ 5334000 w 5334000"/>
              <a:gd name="connsiteY1" fmla="*/ 0 h 2387600"/>
              <a:gd name="connisteX2" fmla="*/ 5334000 w 5334000"/>
              <a:gd name="connsiteY2" fmla="*/ 2184400 h 2387600"/>
              <a:gd name="connisteX3" fmla="*/ 5130800 w 5334000"/>
              <a:gd name="connsiteY3" fmla="*/ 2387600 h 2387600"/>
              <a:gd name="connisteX4" fmla="*/ 203200 w 5334000"/>
              <a:gd name="connsiteY4" fmla="*/ 2387600 h 2387600"/>
              <a:gd name="connisteX5" fmla="*/ 0 w 5334000"/>
              <a:gd name="connsiteY5" fmla="*/ 2184400 h 2387600"/>
              <a:gd name="connisteX6" fmla="*/ 0 w 53340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387600">
                <a:moveTo>
                  <a:pt x="0" y="0"/>
                </a:moveTo>
                <a:lnTo>
                  <a:pt x="5334000" y="0"/>
                </a:lnTo>
                <a:lnTo>
                  <a:pt x="5334000" y="2184400"/>
                </a:lnTo>
                <a:cubicBezTo>
                  <a:pt x="5334000" y="2296624"/>
                  <a:pt x="5243024" y="2387600"/>
                  <a:pt x="5130800" y="2387600"/>
                </a:cubicBezTo>
                <a:lnTo>
                  <a:pt x="203200" y="2387600"/>
                </a:lnTo>
                <a:cubicBezTo>
                  <a:pt x="90976" y="2387600"/>
                  <a:pt x="0" y="2296624"/>
                  <a:pt x="0" y="2184400"/>
                </a:cubicBezTo>
                <a:lnTo>
                  <a:pt x="0" y="0"/>
                </a:lnTo>
                <a:close/>
              </a:path>
            </a:pathLst>
          </a:cu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latin typeface="MiSans Medium" panose="00000600000000000000" charset="-122"/>
              <a:ea typeface="MiSans Normal" panose="00000500000000000000" charset="-122"/>
            </a:endParaRPr>
          </a:p>
        </p:txBody>
      </p:sp>
      <p:sp>
        <p:nvSpPr>
          <p:cNvPr id="73" name="文本占位符 4">
            <a:extLst>
              <a:ext uri="{FF2B5EF4-FFF2-40B4-BE49-F238E27FC236}">
                <a16:creationId xmlns:a16="http://schemas.microsoft.com/office/drawing/2014/main" id="{B8105506-7C8A-23AE-F471-001AE6D93F07}"/>
              </a:ext>
            </a:extLst>
          </p:cNvPr>
          <p:cNvSpPr>
            <a:spLocks noGrp="1"/>
          </p:cNvSpPr>
          <p:nvPr>
            <p:custDataLst>
              <p:tags r:id="rId2"/>
            </p:custDataLst>
          </p:nvPr>
        </p:nvSpPr>
        <p:spPr>
          <a:xfrm>
            <a:off x="2139950" y="3588579"/>
            <a:ext cx="2844800" cy="406400"/>
          </a:xfrm>
          <a:prstGeom prst="rect">
            <a:avLst/>
          </a:prstGeom>
          <a:noFill/>
        </p:spPr>
        <p:txBody>
          <a:bodyPr vert="horz" lIns="0" tIns="0" rIns="0" bIns="0" rtlCol="0" anchor="t">
            <a:noAutofit/>
          </a:bodyPr>
          <a:lstStyle>
            <a:lvl1pPr marL="0" indent="0" algn="l" defTabSz="914400" rtl="0" eaLnBrk="1" fontAlgn="auto" latinLnBrk="0" hangingPunct="1">
              <a:lnSpc>
                <a:spcPct val="111000"/>
              </a:lnSpc>
              <a:spcBef>
                <a:spcPct val="0"/>
              </a:spcBef>
              <a:spcAft>
                <a:spcPct val="0"/>
              </a:spcAft>
              <a:buFont typeface="Arial" panose="020B0604020202020204" pitchFamily="34" charset="0"/>
              <a:buNone/>
              <a:defRPr sz="24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266700">
              <a:lnSpc>
                <a:spcPct val="150000"/>
              </a:lnSpc>
              <a:buFont typeface="Wingdings" panose="05000000000000000000" charset="0"/>
              <a:buChar char="Ø"/>
            </a:pPr>
            <a:r>
              <a:rPr lang="zh-CN" altLang="en-US" sz="2800" b="1" spc="100" dirty="0">
                <a:solidFill>
                  <a:schemeClr val="accent1"/>
                </a:solidFill>
                <a:latin typeface="+mj-ea"/>
                <a:ea typeface="+mj-ea"/>
                <a:sym typeface="+mn-ea"/>
              </a:rPr>
              <a:t>模式创新</a:t>
            </a:r>
          </a:p>
        </p:txBody>
      </p:sp>
      <p:sp>
        <p:nvSpPr>
          <p:cNvPr id="74" name="文本占位符 5">
            <a:extLst>
              <a:ext uri="{FF2B5EF4-FFF2-40B4-BE49-F238E27FC236}">
                <a16:creationId xmlns:a16="http://schemas.microsoft.com/office/drawing/2014/main" id="{7456C129-0626-5DFB-B9E8-5FCBBA11E596}"/>
              </a:ext>
            </a:extLst>
          </p:cNvPr>
          <p:cNvSpPr>
            <a:spLocks noGrp="1"/>
          </p:cNvSpPr>
          <p:nvPr>
            <p:custDataLst>
              <p:tags r:id="rId3"/>
            </p:custDataLst>
          </p:nvPr>
        </p:nvSpPr>
        <p:spPr>
          <a:xfrm>
            <a:off x="2139950" y="4320540"/>
            <a:ext cx="2844800"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700"/>
              </a:spcAft>
            </a:pPr>
            <a:r>
              <a:rPr lang="zh-CN" altLang="en-US" sz="2100" dirty="0">
                <a:solidFill>
                  <a:srgbClr val="C00000"/>
                </a:solidFill>
                <a:latin typeface="微软雅黑" panose="020B0503020204020204" charset="-122"/>
                <a:ea typeface="微软雅黑" panose="020B0503020204020204" charset="-122"/>
              </a:rPr>
              <a:t>手机</a:t>
            </a:r>
            <a:r>
              <a:rPr lang="en-US" altLang="zh-CN" sz="2100" dirty="0">
                <a:solidFill>
                  <a:srgbClr val="C00000"/>
                </a:solidFill>
                <a:latin typeface="微软雅黑" panose="020B0503020204020204" charset="-122"/>
                <a:ea typeface="微软雅黑" panose="020B0503020204020204" charset="-122"/>
              </a:rPr>
              <a:t>+</a:t>
            </a:r>
            <a:r>
              <a:rPr lang="zh-CN" altLang="en-US" sz="2100" dirty="0">
                <a:solidFill>
                  <a:srgbClr val="C00000"/>
                </a:solidFill>
                <a:latin typeface="微软雅黑" panose="020B0503020204020204" charset="-122"/>
                <a:ea typeface="微软雅黑" panose="020B0503020204020204" charset="-122"/>
              </a:rPr>
              <a:t>光谱附件</a:t>
            </a:r>
            <a:r>
              <a:rPr lang="en-US" altLang="zh-CN" sz="2100" dirty="0">
                <a:solidFill>
                  <a:srgbClr val="C00000"/>
                </a:solidFill>
                <a:latin typeface="微软雅黑" panose="020B0503020204020204" charset="-122"/>
                <a:ea typeface="微软雅黑" panose="020B0503020204020204" charset="-122"/>
              </a:rPr>
              <a:t>+AI</a:t>
            </a:r>
            <a:r>
              <a:rPr lang="zh-CN" altLang="en-US" sz="2100" dirty="0">
                <a:solidFill>
                  <a:srgbClr val="000000"/>
                </a:solidFill>
                <a:latin typeface="微软雅黑" panose="020B0503020204020204" charset="-122"/>
                <a:ea typeface="微软雅黑" panose="020B0503020204020204" charset="-122"/>
              </a:rPr>
              <a:t>，打造果蔬农残现场检测微生态。</a:t>
            </a:r>
            <a:endParaRPr lang="zh-CN" altLang="en-US" sz="2100" dirty="0">
              <a:solidFill>
                <a:srgbClr val="000000"/>
              </a:solidFill>
              <a:latin typeface="微软雅黑" panose="020B0503020204020204" charset="-122"/>
              <a:ea typeface="微软雅黑" panose="020B0503020204020204" charset="-122"/>
              <a:sym typeface="+mn-ea"/>
            </a:endParaRPr>
          </a:p>
        </p:txBody>
      </p:sp>
      <p:sp>
        <p:nvSpPr>
          <p:cNvPr id="76" name="文本占位符 8">
            <a:extLst>
              <a:ext uri="{FF2B5EF4-FFF2-40B4-BE49-F238E27FC236}">
                <a16:creationId xmlns:a16="http://schemas.microsoft.com/office/drawing/2014/main" id="{09CD11F9-BE3B-2D0E-C3F8-550BC0A8E2FE}"/>
              </a:ext>
            </a:extLst>
          </p:cNvPr>
          <p:cNvSpPr>
            <a:spLocks noGrp="1"/>
          </p:cNvSpPr>
          <p:nvPr>
            <p:custDataLst>
              <p:tags r:id="rId4"/>
            </p:custDataLst>
          </p:nvPr>
        </p:nvSpPr>
        <p:spPr>
          <a:xfrm>
            <a:off x="5899150" y="1297940"/>
            <a:ext cx="2844800" cy="406400"/>
          </a:xfrm>
          <a:prstGeom prst="rect">
            <a:avLst/>
          </a:prstGeom>
          <a:noFill/>
        </p:spPr>
        <p:txBody>
          <a:bodyPr vert="horz" lIns="0" tIns="0" rIns="0" bIns="0" rtlCol="0" anchor="t">
            <a:noAutofit/>
          </a:bodyPr>
          <a:lstStyle>
            <a:lvl1pPr marL="0" indent="0" algn="l" defTabSz="914400" rtl="0" eaLnBrk="1" fontAlgn="auto" latinLnBrk="0" hangingPunct="1">
              <a:lnSpc>
                <a:spcPct val="111000"/>
              </a:lnSpc>
              <a:spcBef>
                <a:spcPct val="0"/>
              </a:spcBef>
              <a:spcAft>
                <a:spcPct val="0"/>
              </a:spcAft>
              <a:buFont typeface="Arial" panose="020B0604020202020204" pitchFamily="34" charset="0"/>
              <a:buNone/>
              <a:defRPr sz="24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266700">
              <a:lnSpc>
                <a:spcPct val="150000"/>
              </a:lnSpc>
              <a:buFont typeface="Wingdings" panose="05000000000000000000" charset="0"/>
              <a:buChar char="Ø"/>
              <a:defRPr/>
            </a:pPr>
            <a:r>
              <a:rPr lang="zh-CN" altLang="en-US" sz="2800" b="1" spc="100" dirty="0">
                <a:solidFill>
                  <a:schemeClr val="accent1"/>
                </a:solidFill>
                <a:latin typeface="+mj-ea"/>
                <a:ea typeface="+mj-ea"/>
                <a:sym typeface="+mn-ea"/>
              </a:rPr>
              <a:t>技术创新</a:t>
            </a:r>
          </a:p>
        </p:txBody>
      </p:sp>
      <p:sp>
        <p:nvSpPr>
          <p:cNvPr id="77" name="文本占位符 9">
            <a:extLst>
              <a:ext uri="{FF2B5EF4-FFF2-40B4-BE49-F238E27FC236}">
                <a16:creationId xmlns:a16="http://schemas.microsoft.com/office/drawing/2014/main" id="{C8B52BBC-0DA9-B6EB-ACBF-655C9C456948}"/>
              </a:ext>
            </a:extLst>
          </p:cNvPr>
          <p:cNvSpPr>
            <a:spLocks noGrp="1"/>
          </p:cNvSpPr>
          <p:nvPr>
            <p:custDataLst>
              <p:tags r:id="rId5"/>
            </p:custDataLst>
          </p:nvPr>
        </p:nvSpPr>
        <p:spPr>
          <a:xfrm>
            <a:off x="5899150" y="1983740"/>
            <a:ext cx="3025775"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100" dirty="0">
                <a:solidFill>
                  <a:srgbClr val="000000"/>
                </a:solidFill>
                <a:latin typeface="微软雅黑" panose="020B0503020204020204" charset="-122"/>
                <a:ea typeface="微软雅黑" panose="020B0503020204020204" charset="-122"/>
              </a:rPr>
              <a:t>光谱</a:t>
            </a:r>
            <a:r>
              <a:rPr lang="en-US" altLang="zh-CN" sz="2100" dirty="0">
                <a:solidFill>
                  <a:srgbClr val="000000"/>
                </a:solidFill>
                <a:latin typeface="微软雅黑" panose="020B0503020204020204" charset="-122"/>
                <a:ea typeface="微软雅黑" panose="020B0503020204020204" charset="-122"/>
              </a:rPr>
              <a:t>AI</a:t>
            </a:r>
            <a:r>
              <a:rPr lang="zh-CN" altLang="en-US" sz="2100" dirty="0">
                <a:solidFill>
                  <a:srgbClr val="000000"/>
                </a:solidFill>
                <a:latin typeface="微软雅黑" panose="020B0503020204020204" charset="-122"/>
                <a:ea typeface="微软雅黑" panose="020B0503020204020204" charset="-122"/>
              </a:rPr>
              <a:t>直击手机端，果蔬农残实时高精检测。</a:t>
            </a:r>
          </a:p>
        </p:txBody>
      </p:sp>
      <p:sp>
        <p:nvSpPr>
          <p:cNvPr id="79" name="文本占位符 12">
            <a:extLst>
              <a:ext uri="{FF2B5EF4-FFF2-40B4-BE49-F238E27FC236}">
                <a16:creationId xmlns:a16="http://schemas.microsoft.com/office/drawing/2014/main" id="{A9D74A95-2C3F-19D9-2D17-A42D4D73BBE5}"/>
              </a:ext>
            </a:extLst>
          </p:cNvPr>
          <p:cNvSpPr>
            <a:spLocks noGrp="1"/>
          </p:cNvSpPr>
          <p:nvPr>
            <p:custDataLst>
              <p:tags r:id="rId6"/>
            </p:custDataLst>
          </p:nvPr>
        </p:nvSpPr>
        <p:spPr>
          <a:xfrm>
            <a:off x="9213078" y="3685540"/>
            <a:ext cx="2844800" cy="406400"/>
          </a:xfrm>
          <a:prstGeom prst="rect">
            <a:avLst/>
          </a:prstGeom>
          <a:noFill/>
        </p:spPr>
        <p:txBody>
          <a:bodyPr vert="horz" lIns="0" tIns="0" rIns="0" bIns="0" rtlCol="0" anchor="t">
            <a:noAutofit/>
          </a:bodyPr>
          <a:lstStyle>
            <a:lvl1pPr marL="0" indent="0" algn="l" defTabSz="914400" rtl="0" eaLnBrk="1" fontAlgn="auto" latinLnBrk="0" hangingPunct="1">
              <a:lnSpc>
                <a:spcPct val="111000"/>
              </a:lnSpc>
              <a:spcBef>
                <a:spcPct val="0"/>
              </a:spcBef>
              <a:spcAft>
                <a:spcPct val="0"/>
              </a:spcAft>
              <a:buFont typeface="Arial" panose="020B0604020202020204" pitchFamily="34" charset="0"/>
              <a:buNone/>
              <a:defRPr sz="24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266700">
              <a:lnSpc>
                <a:spcPct val="150000"/>
              </a:lnSpc>
              <a:buFont typeface="Wingdings" panose="05000000000000000000" charset="0"/>
              <a:buChar char="Ø"/>
            </a:pPr>
            <a:r>
              <a:rPr lang="zh-CN" altLang="en-US" sz="2800" b="1" spc="100" dirty="0">
                <a:solidFill>
                  <a:schemeClr val="accent1"/>
                </a:solidFill>
                <a:latin typeface="+mj-ea"/>
                <a:ea typeface="+mj-ea"/>
                <a:sym typeface="+mn-ea"/>
              </a:rPr>
              <a:t>应用创新</a:t>
            </a:r>
          </a:p>
        </p:txBody>
      </p:sp>
      <p:sp>
        <p:nvSpPr>
          <p:cNvPr id="80" name="文本占位符 13">
            <a:extLst>
              <a:ext uri="{FF2B5EF4-FFF2-40B4-BE49-F238E27FC236}">
                <a16:creationId xmlns:a16="http://schemas.microsoft.com/office/drawing/2014/main" id="{8D45D94E-0595-C681-1EE4-7E51E9985635}"/>
              </a:ext>
            </a:extLst>
          </p:cNvPr>
          <p:cNvSpPr>
            <a:spLocks noGrp="1"/>
          </p:cNvSpPr>
          <p:nvPr>
            <p:custDataLst>
              <p:tags r:id="rId7"/>
            </p:custDataLst>
          </p:nvPr>
        </p:nvSpPr>
        <p:spPr>
          <a:xfrm>
            <a:off x="9213078" y="4371340"/>
            <a:ext cx="2844800"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100" dirty="0">
                <a:solidFill>
                  <a:srgbClr val="000000"/>
                </a:solidFill>
                <a:latin typeface="微软雅黑" panose="020B0503020204020204" charset="-122"/>
                <a:ea typeface="微软雅黑" panose="020B0503020204020204" charset="-122"/>
              </a:rPr>
              <a:t>AI</a:t>
            </a:r>
            <a:r>
              <a:rPr lang="zh-CN" altLang="en-US" sz="2100" dirty="0">
                <a:solidFill>
                  <a:srgbClr val="000000"/>
                </a:solidFill>
                <a:latin typeface="微软雅黑" panose="020B0503020204020204" charset="-122"/>
                <a:ea typeface="微软雅黑" panose="020B0503020204020204" charset="-122"/>
              </a:rPr>
              <a:t>便民光谱方案，让果蔬农残检测</a:t>
            </a:r>
            <a:r>
              <a:rPr lang="zh-CN" altLang="en-US" sz="2100" dirty="0">
                <a:solidFill>
                  <a:srgbClr val="C00000"/>
                </a:solidFill>
                <a:latin typeface="微软雅黑" panose="020B0503020204020204" charset="-122"/>
                <a:ea typeface="微软雅黑" panose="020B0503020204020204" charset="-122"/>
              </a:rPr>
              <a:t>一键普及</a:t>
            </a:r>
            <a:r>
              <a:rPr lang="zh-CN" altLang="en-US" sz="2100" dirty="0">
                <a:solidFill>
                  <a:srgbClr val="000000"/>
                </a:solidFill>
                <a:latin typeface="微软雅黑" panose="020B0503020204020204" charset="-122"/>
                <a:ea typeface="微软雅黑" panose="020B0503020204020204" charset="-122"/>
              </a:rPr>
              <a:t>。</a:t>
            </a:r>
            <a:endParaRPr lang="zh-CN" altLang="en-US" sz="2100" dirty="0">
              <a:solidFill>
                <a:srgbClr val="000000"/>
              </a:solidFill>
              <a:latin typeface="微软雅黑" panose="020B0503020204020204" charset="-122"/>
              <a:ea typeface="微软雅黑" panose="020B0503020204020204" charset="-122"/>
              <a:sym typeface="+mn-ea"/>
            </a:endParaRPr>
          </a:p>
        </p:txBody>
      </p:sp>
      <p:pic>
        <p:nvPicPr>
          <p:cNvPr id="81" name="图片 80">
            <a:extLst>
              <a:ext uri="{FF2B5EF4-FFF2-40B4-BE49-F238E27FC236}">
                <a16:creationId xmlns:a16="http://schemas.microsoft.com/office/drawing/2014/main" id="{2DE55288-5AC2-E690-B2CB-EF8AF334E3A2}"/>
              </a:ext>
            </a:extLst>
          </p:cNvPr>
          <p:cNvPicPr/>
          <p:nvPr/>
        </p:nvPicPr>
        <p:blipFill>
          <a:blip r:embed="rId13"/>
          <a:srcRect l="6133" t="7257" r="4867" b="6564"/>
          <a:stretch>
            <a:fillRect/>
          </a:stretch>
        </p:blipFill>
        <p:spPr>
          <a:xfrm>
            <a:off x="1898650" y="1456690"/>
            <a:ext cx="3390900" cy="2051050"/>
          </a:xfrm>
          <a:prstGeom prst="rect">
            <a:avLst/>
          </a:prstGeom>
        </p:spPr>
      </p:pic>
      <p:grpSp>
        <p:nvGrpSpPr>
          <p:cNvPr id="87" name="组合 86">
            <a:extLst>
              <a:ext uri="{FF2B5EF4-FFF2-40B4-BE49-F238E27FC236}">
                <a16:creationId xmlns:a16="http://schemas.microsoft.com/office/drawing/2014/main" id="{EA41D184-87FC-973D-F82D-E2E585B24C70}"/>
              </a:ext>
            </a:extLst>
          </p:cNvPr>
          <p:cNvGrpSpPr/>
          <p:nvPr/>
        </p:nvGrpSpPr>
        <p:grpSpPr>
          <a:xfrm>
            <a:off x="9213078" y="1189163"/>
            <a:ext cx="2428102" cy="2318577"/>
            <a:chOff x="11904" y="3217"/>
            <a:chExt cx="7422" cy="7492"/>
          </a:xfrm>
        </p:grpSpPr>
        <p:pic>
          <p:nvPicPr>
            <p:cNvPr id="88" name="图片 87">
              <a:extLst>
                <a:ext uri="{FF2B5EF4-FFF2-40B4-BE49-F238E27FC236}">
                  <a16:creationId xmlns:a16="http://schemas.microsoft.com/office/drawing/2014/main" id="{C5091AAB-6960-D7C8-3F67-D963E0B0C165}"/>
                </a:ext>
              </a:extLst>
            </p:cNvPr>
            <p:cNvPicPr>
              <a:picLocks noChangeAspect="1"/>
            </p:cNvPicPr>
            <p:nvPr>
              <p:custDataLst>
                <p:tags r:id="rId8"/>
              </p:custDataLst>
            </p:nvPr>
          </p:nvPicPr>
          <p:blipFill>
            <a:blip r:embed="rId14">
              <a:clrChange>
                <a:clrFrom>
                  <a:srgbClr val="FFFFFF">
                    <a:alpha val="100000"/>
                  </a:srgbClr>
                </a:clrFrom>
                <a:clrTo>
                  <a:srgbClr val="FFFFFF">
                    <a:alpha val="100000"/>
                    <a:alpha val="0"/>
                  </a:srgbClr>
                </a:clrTo>
              </a:clrChange>
            </a:blip>
            <a:stretch>
              <a:fillRect/>
            </a:stretch>
          </p:blipFill>
          <p:spPr>
            <a:xfrm>
              <a:off x="11904" y="3217"/>
              <a:ext cx="7423" cy="7493"/>
            </a:xfrm>
            <a:prstGeom prst="rect">
              <a:avLst/>
            </a:prstGeom>
          </p:spPr>
        </p:pic>
        <p:pic>
          <p:nvPicPr>
            <p:cNvPr id="89" name="图片 88">
              <a:extLst>
                <a:ext uri="{FF2B5EF4-FFF2-40B4-BE49-F238E27FC236}">
                  <a16:creationId xmlns:a16="http://schemas.microsoft.com/office/drawing/2014/main" id="{4019D611-902C-CBCC-46F5-E958E6883119}"/>
                </a:ext>
              </a:extLst>
            </p:cNvPr>
            <p:cNvPicPr>
              <a:picLocks noChangeAspect="1"/>
            </p:cNvPicPr>
            <p:nvPr>
              <p:custDataLst>
                <p:tags r:id="rId9"/>
              </p:custDataLst>
            </p:nvPr>
          </p:nvPicPr>
          <p:blipFill>
            <a:blip r:embed="rId15"/>
            <a:stretch>
              <a:fillRect/>
            </a:stretch>
          </p:blipFill>
          <p:spPr>
            <a:xfrm>
              <a:off x="12885" y="6215"/>
              <a:ext cx="1370" cy="749"/>
            </a:xfrm>
            <a:prstGeom prst="rect">
              <a:avLst/>
            </a:prstGeom>
          </p:spPr>
        </p:pic>
      </p:grpSp>
      <p:pic>
        <p:nvPicPr>
          <p:cNvPr id="3" name="图片 2">
            <a:extLst>
              <a:ext uri="{FF2B5EF4-FFF2-40B4-BE49-F238E27FC236}">
                <a16:creationId xmlns:a16="http://schemas.microsoft.com/office/drawing/2014/main" id="{9980899D-CFDA-E174-F7F4-97D18FF97C5E}"/>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373972" y="3594374"/>
            <a:ext cx="3369978" cy="2453366"/>
          </a:xfrm>
          <a:prstGeom prst="rect">
            <a:avLst/>
          </a:prstGeom>
        </p:spPr>
      </p:pic>
    </p:spTree>
    <p:extLst>
      <p:ext uri="{BB962C8B-B14F-4D97-AF65-F5344CB8AC3E}">
        <p14:creationId xmlns:p14="http://schemas.microsoft.com/office/powerpoint/2010/main" val="333531947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79EAE39-4312-B78A-39ED-F793483206D0}"/>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A775F96D-ADE8-307B-C4EB-B45CFC653D12}"/>
              </a:ext>
            </a:extLst>
          </p:cNvPr>
          <p:cNvSpPr txBox="1"/>
          <p:nvPr/>
        </p:nvSpPr>
        <p:spPr>
          <a:xfrm>
            <a:off x="2307393" y="166826"/>
            <a:ext cx="1467068" cy="461665"/>
          </a:xfrm>
          <a:prstGeom prst="rect">
            <a:avLst/>
          </a:prstGeom>
          <a:noFill/>
        </p:spPr>
        <p:txBody>
          <a:bodyPr wrap="none" rtlCol="0">
            <a:spAutoFit/>
          </a:bodyPr>
          <a:lstStyle/>
          <a:p>
            <a:r>
              <a:rPr lang="zh-CN" altLang="en-US" sz="2400" b="1" spc="100" dirty="0">
                <a:solidFill>
                  <a:schemeClr val="accent1"/>
                </a:solidFill>
                <a:latin typeface="+mj-ea"/>
                <a:ea typeface="+mj-ea"/>
              </a:rPr>
              <a:t>预期结果</a:t>
            </a:r>
          </a:p>
        </p:txBody>
      </p:sp>
      <p:grpSp>
        <p:nvGrpSpPr>
          <p:cNvPr id="8" name="组合 7">
            <a:extLst>
              <a:ext uri="{FF2B5EF4-FFF2-40B4-BE49-F238E27FC236}">
                <a16:creationId xmlns:a16="http://schemas.microsoft.com/office/drawing/2014/main" id="{F6CC2115-C43E-707E-B9AE-FB0D1C43B92F}"/>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43EEEC59-5EFE-3268-BC7A-37B5361CD925}"/>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949816F2-362C-EE3B-F08A-E2DF03950D78}"/>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55575C35-05A8-4C7B-06C7-8A5F2D67240A}"/>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49F0E4EC-84CA-561D-9C23-6AA26225BDA5}"/>
              </a:ext>
            </a:extLst>
          </p:cNvPr>
          <p:cNvSpPr/>
          <p:nvPr/>
        </p:nvSpPr>
        <p:spPr>
          <a:xfrm>
            <a:off x="0" y="2401808"/>
            <a:ext cx="1631406" cy="5307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27C1B8FC-6643-9D88-30D6-ECE8F9C0D586}"/>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研究内容</a:t>
            </a:r>
          </a:p>
        </p:txBody>
      </p:sp>
      <p:grpSp>
        <p:nvGrpSpPr>
          <p:cNvPr id="32" name="组合 31">
            <a:extLst>
              <a:ext uri="{FF2B5EF4-FFF2-40B4-BE49-F238E27FC236}">
                <a16:creationId xmlns:a16="http://schemas.microsoft.com/office/drawing/2014/main" id="{24B298B7-B7E9-E13C-986C-C9848CC6D0EA}"/>
              </a:ext>
            </a:extLst>
          </p:cNvPr>
          <p:cNvGrpSpPr/>
          <p:nvPr/>
        </p:nvGrpSpPr>
        <p:grpSpPr>
          <a:xfrm>
            <a:off x="7601459" y="3919221"/>
            <a:ext cx="3875718" cy="1731821"/>
            <a:chOff x="6608150" y="3830535"/>
            <a:chExt cx="3875718" cy="1731821"/>
          </a:xfrm>
        </p:grpSpPr>
        <p:sp>
          <p:nvSpPr>
            <p:cNvPr id="34" name="文本框 33">
              <a:extLst>
                <a:ext uri="{FF2B5EF4-FFF2-40B4-BE49-F238E27FC236}">
                  <a16:creationId xmlns:a16="http://schemas.microsoft.com/office/drawing/2014/main" id="{437CED5C-CB53-1172-A268-9D6D6916E053}"/>
                </a:ext>
              </a:extLst>
            </p:cNvPr>
            <p:cNvSpPr txBox="1"/>
            <p:nvPr/>
          </p:nvSpPr>
          <p:spPr>
            <a:xfrm>
              <a:off x="6608150" y="3830535"/>
              <a:ext cx="1063910" cy="840230"/>
            </a:xfrm>
            <a:prstGeom prst="rect">
              <a:avLst/>
            </a:prstGeom>
            <a:noFill/>
          </p:spPr>
          <p:txBody>
            <a:bodyPr wrap="square" lIns="0" rtlCol="0">
              <a:spAutoFit/>
            </a:bodyPr>
            <a:lstStyle>
              <a:defPPr>
                <a:defRPr lang="zh-CN"/>
              </a:defPPr>
              <a:lvl1pPr marR="0" lvl="0" indent="0" fontAlgn="auto">
                <a:lnSpc>
                  <a:spcPct val="90000"/>
                </a:lnSpc>
                <a:spcBef>
                  <a:spcPts val="1000"/>
                </a:spcBef>
                <a:spcAft>
                  <a:spcPts val="0"/>
                </a:spcAft>
                <a:buClrTx/>
                <a:buSzTx/>
                <a:buFontTx/>
                <a:buNone/>
                <a:defRPr sz="5400">
                  <a:gradFill>
                    <a:gsLst>
                      <a:gs pos="0">
                        <a:srgbClr val="003778"/>
                      </a:gs>
                      <a:gs pos="100000">
                        <a:srgbClr val="003778">
                          <a:lumMod val="20000"/>
                          <a:lumOff val="80000"/>
                          <a:alpha val="0"/>
                        </a:srgbClr>
                      </a:gs>
                    </a:gsLst>
                    <a:lin ang="5400000" scaled="1"/>
                  </a:gradFill>
                  <a:latin typeface="Impact" panose="020B0806030902050204" pitchFamily="34" charset="0"/>
                </a:defRPr>
              </a:lvl1pPr>
            </a:lstStyle>
            <a:p>
              <a:r>
                <a:rPr lang="en-US" altLang="zh-CN" dirty="0"/>
                <a:t>04</a:t>
              </a:r>
              <a:endParaRPr lang="zh-CN" altLang="en-US" dirty="0"/>
            </a:p>
          </p:txBody>
        </p:sp>
        <p:sp>
          <p:nvSpPr>
            <p:cNvPr id="35" name="文本框 34">
              <a:extLst>
                <a:ext uri="{FF2B5EF4-FFF2-40B4-BE49-F238E27FC236}">
                  <a16:creationId xmlns:a16="http://schemas.microsoft.com/office/drawing/2014/main" id="{DE2445CB-77ED-6157-8399-989E458200C9}"/>
                </a:ext>
              </a:extLst>
            </p:cNvPr>
            <p:cNvSpPr txBox="1"/>
            <p:nvPr/>
          </p:nvSpPr>
          <p:spPr>
            <a:xfrm>
              <a:off x="7867689" y="3933674"/>
              <a:ext cx="1913823" cy="461665"/>
            </a:xfrm>
            <a:prstGeom prst="rect">
              <a:avLst/>
            </a:prstGeom>
            <a:noFill/>
          </p:spPr>
          <p:txBody>
            <a:bodyPr wrap="square" lIns="0" rtlCol="0">
              <a:spAutoFit/>
            </a:bodyPr>
            <a:lstStyle/>
            <a:p>
              <a:pPr marR="0" lvl="0" indent="0" fontAlgn="auto">
                <a:lnSpc>
                  <a:spcPct val="100000"/>
                </a:lnSpc>
                <a:spcBef>
                  <a:spcPts val="0"/>
                </a:spcBef>
                <a:spcAft>
                  <a:spcPts val="0"/>
                </a:spcAft>
                <a:buClrTx/>
                <a:buSzTx/>
                <a:buFontTx/>
                <a:buNone/>
                <a:defRPr/>
              </a:pPr>
              <a:r>
                <a:rPr lang="zh-CN" altLang="en-US" sz="2400" b="1" spc="100" dirty="0">
                  <a:solidFill>
                    <a:schemeClr val="accent1"/>
                  </a:solidFill>
                  <a:latin typeface="+mj-ea"/>
                  <a:ea typeface="+mj-ea"/>
                  <a:sym typeface="+mn-ea"/>
                </a:rPr>
                <a:t>学术成果</a:t>
              </a:r>
              <a:endParaRPr lang="zh-CN" altLang="en-US" sz="2400" b="1" spc="100" dirty="0">
                <a:solidFill>
                  <a:schemeClr val="accent1"/>
                </a:solidFill>
                <a:latin typeface="+mj-ea"/>
                <a:ea typeface="+mj-ea"/>
              </a:endParaRPr>
            </a:p>
          </p:txBody>
        </p:sp>
        <p:sp>
          <p:nvSpPr>
            <p:cNvPr id="36" name="文本框 35">
              <a:extLst>
                <a:ext uri="{FF2B5EF4-FFF2-40B4-BE49-F238E27FC236}">
                  <a16:creationId xmlns:a16="http://schemas.microsoft.com/office/drawing/2014/main" id="{8949C6A4-58BB-6E50-0C47-C027EBC3C368}"/>
                </a:ext>
              </a:extLst>
            </p:cNvPr>
            <p:cNvSpPr txBox="1"/>
            <p:nvPr/>
          </p:nvSpPr>
          <p:spPr>
            <a:xfrm>
              <a:off x="7236545" y="4670765"/>
              <a:ext cx="3247323" cy="891591"/>
            </a:xfrm>
            <a:prstGeom prst="rect">
              <a:avLst/>
            </a:prstGeom>
            <a:noFill/>
          </p:spPr>
          <p:txBody>
            <a:bodyPr wrap="square" lIns="0" rtlCol="0">
              <a:spAutoFit/>
            </a:bodyPr>
            <a:lstStyle/>
            <a:p>
              <a:pPr indent="0">
                <a:lnSpc>
                  <a:spcPct val="130000"/>
                </a:lnSpc>
                <a:spcBef>
                  <a:spcPct val="0"/>
                </a:spcBef>
                <a:spcAft>
                  <a:spcPct val="0"/>
                </a:spcAft>
                <a:defRPr/>
              </a:pPr>
              <a:r>
                <a:rPr lang="zh-CN" altLang="en-US" sz="2100" dirty="0">
                  <a:solidFill>
                    <a:srgbClr val="000000"/>
                  </a:solidFill>
                  <a:latin typeface="微软雅黑" panose="020B0503020204020204" charset="-122"/>
                  <a:ea typeface="微软雅黑" panose="020B0503020204020204" charset="-122"/>
                  <a:sym typeface="+mn-ea"/>
                </a:rPr>
                <a:t>发表相关学术论文</a:t>
              </a:r>
              <a:r>
                <a:rPr lang="en-US" altLang="zh-CN" sz="2100" dirty="0">
                  <a:solidFill>
                    <a:srgbClr val="000000"/>
                  </a:solidFill>
                  <a:latin typeface="微软雅黑" panose="020B0503020204020204" charset="-122"/>
                  <a:ea typeface="微软雅黑" panose="020B0503020204020204" charset="-122"/>
                  <a:sym typeface="+mn-ea"/>
                </a:rPr>
                <a:t>1-2</a:t>
              </a:r>
              <a:r>
                <a:rPr lang="zh-CN" altLang="en-US" sz="2100" dirty="0">
                  <a:solidFill>
                    <a:srgbClr val="000000"/>
                  </a:solidFill>
                  <a:latin typeface="微软雅黑" panose="020B0503020204020204" charset="-122"/>
                  <a:ea typeface="微软雅黑" panose="020B0503020204020204" charset="-122"/>
                  <a:sym typeface="+mn-ea"/>
                </a:rPr>
                <a:t>篇或申请专利</a:t>
              </a:r>
              <a:r>
                <a:rPr lang="en-US" altLang="zh-CN" sz="2100" dirty="0">
                  <a:solidFill>
                    <a:srgbClr val="000000"/>
                  </a:solidFill>
                  <a:latin typeface="微软雅黑" panose="020B0503020204020204" charset="-122"/>
                  <a:ea typeface="微软雅黑" panose="020B0503020204020204" charset="-122"/>
                  <a:sym typeface="+mn-ea"/>
                </a:rPr>
                <a:t>1-2</a:t>
              </a:r>
              <a:r>
                <a:rPr lang="zh-CN" altLang="en-US" sz="2100" dirty="0">
                  <a:solidFill>
                    <a:srgbClr val="000000"/>
                  </a:solidFill>
                  <a:latin typeface="微软雅黑" panose="020B0503020204020204" charset="-122"/>
                  <a:ea typeface="微软雅黑" panose="020B0503020204020204" charset="-122"/>
                  <a:sym typeface="+mn-ea"/>
                </a:rPr>
                <a:t>项</a:t>
              </a:r>
              <a:endParaRPr lang="zh-CN" altLang="en-US" sz="2100" dirty="0">
                <a:solidFill>
                  <a:srgbClr val="000000"/>
                </a:solidFill>
                <a:latin typeface="微软雅黑" panose="020B0503020204020204" charset="-122"/>
                <a:ea typeface="微软雅黑" panose="020B0503020204020204" charset="-122"/>
              </a:endParaRPr>
            </a:p>
          </p:txBody>
        </p:sp>
      </p:grpSp>
      <p:sp>
        <p:nvSpPr>
          <p:cNvPr id="42" name="圆角矩形 5">
            <a:extLst>
              <a:ext uri="{FF2B5EF4-FFF2-40B4-BE49-F238E27FC236}">
                <a16:creationId xmlns:a16="http://schemas.microsoft.com/office/drawing/2014/main" id="{FA85DF23-B618-F674-B781-BFB9E7A8216C}"/>
              </a:ext>
            </a:extLst>
          </p:cNvPr>
          <p:cNvSpPr/>
          <p:nvPr/>
        </p:nvSpPr>
        <p:spPr>
          <a:xfrm>
            <a:off x="1863090" y="1301561"/>
            <a:ext cx="4794250" cy="2021205"/>
          </a:xfrm>
          <a:prstGeom prst="roundRect">
            <a:avLst/>
          </a:prstGeom>
          <a:noFill/>
          <a:ln w="28575">
            <a:prstDash val="lg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3" name="圆角矩形 5">
            <a:extLst>
              <a:ext uri="{FF2B5EF4-FFF2-40B4-BE49-F238E27FC236}">
                <a16:creationId xmlns:a16="http://schemas.microsoft.com/office/drawing/2014/main" id="{915F9CCE-5918-CA49-39C5-970E06AC9466}"/>
              </a:ext>
            </a:extLst>
          </p:cNvPr>
          <p:cNvSpPr/>
          <p:nvPr/>
        </p:nvSpPr>
        <p:spPr>
          <a:xfrm>
            <a:off x="7107014" y="1301561"/>
            <a:ext cx="4794250" cy="2021205"/>
          </a:xfrm>
          <a:prstGeom prst="roundRect">
            <a:avLst/>
          </a:prstGeom>
          <a:noFill/>
          <a:ln w="28575">
            <a:prstDash val="lg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圆角矩形 5">
            <a:extLst>
              <a:ext uri="{FF2B5EF4-FFF2-40B4-BE49-F238E27FC236}">
                <a16:creationId xmlns:a16="http://schemas.microsoft.com/office/drawing/2014/main" id="{C094B258-85AD-5090-7755-AA74D37D652E}"/>
              </a:ext>
            </a:extLst>
          </p:cNvPr>
          <p:cNvSpPr/>
          <p:nvPr/>
        </p:nvSpPr>
        <p:spPr>
          <a:xfrm>
            <a:off x="1863090" y="3919221"/>
            <a:ext cx="4794250" cy="2021205"/>
          </a:xfrm>
          <a:prstGeom prst="roundRect">
            <a:avLst/>
          </a:prstGeom>
          <a:noFill/>
          <a:ln w="28575">
            <a:prstDash val="lg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圆角矩形 5">
            <a:extLst>
              <a:ext uri="{FF2B5EF4-FFF2-40B4-BE49-F238E27FC236}">
                <a16:creationId xmlns:a16="http://schemas.microsoft.com/office/drawing/2014/main" id="{178F8461-2279-EADB-837B-8DB20E7456AC}"/>
              </a:ext>
            </a:extLst>
          </p:cNvPr>
          <p:cNvSpPr/>
          <p:nvPr/>
        </p:nvSpPr>
        <p:spPr>
          <a:xfrm>
            <a:off x="7107014" y="3919221"/>
            <a:ext cx="4794250" cy="2021205"/>
          </a:xfrm>
          <a:prstGeom prst="roundRect">
            <a:avLst/>
          </a:prstGeom>
          <a:noFill/>
          <a:ln w="28575">
            <a:prstDash val="lg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FC2C74DD-EE3D-21C9-DC61-4DA97227BA98}"/>
              </a:ext>
            </a:extLst>
          </p:cNvPr>
          <p:cNvSpPr txBox="1"/>
          <p:nvPr/>
        </p:nvSpPr>
        <p:spPr>
          <a:xfrm>
            <a:off x="2307393" y="1293464"/>
            <a:ext cx="2301682" cy="840230"/>
          </a:xfrm>
          <a:prstGeom prst="rect">
            <a:avLst/>
          </a:prstGeom>
          <a:noFill/>
        </p:spPr>
        <p:txBody>
          <a:bodyPr wrap="square" lIns="0" rtlCol="0">
            <a:spAutoFit/>
          </a:bodyPr>
          <a:lstStyle/>
          <a:p>
            <a:pPr>
              <a:lnSpc>
                <a:spcPct val="90000"/>
              </a:lnSpc>
              <a:spcBef>
                <a:spcPts val="1000"/>
              </a:spcBef>
              <a:defRPr/>
            </a:pPr>
            <a:r>
              <a:rPr lang="en-US" altLang="zh-CN" sz="5400" dirty="0">
                <a:gradFill>
                  <a:gsLst>
                    <a:gs pos="0">
                      <a:srgbClr val="003778"/>
                    </a:gs>
                    <a:gs pos="100000">
                      <a:srgbClr val="003778">
                        <a:lumMod val="20000"/>
                        <a:lumOff val="80000"/>
                        <a:alpha val="0"/>
                      </a:srgbClr>
                    </a:gs>
                  </a:gsLst>
                  <a:lin ang="5400000" scaled="1"/>
                </a:gradFill>
                <a:latin typeface="Impact" panose="020B0806030902050204" pitchFamily="34" charset="0"/>
              </a:rPr>
              <a:t>01</a:t>
            </a:r>
            <a:endParaRPr lang="zh-CN" altLang="en-US" sz="5400" dirty="0">
              <a:gradFill>
                <a:gsLst>
                  <a:gs pos="0">
                    <a:srgbClr val="003778"/>
                  </a:gs>
                  <a:gs pos="100000">
                    <a:srgbClr val="003778">
                      <a:lumMod val="20000"/>
                      <a:lumOff val="80000"/>
                      <a:alpha val="0"/>
                    </a:srgbClr>
                  </a:gs>
                </a:gsLst>
                <a:lin ang="5400000" scaled="1"/>
              </a:gradFill>
              <a:latin typeface="Impact" panose="020B0806030902050204" pitchFamily="34" charset="0"/>
            </a:endParaRPr>
          </a:p>
        </p:txBody>
      </p:sp>
      <p:sp>
        <p:nvSpPr>
          <p:cNvPr id="55" name="文本框 54">
            <a:extLst>
              <a:ext uri="{FF2B5EF4-FFF2-40B4-BE49-F238E27FC236}">
                <a16:creationId xmlns:a16="http://schemas.microsoft.com/office/drawing/2014/main" id="{1A3EAB86-EC52-49EF-EEF6-E05DC0BDC84B}"/>
              </a:ext>
            </a:extLst>
          </p:cNvPr>
          <p:cNvSpPr txBox="1"/>
          <p:nvPr/>
        </p:nvSpPr>
        <p:spPr>
          <a:xfrm>
            <a:off x="3536155" y="1426690"/>
            <a:ext cx="1913823" cy="461665"/>
          </a:xfrm>
          <a:prstGeom prst="rect">
            <a:avLst/>
          </a:prstGeom>
          <a:noFill/>
        </p:spPr>
        <p:txBody>
          <a:bodyPr wrap="square" l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2400" b="1" spc="100" dirty="0">
                <a:solidFill>
                  <a:schemeClr val="accent1"/>
                </a:solidFill>
                <a:latin typeface="+mj-ea"/>
                <a:ea typeface="+mj-ea"/>
                <a:sym typeface="+mn-ea"/>
              </a:rPr>
              <a:t>系 统</a:t>
            </a:r>
            <a:endParaRPr lang="zh-CN" altLang="en-US" sz="2400" b="1" spc="100" dirty="0">
              <a:solidFill>
                <a:schemeClr val="accent1"/>
              </a:solidFill>
              <a:latin typeface="+mj-ea"/>
              <a:ea typeface="+mj-ea"/>
            </a:endParaRPr>
          </a:p>
        </p:txBody>
      </p:sp>
      <p:sp>
        <p:nvSpPr>
          <p:cNvPr id="56" name="文本框 55">
            <a:extLst>
              <a:ext uri="{FF2B5EF4-FFF2-40B4-BE49-F238E27FC236}">
                <a16:creationId xmlns:a16="http://schemas.microsoft.com/office/drawing/2014/main" id="{5381E565-F7A6-C121-B67E-F60AD0201417}"/>
              </a:ext>
            </a:extLst>
          </p:cNvPr>
          <p:cNvSpPr txBox="1"/>
          <p:nvPr/>
        </p:nvSpPr>
        <p:spPr>
          <a:xfrm>
            <a:off x="2563233" y="2144715"/>
            <a:ext cx="3466092" cy="738664"/>
          </a:xfrm>
          <a:prstGeom prst="rect">
            <a:avLst/>
          </a:prstGeom>
          <a:noFill/>
        </p:spPr>
        <p:txBody>
          <a:bodyPr wrap="square" lIns="0" rtlCol="0">
            <a:spAutoFit/>
          </a:bodyPr>
          <a:lstStyle/>
          <a:p>
            <a:pPr marL="0" indent="0">
              <a:spcBef>
                <a:spcPct val="0"/>
              </a:spcBef>
              <a:spcAft>
                <a:spcPct val="0"/>
              </a:spcAft>
              <a:buFont typeface="Arial" panose="020B0604020202020204"/>
              <a:buNone/>
            </a:pPr>
            <a:r>
              <a:rPr lang="zh-CN" altLang="en-US" sz="2100" dirty="0">
                <a:solidFill>
                  <a:srgbClr val="000000"/>
                </a:solidFill>
                <a:latin typeface="微软雅黑" panose="020B0503020204020204" charset="-122"/>
                <a:ea typeface="微软雅黑" panose="020B0503020204020204" charset="-122"/>
                <a:sym typeface="+mn-ea"/>
              </a:rPr>
              <a:t>完整的</a:t>
            </a:r>
            <a:r>
              <a:rPr lang="en-US" altLang="zh-CN" sz="2100" dirty="0">
                <a:solidFill>
                  <a:srgbClr val="000000"/>
                </a:solidFill>
                <a:latin typeface="微软雅黑" panose="020B0503020204020204" charset="-122"/>
                <a:ea typeface="微软雅黑" panose="020B0503020204020204" charset="-122"/>
                <a:sym typeface="+mn-ea"/>
              </a:rPr>
              <a:t>AI</a:t>
            </a:r>
            <a:r>
              <a:rPr lang="zh-CN" altLang="en-US" sz="2100" dirty="0">
                <a:solidFill>
                  <a:srgbClr val="000000"/>
                </a:solidFill>
                <a:latin typeface="微软雅黑" panose="020B0503020204020204" charset="-122"/>
                <a:ea typeface="微软雅黑" panose="020B0503020204020204" charset="-122"/>
                <a:sym typeface="+mn-ea"/>
              </a:rPr>
              <a:t>光谱智能检测原型系统</a:t>
            </a:r>
            <a:endParaRPr lang="zh-CN" altLang="en-US" sz="2100" dirty="0">
              <a:solidFill>
                <a:srgbClr val="000000"/>
              </a:solidFill>
              <a:latin typeface="微软雅黑" panose="020B0503020204020204" charset="-122"/>
              <a:ea typeface="微软雅黑" panose="020B0503020204020204" charset="-122"/>
            </a:endParaRPr>
          </a:p>
        </p:txBody>
      </p:sp>
      <p:grpSp>
        <p:nvGrpSpPr>
          <p:cNvPr id="57" name="组合 56">
            <a:extLst>
              <a:ext uri="{FF2B5EF4-FFF2-40B4-BE49-F238E27FC236}">
                <a16:creationId xmlns:a16="http://schemas.microsoft.com/office/drawing/2014/main" id="{BE3A3838-951C-6020-524D-4A0969FEBE1B}"/>
              </a:ext>
            </a:extLst>
          </p:cNvPr>
          <p:cNvGrpSpPr/>
          <p:nvPr/>
        </p:nvGrpSpPr>
        <p:grpSpPr>
          <a:xfrm>
            <a:off x="7601459" y="1293464"/>
            <a:ext cx="4140501" cy="1254437"/>
            <a:chOff x="6601265" y="1408263"/>
            <a:chExt cx="4140501" cy="1254437"/>
          </a:xfrm>
        </p:grpSpPr>
        <p:sp>
          <p:nvSpPr>
            <p:cNvPr id="58" name="文本框 57">
              <a:extLst>
                <a:ext uri="{FF2B5EF4-FFF2-40B4-BE49-F238E27FC236}">
                  <a16:creationId xmlns:a16="http://schemas.microsoft.com/office/drawing/2014/main" id="{EE2190A3-1AA2-ED64-A734-EE33016DC334}"/>
                </a:ext>
              </a:extLst>
            </p:cNvPr>
            <p:cNvSpPr txBox="1"/>
            <p:nvPr/>
          </p:nvSpPr>
          <p:spPr>
            <a:xfrm>
              <a:off x="6601265" y="1408263"/>
              <a:ext cx="1256791" cy="840230"/>
            </a:xfrm>
            <a:prstGeom prst="rect">
              <a:avLst/>
            </a:prstGeom>
            <a:noFill/>
          </p:spPr>
          <p:txBody>
            <a:bodyPr wrap="square" lIns="0" rtlCol="0">
              <a:spAutoFit/>
            </a:bodyPr>
            <a:lstStyle>
              <a:defPPr>
                <a:defRPr lang="zh-CN"/>
              </a:defPPr>
              <a:lvl1pPr>
                <a:lnSpc>
                  <a:spcPct val="90000"/>
                </a:lnSpc>
                <a:spcBef>
                  <a:spcPts val="1000"/>
                </a:spcBef>
                <a:defRPr sz="5400">
                  <a:gradFill>
                    <a:gsLst>
                      <a:gs pos="0">
                        <a:srgbClr val="003778"/>
                      </a:gs>
                      <a:gs pos="100000">
                        <a:srgbClr val="003778">
                          <a:lumMod val="20000"/>
                          <a:lumOff val="80000"/>
                          <a:alpha val="0"/>
                        </a:srgbClr>
                      </a:gs>
                    </a:gsLst>
                    <a:lin ang="5400000" scaled="1"/>
                  </a:gradFill>
                  <a:latin typeface="Impact" panose="020B0806030902050204" pitchFamily="34" charset="0"/>
                </a:defRPr>
              </a:lvl1pPr>
            </a:lstStyle>
            <a:p>
              <a:r>
                <a:rPr lang="en-US" altLang="zh-CN" dirty="0"/>
                <a:t>02</a:t>
              </a:r>
              <a:endParaRPr lang="zh-CN" altLang="en-US" dirty="0"/>
            </a:p>
          </p:txBody>
        </p:sp>
        <p:sp>
          <p:nvSpPr>
            <p:cNvPr id="59" name="文本框 58">
              <a:extLst>
                <a:ext uri="{FF2B5EF4-FFF2-40B4-BE49-F238E27FC236}">
                  <a16:creationId xmlns:a16="http://schemas.microsoft.com/office/drawing/2014/main" id="{0AE0EBD8-59B9-997A-F933-95F4C1B398FE}"/>
                </a:ext>
              </a:extLst>
            </p:cNvPr>
            <p:cNvSpPr txBox="1"/>
            <p:nvPr/>
          </p:nvSpPr>
          <p:spPr>
            <a:xfrm>
              <a:off x="7927501" y="1541488"/>
              <a:ext cx="1913823" cy="461665"/>
            </a:xfrm>
            <a:prstGeom prst="rect">
              <a:avLst/>
            </a:prstGeom>
            <a:noFill/>
          </p:spPr>
          <p:txBody>
            <a:bodyPr wrap="square" lIns="0" rtlCol="0">
              <a:spAutoFit/>
            </a:bodyPr>
            <a:lstStyle/>
            <a:p>
              <a:pPr>
                <a:defRPr/>
              </a:pPr>
              <a:r>
                <a:rPr lang="zh-CN" altLang="en-US" sz="2400" b="1" spc="100" dirty="0">
                  <a:solidFill>
                    <a:schemeClr val="accent1"/>
                  </a:solidFill>
                  <a:latin typeface="+mj-ea"/>
                  <a:ea typeface="+mj-ea"/>
                  <a:sym typeface="+mn-ea"/>
                </a:rPr>
                <a:t>软 件</a:t>
              </a:r>
              <a:endParaRPr lang="zh-CN" altLang="en-US" sz="2400" b="1" spc="100" dirty="0">
                <a:solidFill>
                  <a:schemeClr val="accent1"/>
                </a:solidFill>
                <a:latin typeface="+mj-ea"/>
                <a:ea typeface="+mj-ea"/>
              </a:endParaRPr>
            </a:p>
          </p:txBody>
        </p:sp>
        <p:sp>
          <p:nvSpPr>
            <p:cNvPr id="61" name="文本框 60">
              <a:extLst>
                <a:ext uri="{FF2B5EF4-FFF2-40B4-BE49-F238E27FC236}">
                  <a16:creationId xmlns:a16="http://schemas.microsoft.com/office/drawing/2014/main" id="{5481F313-A7DC-1E00-B29B-DF6FFBBEEECC}"/>
                </a:ext>
              </a:extLst>
            </p:cNvPr>
            <p:cNvSpPr txBox="1"/>
            <p:nvPr/>
          </p:nvSpPr>
          <p:spPr>
            <a:xfrm>
              <a:off x="7494443" y="2191224"/>
              <a:ext cx="3247323" cy="471476"/>
            </a:xfrm>
            <a:prstGeom prst="rect">
              <a:avLst/>
            </a:prstGeom>
            <a:noFill/>
          </p:spPr>
          <p:txBody>
            <a:bodyPr wrap="square" lIns="0"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lang="zh-CN" altLang="en-US" sz="2100" dirty="0">
                  <a:solidFill>
                    <a:srgbClr val="000000"/>
                  </a:solidFill>
                  <a:latin typeface="微软雅黑" panose="020B0503020204020204" charset="-122"/>
                  <a:ea typeface="微软雅黑" panose="020B0503020204020204" charset="-122"/>
                  <a:sym typeface="+mn-ea"/>
                </a:rPr>
                <a:t>智能手机</a:t>
              </a:r>
              <a:r>
                <a:rPr lang="en-US" altLang="zh-CN" sz="2100" dirty="0">
                  <a:solidFill>
                    <a:srgbClr val="000000"/>
                  </a:solidFill>
                  <a:latin typeface="微软雅黑" panose="020B0503020204020204" charset="-122"/>
                  <a:ea typeface="微软雅黑" panose="020B0503020204020204" charset="-122"/>
                  <a:sym typeface="+mn-ea"/>
                </a:rPr>
                <a:t>APP</a:t>
              </a:r>
              <a:endParaRPr lang="zh-CN" altLang="en-US" sz="2100" dirty="0">
                <a:solidFill>
                  <a:srgbClr val="000000"/>
                </a:solidFill>
                <a:latin typeface="微软雅黑" panose="020B0503020204020204" charset="-122"/>
                <a:ea typeface="微软雅黑" panose="020B0503020204020204" charset="-122"/>
              </a:endParaRPr>
            </a:p>
          </p:txBody>
        </p:sp>
      </p:grpSp>
      <p:grpSp>
        <p:nvGrpSpPr>
          <p:cNvPr id="62" name="组合 61">
            <a:extLst>
              <a:ext uri="{FF2B5EF4-FFF2-40B4-BE49-F238E27FC236}">
                <a16:creationId xmlns:a16="http://schemas.microsoft.com/office/drawing/2014/main" id="{4DB7D654-C43A-8770-EC50-D63017C40C22}"/>
              </a:ext>
            </a:extLst>
          </p:cNvPr>
          <p:cNvGrpSpPr/>
          <p:nvPr/>
        </p:nvGrpSpPr>
        <p:grpSpPr>
          <a:xfrm>
            <a:off x="2419349" y="3919221"/>
            <a:ext cx="3676651" cy="1694785"/>
            <a:chOff x="1682024" y="3735339"/>
            <a:chExt cx="3676651" cy="1694785"/>
          </a:xfrm>
        </p:grpSpPr>
        <p:sp>
          <p:nvSpPr>
            <p:cNvPr id="63" name="文本框 62">
              <a:extLst>
                <a:ext uri="{FF2B5EF4-FFF2-40B4-BE49-F238E27FC236}">
                  <a16:creationId xmlns:a16="http://schemas.microsoft.com/office/drawing/2014/main" id="{99E4D83B-09E6-53F9-8F2A-ADCADF0709C5}"/>
                </a:ext>
              </a:extLst>
            </p:cNvPr>
            <p:cNvSpPr txBox="1"/>
            <p:nvPr/>
          </p:nvSpPr>
          <p:spPr>
            <a:xfrm>
              <a:off x="1682024" y="3735339"/>
              <a:ext cx="1116807" cy="840230"/>
            </a:xfrm>
            <a:prstGeom prst="rect">
              <a:avLst/>
            </a:prstGeom>
            <a:noFill/>
          </p:spPr>
          <p:txBody>
            <a:bodyPr wrap="square" lIns="0" rtlCol="0">
              <a:spAutoFit/>
            </a:bodyPr>
            <a:lstStyle/>
            <a:p>
              <a:pPr marR="0" lvl="0" indent="0" fontAlgn="auto">
                <a:lnSpc>
                  <a:spcPct val="90000"/>
                </a:lnSpc>
                <a:spcBef>
                  <a:spcPts val="1000"/>
                </a:spcBef>
                <a:spcAft>
                  <a:spcPts val="0"/>
                </a:spcAft>
                <a:buClrTx/>
                <a:buSzTx/>
                <a:buFontTx/>
                <a:buNone/>
                <a:defRPr/>
              </a:pPr>
              <a:r>
                <a:rPr lang="en-US" altLang="zh-CN" sz="5400" dirty="0">
                  <a:gradFill>
                    <a:gsLst>
                      <a:gs pos="0">
                        <a:srgbClr val="003778"/>
                      </a:gs>
                      <a:gs pos="100000">
                        <a:srgbClr val="003778">
                          <a:lumMod val="20000"/>
                          <a:lumOff val="80000"/>
                          <a:alpha val="0"/>
                        </a:srgbClr>
                      </a:gs>
                    </a:gsLst>
                    <a:lin ang="5400000" scaled="1"/>
                  </a:gradFill>
                  <a:latin typeface="Impact" panose="020B0806030902050204" pitchFamily="34" charset="0"/>
                </a:rPr>
                <a:t>03</a:t>
              </a:r>
              <a:endParaRPr lang="zh-CN" altLang="en-US" sz="5400" dirty="0">
                <a:gradFill>
                  <a:gsLst>
                    <a:gs pos="0">
                      <a:srgbClr val="003778"/>
                    </a:gs>
                    <a:gs pos="100000">
                      <a:srgbClr val="003778">
                        <a:lumMod val="20000"/>
                        <a:lumOff val="80000"/>
                        <a:alpha val="0"/>
                      </a:srgbClr>
                    </a:gs>
                  </a:gsLst>
                  <a:lin ang="5400000" scaled="1"/>
                </a:gradFill>
                <a:latin typeface="Impact" panose="020B0806030902050204" pitchFamily="34" charset="0"/>
              </a:endParaRPr>
            </a:p>
          </p:txBody>
        </p:sp>
        <p:sp>
          <p:nvSpPr>
            <p:cNvPr id="64" name="文本框 63">
              <a:extLst>
                <a:ext uri="{FF2B5EF4-FFF2-40B4-BE49-F238E27FC236}">
                  <a16:creationId xmlns:a16="http://schemas.microsoft.com/office/drawing/2014/main" id="{03116CE2-3273-A1D1-C7A5-9958A14908BB}"/>
                </a:ext>
              </a:extLst>
            </p:cNvPr>
            <p:cNvSpPr txBox="1"/>
            <p:nvPr/>
          </p:nvSpPr>
          <p:spPr>
            <a:xfrm>
              <a:off x="2798831" y="3838479"/>
              <a:ext cx="1913823" cy="461665"/>
            </a:xfrm>
            <a:prstGeom prst="rect">
              <a:avLst/>
            </a:prstGeom>
            <a:noFill/>
          </p:spPr>
          <p:txBody>
            <a:bodyPr wrap="square" lIns="0" rtlCol="0">
              <a:spAutoFit/>
            </a:bodyPr>
            <a:lstStyle/>
            <a:p>
              <a:pPr>
                <a:defRPr/>
              </a:pPr>
              <a:r>
                <a:rPr lang="zh-CN" altLang="en-US" sz="2400" b="1" spc="100" dirty="0">
                  <a:solidFill>
                    <a:schemeClr val="accent1"/>
                  </a:solidFill>
                  <a:latin typeface="+mj-ea"/>
                  <a:ea typeface="+mj-ea"/>
                  <a:sym typeface="+mn-ea"/>
                </a:rPr>
                <a:t>技术报告</a:t>
              </a:r>
              <a:endParaRPr lang="zh-CN" altLang="en-US" sz="2400" b="1" spc="100" dirty="0">
                <a:solidFill>
                  <a:schemeClr val="accent1"/>
                </a:solidFill>
                <a:latin typeface="+mj-ea"/>
                <a:ea typeface="+mj-ea"/>
              </a:endParaRPr>
            </a:p>
          </p:txBody>
        </p:sp>
        <p:sp>
          <p:nvSpPr>
            <p:cNvPr id="65" name="文本框 64">
              <a:extLst>
                <a:ext uri="{FF2B5EF4-FFF2-40B4-BE49-F238E27FC236}">
                  <a16:creationId xmlns:a16="http://schemas.microsoft.com/office/drawing/2014/main" id="{48F05AF9-8A73-1FB0-93A7-DAD45BE0B5E5}"/>
                </a:ext>
              </a:extLst>
            </p:cNvPr>
            <p:cNvSpPr txBox="1"/>
            <p:nvPr/>
          </p:nvSpPr>
          <p:spPr>
            <a:xfrm>
              <a:off x="1825908" y="4538533"/>
              <a:ext cx="3532767" cy="891591"/>
            </a:xfrm>
            <a:prstGeom prst="rect">
              <a:avLst/>
            </a:prstGeom>
            <a:noFill/>
          </p:spPr>
          <p:txBody>
            <a:bodyPr wrap="square" lIns="0" rtlCol="0">
              <a:spAutoFit/>
            </a:bodyPr>
            <a:lstStyle/>
            <a:p>
              <a:pPr algn="just">
                <a:lnSpc>
                  <a:spcPct val="130000"/>
                </a:lnSpc>
                <a:defRPr/>
              </a:pPr>
              <a:r>
                <a:rPr lang="zh-CN" altLang="en-US" sz="2100" dirty="0">
                  <a:solidFill>
                    <a:srgbClr val="000000"/>
                  </a:solidFill>
                  <a:latin typeface="微软雅黑" panose="020B0503020204020204" charset="-122"/>
                  <a:ea typeface="微软雅黑" panose="020B0503020204020204" charset="-122"/>
                  <a:sym typeface="+mn-ea"/>
                </a:rPr>
                <a:t>基于深度学习的光谱农药检测方法研究报告</a:t>
              </a:r>
              <a:endParaRPr lang="zh-CN" altLang="en-US" sz="2100" dirty="0">
                <a:solidFill>
                  <a:srgbClr val="000000"/>
                </a:solidFill>
                <a:latin typeface="微软雅黑" panose="020B0503020204020204" charset="-122"/>
                <a:ea typeface="微软雅黑" panose="020B0503020204020204" charset="-122"/>
              </a:endParaRPr>
            </a:p>
          </p:txBody>
        </p:sp>
      </p:grpSp>
    </p:spTree>
    <p:extLst>
      <p:ext uri="{BB962C8B-B14F-4D97-AF65-F5344CB8AC3E}">
        <p14:creationId xmlns:p14="http://schemas.microsoft.com/office/powerpoint/2010/main" val="16757355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A729E-6025-E5E9-2C72-CD98A07E2CBD}"/>
            </a:ext>
          </a:extLst>
        </p:cNvPr>
        <p:cNvGrpSpPr/>
        <p:nvPr/>
      </p:nvGrpSpPr>
      <p:grpSpPr>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4E79AB16-04E5-5407-C805-8BE25F12F88F}"/>
              </a:ext>
            </a:extLst>
          </p:cNvPr>
          <p:cNvSpPr/>
          <p:nvPr/>
        </p:nvSpPr>
        <p:spPr>
          <a:xfrm>
            <a:off x="351099" y="312517"/>
            <a:ext cx="11489802" cy="6302416"/>
          </a:xfrm>
          <a:prstGeom prst="rect">
            <a:avLst/>
          </a:prstGeom>
          <a:noFill/>
          <a:ln w="190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owerpoint template design by DAJU_PPT正版来源小红书大橘PPT微信DAJU_PPT请勿抄袭搬运！盗版必究！">
            <a:extLst>
              <a:ext uri="{FF2B5EF4-FFF2-40B4-BE49-F238E27FC236}">
                <a16:creationId xmlns:a16="http://schemas.microsoft.com/office/drawing/2014/main" id="{9CE73C49-9E90-8AD9-1367-D65BF52A3AA3}"/>
              </a:ext>
            </a:extLst>
          </p:cNvPr>
          <p:cNvSpPr txBox="1"/>
          <p:nvPr/>
        </p:nvSpPr>
        <p:spPr>
          <a:xfrm>
            <a:off x="2407920" y="6249873"/>
            <a:ext cx="7376160" cy="307777"/>
          </a:xfrm>
          <a:prstGeom prst="rect">
            <a:avLst/>
          </a:prstGeom>
          <a:noFill/>
        </p:spPr>
        <p:txBody>
          <a:bodyPr wrap="square">
            <a:spAutoFit/>
          </a:bodyPr>
          <a:lstStyle/>
          <a:p>
            <a:pPr algn="ctr"/>
            <a:r>
              <a:rPr lang="en-US" altLang="zh-CN" sz="1400" dirty="0">
                <a:solidFill>
                  <a:schemeClr val="bg1"/>
                </a:solidFill>
                <a:cs typeface="+mn-ea"/>
                <a:sym typeface="+mn-lt"/>
              </a:rPr>
              <a:t>——</a:t>
            </a:r>
            <a:r>
              <a:rPr lang="en-US" altLang="zh-CN" sz="1400" spc="300" dirty="0">
                <a:solidFill>
                  <a:schemeClr val="bg1"/>
                </a:solidFill>
                <a:cs typeface="+mn-ea"/>
                <a:sym typeface="+mn-lt"/>
              </a:rPr>
              <a:t> </a:t>
            </a:r>
            <a:r>
              <a:rPr lang="zh-CN" altLang="en-US" sz="1400" spc="300" dirty="0">
                <a:solidFill>
                  <a:schemeClr val="bg1"/>
                </a:solidFill>
                <a:cs typeface="+mn-ea"/>
                <a:sym typeface="+mn-lt"/>
              </a:rPr>
              <a:t>艰苦朴素 </a:t>
            </a:r>
            <a:r>
              <a:rPr lang="en-US" altLang="zh-CN" sz="1400" spc="300" dirty="0">
                <a:solidFill>
                  <a:schemeClr val="bg1"/>
                </a:solidFill>
                <a:cs typeface="+mn-ea"/>
                <a:sym typeface="+mn-lt"/>
              </a:rPr>
              <a:t>· </a:t>
            </a:r>
            <a:r>
              <a:rPr lang="zh-CN" altLang="en-US" sz="1400" spc="300" dirty="0">
                <a:solidFill>
                  <a:schemeClr val="bg1"/>
                </a:solidFill>
                <a:cs typeface="+mn-ea"/>
                <a:sym typeface="+mn-lt"/>
              </a:rPr>
              <a:t>实事求是 </a:t>
            </a:r>
            <a:r>
              <a:rPr lang="en-US" altLang="zh-CN" sz="1400" spc="300" dirty="0">
                <a:solidFill>
                  <a:schemeClr val="bg1"/>
                </a:solidFill>
                <a:cs typeface="+mn-ea"/>
                <a:sym typeface="+mn-lt"/>
              </a:rPr>
              <a:t>· </a:t>
            </a:r>
            <a:r>
              <a:rPr lang="zh-CN" altLang="en-US" sz="1400" spc="300" dirty="0">
                <a:solidFill>
                  <a:schemeClr val="bg1"/>
                </a:solidFill>
                <a:cs typeface="+mn-ea"/>
                <a:sym typeface="+mn-lt"/>
              </a:rPr>
              <a:t>严格要求 </a:t>
            </a:r>
            <a:r>
              <a:rPr lang="en-US" altLang="zh-CN" sz="1400" spc="300" dirty="0">
                <a:solidFill>
                  <a:schemeClr val="bg1"/>
                </a:solidFill>
                <a:cs typeface="+mn-ea"/>
                <a:sym typeface="+mn-lt"/>
              </a:rPr>
              <a:t>· </a:t>
            </a:r>
            <a:r>
              <a:rPr lang="zh-CN" altLang="en-US" sz="1400" spc="300" dirty="0">
                <a:solidFill>
                  <a:schemeClr val="bg1"/>
                </a:solidFill>
                <a:cs typeface="+mn-ea"/>
                <a:sym typeface="+mn-lt"/>
              </a:rPr>
              <a:t>勇于探索 </a:t>
            </a:r>
            <a:r>
              <a:rPr lang="en-US" altLang="zh-CN" sz="1400" spc="-150" dirty="0">
                <a:solidFill>
                  <a:schemeClr val="bg1"/>
                </a:solidFill>
                <a:cs typeface="+mn-ea"/>
                <a:sym typeface="+mn-lt"/>
              </a:rPr>
              <a:t>——</a:t>
            </a:r>
          </a:p>
        </p:txBody>
      </p:sp>
      <p:sp>
        <p:nvSpPr>
          <p:cNvPr id="79" name="powerpoint template design by DAJU_PPT正版来源小红书大橘PPT微信DAJU_PPT请勿抄袭搬运！盗版必究！">
            <a:extLst>
              <a:ext uri="{FF2B5EF4-FFF2-40B4-BE49-F238E27FC236}">
                <a16:creationId xmlns:a16="http://schemas.microsoft.com/office/drawing/2014/main" id="{75ACD4C7-21EE-EB39-D156-F0064D0E1875}"/>
              </a:ext>
            </a:extLst>
          </p:cNvPr>
          <p:cNvSpPr/>
          <p:nvPr/>
        </p:nvSpPr>
        <p:spPr>
          <a:xfrm>
            <a:off x="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a:extLst>
              <a:ext uri="{FF2B5EF4-FFF2-40B4-BE49-F238E27FC236}">
                <a16:creationId xmlns:a16="http://schemas.microsoft.com/office/drawing/2014/main" id="{A2C4236A-E0A2-F672-CC6D-C63B70575F5D}"/>
              </a:ext>
            </a:extLst>
          </p:cNvPr>
          <p:cNvSpPr txBox="1"/>
          <p:nvPr/>
        </p:nvSpPr>
        <p:spPr>
          <a:xfrm>
            <a:off x="5421777" y="1112345"/>
            <a:ext cx="1348447" cy="1200329"/>
          </a:xfrm>
          <a:prstGeom prst="rect">
            <a:avLst/>
          </a:prstGeom>
          <a:noFill/>
        </p:spPr>
        <p:txBody>
          <a:bodyPr wrap="none" rtlCol="0">
            <a:spAutoFit/>
          </a:bodyPr>
          <a:lstStyle/>
          <a:p>
            <a:pPr algn="ctr"/>
            <a:r>
              <a:rPr lang="en-US" altLang="zh-CN" sz="7200" b="1" spc="100" dirty="0">
                <a:solidFill>
                  <a:schemeClr val="accent1"/>
                </a:solidFill>
                <a:latin typeface="+mj-lt"/>
                <a:ea typeface="+mj-ea"/>
              </a:rPr>
              <a:t>04</a:t>
            </a:r>
            <a:endParaRPr lang="zh-CN" altLang="en-US" sz="7200" b="1" spc="100" dirty="0">
              <a:solidFill>
                <a:schemeClr val="accent1"/>
              </a:solidFill>
              <a:latin typeface="+mj-lt"/>
              <a:ea typeface="+mj-ea"/>
            </a:endParaRPr>
          </a:p>
        </p:txBody>
      </p:sp>
      <p:sp>
        <p:nvSpPr>
          <p:cNvPr id="81" name="文本框 80">
            <a:extLst>
              <a:ext uri="{FF2B5EF4-FFF2-40B4-BE49-F238E27FC236}">
                <a16:creationId xmlns:a16="http://schemas.microsoft.com/office/drawing/2014/main" id="{E5B1D837-8994-7EBD-7CBB-D0C8D3DB42B4}"/>
              </a:ext>
            </a:extLst>
          </p:cNvPr>
          <p:cNvSpPr txBox="1"/>
          <p:nvPr/>
        </p:nvSpPr>
        <p:spPr>
          <a:xfrm>
            <a:off x="4668529" y="3404210"/>
            <a:ext cx="2954655" cy="923330"/>
          </a:xfrm>
          <a:prstGeom prst="rect">
            <a:avLst/>
          </a:prstGeom>
          <a:noFill/>
        </p:spPr>
        <p:txBody>
          <a:bodyPr wrap="none" rtlCol="0">
            <a:spAutoFit/>
          </a:bodyPr>
          <a:lstStyle/>
          <a:p>
            <a:r>
              <a:rPr lang="zh-CN" altLang="en-US" sz="5400" b="1" dirty="0">
                <a:latin typeface="+mj-ea"/>
              </a:rPr>
              <a:t>进度安排</a:t>
            </a:r>
          </a:p>
        </p:txBody>
      </p:sp>
      <p:grpSp>
        <p:nvGrpSpPr>
          <p:cNvPr id="82" name="组合 81">
            <a:extLst>
              <a:ext uri="{FF2B5EF4-FFF2-40B4-BE49-F238E27FC236}">
                <a16:creationId xmlns:a16="http://schemas.microsoft.com/office/drawing/2014/main" id="{FD653F1B-ECA4-34BF-AA79-9C500290594F}"/>
              </a:ext>
            </a:extLst>
          </p:cNvPr>
          <p:cNvGrpSpPr/>
          <p:nvPr/>
        </p:nvGrpSpPr>
        <p:grpSpPr>
          <a:xfrm flipH="1">
            <a:off x="7195174" y="2893284"/>
            <a:ext cx="1427668" cy="98842"/>
            <a:chOff x="3582899" y="2893284"/>
            <a:chExt cx="1427668" cy="98842"/>
          </a:xfrm>
        </p:grpSpPr>
        <p:cxnSp>
          <p:nvCxnSpPr>
            <p:cNvPr id="83" name="直接连接符 82">
              <a:extLst>
                <a:ext uri="{FF2B5EF4-FFF2-40B4-BE49-F238E27FC236}">
                  <a16:creationId xmlns:a16="http://schemas.microsoft.com/office/drawing/2014/main" id="{21899CAD-07D6-6EF8-F8DE-0C729F12B4E2}"/>
                </a:ext>
              </a:extLst>
            </p:cNvPr>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ACBF90E-5236-CC38-7F7B-3B7FE0810664}"/>
                </a:ext>
              </a:extLst>
            </p:cNvPr>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文本框 84">
            <a:extLst>
              <a:ext uri="{FF2B5EF4-FFF2-40B4-BE49-F238E27FC236}">
                <a16:creationId xmlns:a16="http://schemas.microsoft.com/office/drawing/2014/main" id="{2C06AAE5-B732-1EF7-2C08-AA00A74FE583}"/>
              </a:ext>
            </a:extLst>
          </p:cNvPr>
          <p:cNvSpPr txBox="1"/>
          <p:nvPr/>
        </p:nvSpPr>
        <p:spPr>
          <a:xfrm>
            <a:off x="5260739" y="2742650"/>
            <a:ext cx="1670522" cy="400110"/>
          </a:xfrm>
          <a:prstGeom prst="rect">
            <a:avLst/>
          </a:prstGeom>
          <a:noFill/>
        </p:spPr>
        <p:txBody>
          <a:bodyPr wrap="none" rtlCol="0">
            <a:spAutoFit/>
          </a:bodyPr>
          <a:lstStyle/>
          <a:p>
            <a:pPr algn="ctr"/>
            <a:r>
              <a:rPr lang="en-US" altLang="zh-CN" sz="2000" b="1" dirty="0">
                <a:solidFill>
                  <a:schemeClr val="tx1">
                    <a:lumMod val="75000"/>
                    <a:lumOff val="25000"/>
                  </a:schemeClr>
                </a:solidFill>
                <a:latin typeface="+mj-ea"/>
                <a:ea typeface="+mj-ea"/>
              </a:rPr>
              <a:t>PART FOUR</a:t>
            </a:r>
            <a:endParaRPr lang="zh-CN" altLang="en-US" sz="2000" b="1" dirty="0">
              <a:solidFill>
                <a:schemeClr val="tx1">
                  <a:lumMod val="75000"/>
                  <a:lumOff val="25000"/>
                </a:schemeClr>
              </a:solidFill>
              <a:latin typeface="+mj-ea"/>
              <a:ea typeface="+mj-ea"/>
            </a:endParaRPr>
          </a:p>
        </p:txBody>
      </p:sp>
      <p:grpSp>
        <p:nvGrpSpPr>
          <p:cNvPr id="86" name="组合 85">
            <a:extLst>
              <a:ext uri="{FF2B5EF4-FFF2-40B4-BE49-F238E27FC236}">
                <a16:creationId xmlns:a16="http://schemas.microsoft.com/office/drawing/2014/main" id="{EB27FA5E-179F-DAAB-7CB6-F72F4806BED8}"/>
              </a:ext>
            </a:extLst>
          </p:cNvPr>
          <p:cNvGrpSpPr/>
          <p:nvPr/>
        </p:nvGrpSpPr>
        <p:grpSpPr>
          <a:xfrm>
            <a:off x="3569158" y="2893284"/>
            <a:ext cx="1427668" cy="98842"/>
            <a:chOff x="3582899" y="2893284"/>
            <a:chExt cx="1427668" cy="98842"/>
          </a:xfrm>
        </p:grpSpPr>
        <p:cxnSp>
          <p:nvCxnSpPr>
            <p:cNvPr id="87" name="直接连接符 86">
              <a:extLst>
                <a:ext uri="{FF2B5EF4-FFF2-40B4-BE49-F238E27FC236}">
                  <a16:creationId xmlns:a16="http://schemas.microsoft.com/office/drawing/2014/main" id="{C9C9C45A-D200-B610-91D6-BB6A7D368902}"/>
                </a:ext>
              </a:extLst>
            </p:cNvPr>
            <p:cNvCxnSpPr/>
            <p:nvPr/>
          </p:nvCxnSpPr>
          <p:spPr>
            <a:xfrm>
              <a:off x="3582899" y="2942705"/>
              <a:ext cx="1330954" cy="0"/>
            </a:xfrm>
            <a:prstGeom prst="line">
              <a:avLst/>
            </a:prstGeom>
            <a:ln w="15875">
              <a:gradFill flip="none" rotWithShape="1">
                <a:gsLst>
                  <a:gs pos="0">
                    <a:schemeClr val="accent1">
                      <a:lumMod val="60000"/>
                      <a:lumOff val="40000"/>
                      <a:alpha val="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33B87E37-C4A2-98F9-38E0-C6481E1FD0F3}"/>
                </a:ext>
              </a:extLst>
            </p:cNvPr>
            <p:cNvSpPr/>
            <p:nvPr/>
          </p:nvSpPr>
          <p:spPr>
            <a:xfrm>
              <a:off x="4911725" y="2893284"/>
              <a:ext cx="98842" cy="9884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953312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1E9EE8-A048-1EF0-745D-268E72EC36EF}"/>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FA98643-939B-C5E0-CD90-007439134928}"/>
              </a:ext>
            </a:extLst>
          </p:cNvPr>
          <p:cNvSpPr txBox="1"/>
          <p:nvPr/>
        </p:nvSpPr>
        <p:spPr>
          <a:xfrm>
            <a:off x="2307393" y="166826"/>
            <a:ext cx="1467068" cy="461665"/>
          </a:xfrm>
          <a:prstGeom prst="rect">
            <a:avLst/>
          </a:prstGeom>
          <a:noFill/>
        </p:spPr>
        <p:txBody>
          <a:bodyPr wrap="none" rtlCol="0">
            <a:spAutoFit/>
          </a:bodyPr>
          <a:lstStyle/>
          <a:p>
            <a:r>
              <a:rPr lang="zh-CN" altLang="en-US" sz="2400" b="1" spc="100" dirty="0">
                <a:solidFill>
                  <a:schemeClr val="accent1"/>
                </a:solidFill>
                <a:latin typeface="+mj-ea"/>
                <a:ea typeface="+mj-ea"/>
              </a:rPr>
              <a:t>进度安排</a:t>
            </a:r>
          </a:p>
        </p:txBody>
      </p:sp>
      <p:grpSp>
        <p:nvGrpSpPr>
          <p:cNvPr id="8" name="组合 7">
            <a:extLst>
              <a:ext uri="{FF2B5EF4-FFF2-40B4-BE49-F238E27FC236}">
                <a16:creationId xmlns:a16="http://schemas.microsoft.com/office/drawing/2014/main" id="{B07A402A-03D2-BD2C-8669-9DB2A7E8C785}"/>
              </a:ext>
            </a:extLst>
          </p:cNvPr>
          <p:cNvGrpSpPr/>
          <p:nvPr/>
        </p:nvGrpSpPr>
        <p:grpSpPr>
          <a:xfrm>
            <a:off x="1957299" y="229525"/>
            <a:ext cx="355042" cy="353395"/>
            <a:chOff x="1957299" y="229525"/>
            <a:chExt cx="355042" cy="353395"/>
          </a:xfrm>
        </p:grpSpPr>
        <p:sp>
          <p:nvSpPr>
            <p:cNvPr id="9" name="矩形: 圆角 8">
              <a:extLst>
                <a:ext uri="{FF2B5EF4-FFF2-40B4-BE49-F238E27FC236}">
                  <a16:creationId xmlns:a16="http://schemas.microsoft.com/office/drawing/2014/main" id="{246392C8-DBC6-CFA8-7687-BED1387A6308}"/>
                </a:ext>
              </a:extLst>
            </p:cNvPr>
            <p:cNvSpPr/>
            <p:nvPr/>
          </p:nvSpPr>
          <p:spPr>
            <a:xfrm>
              <a:off x="1959416" y="229995"/>
              <a:ext cx="352925" cy="352925"/>
            </a:xfrm>
            <a:prstGeom prst="roundRect">
              <a:avLst/>
            </a:prstGeom>
            <a:solidFill>
              <a:schemeClr val="accent1">
                <a:alpha val="5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AD07FF00-72FD-49D8-EDA9-FAE6FC3C82DF}"/>
                </a:ext>
              </a:extLst>
            </p:cNvPr>
            <p:cNvSpPr/>
            <p:nvPr/>
          </p:nvSpPr>
          <p:spPr>
            <a:xfrm>
              <a:off x="1957299" y="229525"/>
              <a:ext cx="322351" cy="3223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CF132B29-C2D9-3792-8E3A-DAE10BF10650}"/>
              </a:ext>
            </a:extLst>
          </p:cNvPr>
          <p:cNvCxnSpPr/>
          <p:nvPr/>
        </p:nvCxnSpPr>
        <p:spPr>
          <a:xfrm>
            <a:off x="2419350" y="628491"/>
            <a:ext cx="9481914" cy="0"/>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E6E606BB-58A6-2F1C-2AF2-FB0AA1A6A1D1}"/>
              </a:ext>
            </a:extLst>
          </p:cNvPr>
          <p:cNvSpPr/>
          <p:nvPr/>
        </p:nvSpPr>
        <p:spPr>
          <a:xfrm>
            <a:off x="0" y="2401808"/>
            <a:ext cx="1631406" cy="5307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35304AD5-BF43-E9D6-274B-4776BBFCCE7D}"/>
              </a:ext>
            </a:extLst>
          </p:cNvPr>
          <p:cNvSpPr txBox="1"/>
          <p:nvPr/>
        </p:nvSpPr>
        <p:spPr>
          <a:xfrm>
            <a:off x="18051" y="2449165"/>
            <a:ext cx="1613355" cy="415498"/>
          </a:xfrm>
          <a:prstGeom prst="rect">
            <a:avLst/>
          </a:prstGeom>
          <a:noFill/>
        </p:spPr>
        <p:txBody>
          <a:bodyPr wrap="square" rtlCol="0">
            <a:spAutoFit/>
          </a:bodyPr>
          <a:lstStyle/>
          <a:p>
            <a:pPr algn="ctr"/>
            <a:r>
              <a:rPr lang="zh-CN" altLang="en-US" sz="2100" b="1" spc="100" dirty="0">
                <a:solidFill>
                  <a:schemeClr val="bg1"/>
                </a:solidFill>
                <a:latin typeface="+mj-ea"/>
                <a:ea typeface="+mj-ea"/>
              </a:rPr>
              <a:t>进度安排</a:t>
            </a:r>
          </a:p>
        </p:txBody>
      </p:sp>
      <p:graphicFrame>
        <p:nvGraphicFramePr>
          <p:cNvPr id="3" name="内容占位符 3">
            <a:extLst>
              <a:ext uri="{FF2B5EF4-FFF2-40B4-BE49-F238E27FC236}">
                <a16:creationId xmlns:a16="http://schemas.microsoft.com/office/drawing/2014/main" id="{48FD898F-3B07-AED6-6790-A59275FBB0B9}"/>
              </a:ext>
            </a:extLst>
          </p:cNvPr>
          <p:cNvGraphicFramePr>
            <a:graphicFrameLocks/>
          </p:cNvGraphicFramePr>
          <p:nvPr>
            <p:extLst>
              <p:ext uri="{D42A27DB-BD31-4B8C-83A1-F6EECF244321}">
                <p14:modId xmlns:p14="http://schemas.microsoft.com/office/powerpoint/2010/main" val="3772380029"/>
              </p:ext>
            </p:extLst>
          </p:nvPr>
        </p:nvGraphicFramePr>
        <p:xfrm>
          <a:off x="3133724" y="942102"/>
          <a:ext cx="6474620" cy="55515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60428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F9FB-8CB7-866F-6B01-BFC98200CC8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21D97779-ED3B-999B-70F7-1ABE213A7CBC}"/>
              </a:ext>
            </a:extLst>
          </p:cNvPr>
          <p:cNvSpPr/>
          <p:nvPr/>
        </p:nvSpPr>
        <p:spPr>
          <a:xfrm>
            <a:off x="228600" y="220132"/>
            <a:ext cx="11734800" cy="6417735"/>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a:extLst>
              <a:ext uri="{FF2B5EF4-FFF2-40B4-BE49-F238E27FC236}">
                <a16:creationId xmlns:a16="http://schemas.microsoft.com/office/drawing/2014/main" id="{A4A083C6-B194-2C83-ED05-1DF3F98200F1}"/>
              </a:ext>
            </a:extLst>
          </p:cNvPr>
          <p:cNvSpPr/>
          <p:nvPr/>
        </p:nvSpPr>
        <p:spPr>
          <a:xfrm>
            <a:off x="-1" y="2079244"/>
            <a:ext cx="12192000" cy="2766950"/>
          </a:xfrm>
          <a:prstGeom prst="rect">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84D6AE75-2DA5-7C3C-C066-BDC3A777BB0B}"/>
              </a:ext>
            </a:extLst>
          </p:cNvPr>
          <p:cNvSpPr txBox="1"/>
          <p:nvPr/>
        </p:nvSpPr>
        <p:spPr>
          <a:xfrm>
            <a:off x="4818706" y="2989829"/>
            <a:ext cx="2466929" cy="1107996"/>
          </a:xfrm>
          <a:prstGeom prst="rect">
            <a:avLst/>
          </a:prstGeom>
          <a:noFill/>
        </p:spPr>
        <p:txBody>
          <a:bodyPr wrap="square" rtlCol="0">
            <a:spAutoFit/>
          </a:bodyPr>
          <a:lstStyle/>
          <a:p>
            <a:pPr algn="ctr"/>
            <a:r>
              <a:rPr lang="zh-CN" altLang="en-US" sz="6600" b="1" spc="200" dirty="0">
                <a:solidFill>
                  <a:schemeClr val="bg1"/>
                </a:solidFill>
                <a:latin typeface="+mj-ea"/>
                <a:ea typeface="+mj-ea"/>
              </a:rPr>
              <a:t>谢 谢</a:t>
            </a:r>
          </a:p>
        </p:txBody>
      </p:sp>
      <p:sp>
        <p:nvSpPr>
          <p:cNvPr id="88" name="文本框 87">
            <a:extLst>
              <a:ext uri="{FF2B5EF4-FFF2-40B4-BE49-F238E27FC236}">
                <a16:creationId xmlns:a16="http://schemas.microsoft.com/office/drawing/2014/main" id="{1B967930-7306-CC57-4AFD-9DC128AD6D77}"/>
              </a:ext>
            </a:extLst>
          </p:cNvPr>
          <p:cNvSpPr txBox="1"/>
          <p:nvPr/>
        </p:nvSpPr>
        <p:spPr>
          <a:xfrm>
            <a:off x="4612282" y="4235633"/>
            <a:ext cx="3005951" cy="400110"/>
          </a:xfrm>
          <a:prstGeom prst="rect">
            <a:avLst/>
          </a:prstGeom>
          <a:noFill/>
        </p:spPr>
        <p:txBody>
          <a:bodyPr wrap="none" rtlCol="0">
            <a:spAutoFit/>
          </a:bodyPr>
          <a:lstStyle/>
          <a:p>
            <a:pPr algn="ctr"/>
            <a:r>
              <a:rPr lang="zh-CN" altLang="en-US" sz="2000" dirty="0">
                <a:solidFill>
                  <a:schemeClr val="bg1">
                    <a:alpha val="96000"/>
                  </a:schemeClr>
                </a:solidFill>
                <a:latin typeface="+mn-ea"/>
              </a:rPr>
              <a:t>西北农林科技大学理学院</a:t>
            </a:r>
          </a:p>
        </p:txBody>
      </p:sp>
      <p:sp>
        <p:nvSpPr>
          <p:cNvPr id="89" name="文本框 88">
            <a:extLst>
              <a:ext uri="{FF2B5EF4-FFF2-40B4-BE49-F238E27FC236}">
                <a16:creationId xmlns:a16="http://schemas.microsoft.com/office/drawing/2014/main" id="{A8F0E41C-CCEA-5575-D5B1-F94806BE8F32}"/>
              </a:ext>
            </a:extLst>
          </p:cNvPr>
          <p:cNvSpPr txBox="1"/>
          <p:nvPr/>
        </p:nvSpPr>
        <p:spPr>
          <a:xfrm>
            <a:off x="5666948" y="2299801"/>
            <a:ext cx="896620" cy="460375"/>
          </a:xfrm>
          <a:prstGeom prst="rect">
            <a:avLst/>
          </a:prstGeom>
          <a:noFill/>
        </p:spPr>
        <p:txBody>
          <a:bodyPr wrap="none" rtlCol="0">
            <a:spAutoFit/>
          </a:bodyPr>
          <a:lstStyle/>
          <a:p>
            <a:pPr algn="ctr"/>
            <a:r>
              <a:rPr lang="en-US" altLang="zh-CN" sz="2400" dirty="0">
                <a:solidFill>
                  <a:schemeClr val="bg1">
                    <a:alpha val="96000"/>
                  </a:schemeClr>
                </a:solidFill>
                <a:latin typeface="+mn-ea"/>
              </a:rPr>
              <a:t>2025</a:t>
            </a:r>
            <a:endParaRPr lang="zh-CN" altLang="en-US" sz="2400" dirty="0">
              <a:solidFill>
                <a:schemeClr val="bg1">
                  <a:alpha val="96000"/>
                </a:schemeClr>
              </a:solidFill>
              <a:latin typeface="+mn-ea"/>
            </a:endParaRPr>
          </a:p>
        </p:txBody>
      </p:sp>
      <p:cxnSp>
        <p:nvCxnSpPr>
          <p:cNvPr id="90" name="直接连接符 89">
            <a:extLst>
              <a:ext uri="{FF2B5EF4-FFF2-40B4-BE49-F238E27FC236}">
                <a16:creationId xmlns:a16="http://schemas.microsoft.com/office/drawing/2014/main" id="{E057BC97-D163-1E65-1012-F683924ABE77}"/>
              </a:ext>
            </a:extLst>
          </p:cNvPr>
          <p:cNvCxnSpPr/>
          <p:nvPr/>
        </p:nvCxnSpPr>
        <p:spPr>
          <a:xfrm>
            <a:off x="4909920" y="2531187"/>
            <a:ext cx="650875" cy="0"/>
          </a:xfrm>
          <a:prstGeom prst="line">
            <a:avLst/>
          </a:prstGeom>
          <a:ln w="12700">
            <a:solidFill>
              <a:schemeClr val="bg1">
                <a:alpha val="96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B8BD491-4139-5CF6-37D2-3F7BBF438747}"/>
              </a:ext>
            </a:extLst>
          </p:cNvPr>
          <p:cNvCxnSpPr/>
          <p:nvPr/>
        </p:nvCxnSpPr>
        <p:spPr>
          <a:xfrm>
            <a:off x="6634760" y="2529988"/>
            <a:ext cx="650875" cy="0"/>
          </a:xfrm>
          <a:prstGeom prst="line">
            <a:avLst/>
          </a:prstGeom>
          <a:ln w="12700">
            <a:solidFill>
              <a:schemeClr val="bg1">
                <a:alpha val="96000"/>
              </a:schemeClr>
            </a:solidFill>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F068EF7B-4828-8071-645A-F22D9B3FA448}"/>
              </a:ext>
            </a:extLst>
          </p:cNvPr>
          <p:cNvSpPr txBox="1"/>
          <p:nvPr/>
        </p:nvSpPr>
        <p:spPr>
          <a:xfrm>
            <a:off x="1011697" y="5452139"/>
            <a:ext cx="2031325" cy="369332"/>
          </a:xfrm>
          <a:prstGeom prst="rect">
            <a:avLst/>
          </a:prstGeom>
          <a:noFill/>
        </p:spPr>
        <p:txBody>
          <a:bodyPr wrap="none" rtlCol="0">
            <a:spAutoFit/>
          </a:bodyPr>
          <a:lstStyle/>
          <a:p>
            <a:r>
              <a:rPr lang="zh-CN" altLang="en-US" dirty="0">
                <a:latin typeface="+mn-ea"/>
              </a:rPr>
              <a:t>指导老师：王元元</a:t>
            </a:r>
          </a:p>
        </p:txBody>
      </p:sp>
      <p:sp>
        <p:nvSpPr>
          <p:cNvPr id="97" name="文本框 96">
            <a:extLst>
              <a:ext uri="{FF2B5EF4-FFF2-40B4-BE49-F238E27FC236}">
                <a16:creationId xmlns:a16="http://schemas.microsoft.com/office/drawing/2014/main" id="{FD2F3C5A-873B-3F21-57FC-912DC67F09C1}"/>
              </a:ext>
            </a:extLst>
          </p:cNvPr>
          <p:cNvSpPr txBox="1"/>
          <p:nvPr/>
        </p:nvSpPr>
        <p:spPr>
          <a:xfrm>
            <a:off x="3826118" y="5452139"/>
            <a:ext cx="3554178" cy="369332"/>
          </a:xfrm>
          <a:prstGeom prst="rect">
            <a:avLst/>
          </a:prstGeom>
          <a:noFill/>
        </p:spPr>
        <p:txBody>
          <a:bodyPr wrap="none" rtlCol="0">
            <a:spAutoFit/>
          </a:bodyPr>
          <a:lstStyle/>
          <a:p>
            <a:r>
              <a:rPr lang="zh-CN" altLang="en-US" dirty="0">
                <a:latin typeface="+mn-ea"/>
              </a:rPr>
              <a:t>小组成员：王诗涵 韦金霞 雷瑀璐</a:t>
            </a:r>
          </a:p>
        </p:txBody>
      </p:sp>
      <p:sp>
        <p:nvSpPr>
          <p:cNvPr id="9" name="文本框 8">
            <a:extLst>
              <a:ext uri="{FF2B5EF4-FFF2-40B4-BE49-F238E27FC236}">
                <a16:creationId xmlns:a16="http://schemas.microsoft.com/office/drawing/2014/main" id="{A94A222E-8126-6C1D-0D77-29CC6B8AD4F3}"/>
              </a:ext>
            </a:extLst>
          </p:cNvPr>
          <p:cNvSpPr txBox="1"/>
          <p:nvPr/>
        </p:nvSpPr>
        <p:spPr>
          <a:xfrm>
            <a:off x="8119923" y="5452139"/>
            <a:ext cx="3108543" cy="369332"/>
          </a:xfrm>
          <a:prstGeom prst="rect">
            <a:avLst/>
          </a:prstGeom>
          <a:noFill/>
        </p:spPr>
        <p:txBody>
          <a:bodyPr wrap="none" rtlCol="0">
            <a:spAutoFit/>
          </a:bodyPr>
          <a:lstStyle/>
          <a:p>
            <a:r>
              <a:rPr lang="zh-CN" altLang="en-US" dirty="0">
                <a:latin typeface="+mn-ea"/>
              </a:rPr>
              <a:t>汇报时间：</a:t>
            </a:r>
            <a:r>
              <a:rPr lang="en-US" altLang="zh-CN" dirty="0">
                <a:latin typeface="+mn-ea"/>
              </a:rPr>
              <a:t>2025</a:t>
            </a:r>
            <a:r>
              <a:rPr lang="zh-CN" altLang="en-US" dirty="0">
                <a:latin typeface="+mn-ea"/>
              </a:rPr>
              <a:t>年</a:t>
            </a:r>
            <a:r>
              <a:rPr lang="en-US" altLang="zh-CN" dirty="0">
                <a:latin typeface="+mn-ea"/>
              </a:rPr>
              <a:t>12</a:t>
            </a:r>
            <a:r>
              <a:rPr lang="zh-CN" altLang="en-US" dirty="0">
                <a:latin typeface="+mn-ea"/>
              </a:rPr>
              <a:t>月</a:t>
            </a:r>
            <a:r>
              <a:rPr lang="en-US" altLang="zh-CN" dirty="0">
                <a:latin typeface="+mn-ea"/>
              </a:rPr>
              <a:t>14</a:t>
            </a:r>
            <a:r>
              <a:rPr lang="zh-CN" altLang="en-US" dirty="0">
                <a:latin typeface="+mn-ea"/>
              </a:rPr>
              <a:t>日</a:t>
            </a:r>
          </a:p>
        </p:txBody>
      </p:sp>
      <p:pic>
        <p:nvPicPr>
          <p:cNvPr id="10" name="图片 9">
            <a:extLst>
              <a:ext uri="{FF2B5EF4-FFF2-40B4-BE49-F238E27FC236}">
                <a16:creationId xmlns:a16="http://schemas.microsoft.com/office/drawing/2014/main" id="{79265067-FEAB-A744-72FB-BF2BD1CEA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9488" y="-92787"/>
            <a:ext cx="4673022" cy="2392587"/>
          </a:xfrm>
          <a:prstGeom prst="rect">
            <a:avLst/>
          </a:prstGeom>
        </p:spPr>
      </p:pic>
    </p:spTree>
    <p:extLst>
      <p:ext uri="{BB962C8B-B14F-4D97-AF65-F5344CB8AC3E}">
        <p14:creationId xmlns:p14="http://schemas.microsoft.com/office/powerpoint/2010/main" val="7242271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1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 name="KSO_WM_DIAGRAM_VIRTUALLY_FRAME" val="{&quot;height&quot;:372,&quot;left&quot;:48,&quot;top&quot;:120,&quot;width&quot;:864}"/>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添加项标题"/>
  <p:tag name="KSO_WM_DIAGRAM_VIRTUALLY_FRAME" val="{&quot;height&quot;:372,&quot;left&quot;:48,&quot;top&quot;:120,&quot;width&quot;:864}"/>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 name="KSO_WM_DIAGRAM_VIRTUALLY_FRAME" val="{&quot;height&quot;:372,&quot;left&quot;:48,&quot;top&quot;:120,&quot;width&quot;:864}"/>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添加项标题"/>
  <p:tag name="KSO_WM_DIAGRAM_VIRTUALLY_FRAME" val="{&quot;height&quot;:372,&quot;left&quot;:48,&quot;top&quot;:120,&quot;width&quot;:864}"/>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 name="KSO_WM_DIAGRAM_VIRTUALLY_FRAME" val="{&quot;height&quot;:372,&quot;left&quot;:48,&quot;top&quot;:120,&quot;width&quot;:864}"/>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添加项标题"/>
  <p:tag name="KSO_WM_DIAGRAM_VIRTUALLY_FRAME" val="{&quot;height&quot;:372,&quot;left&quot;:48,&quot;top&quot;:120,&quot;width&quot;:864}"/>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 name="KSO_WM_DIAGRAM_VIRTUALLY_FRAME" val="{&quot;height&quot;:372,&quot;left&quot;:48,&quot;top&quot;:120,&quot;width&quot;:864}"/>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1-灰蓝">
      <a:dk1>
        <a:sysClr val="windowText" lastClr="000000"/>
      </a:dk1>
      <a:lt1>
        <a:sysClr val="window" lastClr="FFFFFF"/>
      </a:lt1>
      <a:dk2>
        <a:srgbClr val="44546A"/>
      </a:dk2>
      <a:lt2>
        <a:srgbClr val="E7E6E6"/>
      </a:lt2>
      <a:accent1>
        <a:srgbClr val="32497B"/>
      </a:accent1>
      <a:accent2>
        <a:srgbClr val="D9D9D9"/>
      </a:accent2>
      <a:accent3>
        <a:srgbClr val="F2F2F2"/>
      </a:accent3>
      <a:accent4>
        <a:srgbClr val="C55B11"/>
      </a:accent4>
      <a:accent5>
        <a:srgbClr val="5B9BD5"/>
      </a:accent5>
      <a:accent6>
        <a:srgbClr val="06697C"/>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1878</TotalTime>
  <Words>1678</Words>
  <Application>Microsoft Office PowerPoint</Application>
  <PresentationFormat>宽屏</PresentationFormat>
  <Paragraphs>173</Paragraphs>
  <Slides>16</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MiSans Medium</vt:lpstr>
      <vt:lpstr>微软雅黑</vt:lpstr>
      <vt:lpstr>微软雅黑 Light</vt:lpstr>
      <vt:lpstr>Arial</vt:lpstr>
      <vt:lpstr>Calibri</vt:lpstr>
      <vt:lpstr>Impact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香 草</dc:creator>
  <cp:lastModifiedBy>诗涵 王</cp:lastModifiedBy>
  <cp:revision>811</cp:revision>
  <dcterms:created xsi:type="dcterms:W3CDTF">2025-01-21T09:40:00Z</dcterms:created>
  <dcterms:modified xsi:type="dcterms:W3CDTF">2025-12-13T06:37:54Z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CFFE6ED2AC564724992F2735DD055130_12</vt:lpwstr>
  </property>
  <property fmtid="{D5CDD505-2E9C-101B-9397-08002B2CF9AE}" pid="3" name="KSOProductBuildVer">
    <vt:lpwstr>2052-12.1.0.21915</vt:lpwstr>
  </property>
</Properties>
</file>